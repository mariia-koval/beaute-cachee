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7.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b1b538a4e834a10" /><Relationship Type="http://schemas.openxmlformats.org/officeDocument/2006/relationships/extended-properties" Target="/docProps/app.xml" Id="R45c281885c3047a5" /><Relationship Type="http://schemas.openxmlformats.org/officeDocument/2006/relationships/officeDocument" Target="/ppt/presentation.xml" Id="R909522a3326742ad" /></Relationships>
</file>

<file path=ppt/presentation.xml><?xml version="1.0" encoding="utf-8"?>
<p:presentation xmlns:p="http://schemas.openxmlformats.org/presentationml/2006/main">
  <p:sldMasterIdLst>
    <p:sldMasterId xmlns:r="http://schemas.openxmlformats.org/officeDocument/2006/relationships" id="2147483648" r:id="Re74c12a9e9e141a5"/>
  </p:sldMasterIdLst>
  <p:notesMasterIdLst>
    <p:notesMasterId xmlns:r="http://schemas.openxmlformats.org/officeDocument/2006/relationships" r:id="Rfa3e41d2c33b4c1d"/>
  </p:notesMasterIdLst>
  <p:sldIdLst>
    <p:sldId xmlns:r="http://schemas.openxmlformats.org/officeDocument/2006/relationships" id="256" r:id="R6adfed1d176d4919"/>
    <p:sldId xmlns:r="http://schemas.openxmlformats.org/officeDocument/2006/relationships" id="257" r:id="R87ff5726959d4667"/>
    <p:sldId xmlns:r="http://schemas.openxmlformats.org/officeDocument/2006/relationships" id="258" r:id="R3bdfdb5f50b54f6f"/>
    <p:sldId xmlns:r="http://schemas.openxmlformats.org/officeDocument/2006/relationships" id="259" r:id="R6fae270c91fe4dca"/>
    <p:sldId xmlns:r="http://schemas.openxmlformats.org/officeDocument/2006/relationships" id="260" r:id="Rca52ee0135f540c8"/>
    <p:sldId xmlns:r="http://schemas.openxmlformats.org/officeDocument/2006/relationships" id="261" r:id="Rd23c695d079d4133"/>
    <p:sldId xmlns:r="http://schemas.openxmlformats.org/officeDocument/2006/relationships" id="262" r:id="Rc8377b61bf8d4b1a"/>
    <p:sldId xmlns:r="http://schemas.openxmlformats.org/officeDocument/2006/relationships" id="263" r:id="Rf2deb2041ae34a54"/>
    <p:sldId xmlns:r="http://schemas.openxmlformats.org/officeDocument/2006/relationships" id="264" r:id="R2d9fb4f0bd014950"/>
    <p:sldId xmlns:r="http://schemas.openxmlformats.org/officeDocument/2006/relationships" id="265" r:id="R2ebaa69f45e84567"/>
    <p:sldId xmlns:r="http://schemas.openxmlformats.org/officeDocument/2006/relationships" id="266" r:id="R342ed425dc9f4dbc"/>
    <p:sldId xmlns:r="http://schemas.openxmlformats.org/officeDocument/2006/relationships" id="267" r:id="R35769d07daed4233"/>
    <p:sldId xmlns:r="http://schemas.openxmlformats.org/officeDocument/2006/relationships" id="268" r:id="R9be2d3e584b74001"/>
    <p:sldId xmlns:r="http://schemas.openxmlformats.org/officeDocument/2006/relationships" id="269" r:id="R7432ba52d7fa4c15"/>
    <p:sldId xmlns:r="http://schemas.openxmlformats.org/officeDocument/2006/relationships" id="270" r:id="R8dbcc08332f54e53"/>
    <p:sldId xmlns:r="http://schemas.openxmlformats.org/officeDocument/2006/relationships" id="271" r:id="R354f9c9906834ba9"/>
    <p:sldId xmlns:r="http://schemas.openxmlformats.org/officeDocument/2006/relationships" id="272" r:id="R7958cb39c7bf4903"/>
    <p:sldId xmlns:r="http://schemas.openxmlformats.org/officeDocument/2006/relationships" id="273" r:id="R98d97575fa674999"/>
    <p:sldId xmlns:r="http://schemas.openxmlformats.org/officeDocument/2006/relationships" id="274" r:id="Rf2728d9dfea04a8b"/>
    <p:sldId xmlns:r="http://schemas.openxmlformats.org/officeDocument/2006/relationships" id="275" r:id="Rc2af9b53cee641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47c32a4c974542" /><Relationship Type="http://schemas.openxmlformats.org/officeDocument/2006/relationships/slideMaster" Target="/ppt/slideMasters/slideMaster1.xml" Id="Re74c12a9e9e141a5" /><Relationship Type="http://schemas.openxmlformats.org/officeDocument/2006/relationships/notesMaster" Target="/ppt/notesMasters/notesMaster1.xml" Id="Rfa3e41d2c33b4c1d" /><Relationship Type="http://schemas.openxmlformats.org/officeDocument/2006/relationships/presProps" Target="/ppt/presProps.xml" Id="Rad70c97fec554eb9" /><Relationship Type="http://schemas.openxmlformats.org/officeDocument/2006/relationships/tableStyles" Target="/ppt/tableStyles.xml" Id="R1f18f73a08c74067" /><Relationship Type="http://schemas.openxmlformats.org/officeDocument/2006/relationships/slide" Target="/ppt/slides/slide1.xml" Id="R6adfed1d176d4919" /><Relationship Type="http://schemas.openxmlformats.org/officeDocument/2006/relationships/slide" Target="/ppt/slides/slide2.xml" Id="R87ff5726959d4667" /><Relationship Type="http://schemas.openxmlformats.org/officeDocument/2006/relationships/slide" Target="/ppt/slides/slide3.xml" Id="R3bdfdb5f50b54f6f" /><Relationship Type="http://schemas.openxmlformats.org/officeDocument/2006/relationships/slide" Target="/ppt/slides/slide4.xml" Id="R6fae270c91fe4dca" /><Relationship Type="http://schemas.openxmlformats.org/officeDocument/2006/relationships/slide" Target="/ppt/slides/slide5.xml" Id="Rca52ee0135f540c8" /><Relationship Type="http://schemas.openxmlformats.org/officeDocument/2006/relationships/slide" Target="/ppt/slides/slide6.xml" Id="Rd23c695d079d4133" /><Relationship Type="http://schemas.openxmlformats.org/officeDocument/2006/relationships/slide" Target="/ppt/slides/slide7.xml" Id="Rc8377b61bf8d4b1a" /><Relationship Type="http://schemas.openxmlformats.org/officeDocument/2006/relationships/slide" Target="/ppt/slides/slide8.xml" Id="Rf2deb2041ae34a54" /><Relationship Type="http://schemas.openxmlformats.org/officeDocument/2006/relationships/slide" Target="/ppt/slides/slide9.xml" Id="R2d9fb4f0bd014950" /><Relationship Type="http://schemas.openxmlformats.org/officeDocument/2006/relationships/slide" Target="/ppt/slides/slide10.xml" Id="R2ebaa69f45e84567" /><Relationship Type="http://schemas.openxmlformats.org/officeDocument/2006/relationships/slide" Target="/ppt/slides/slide11.xml" Id="R342ed425dc9f4dbc" /><Relationship Type="http://schemas.openxmlformats.org/officeDocument/2006/relationships/slide" Target="/ppt/slides/slide12.xml" Id="R35769d07daed4233" /><Relationship Type="http://schemas.openxmlformats.org/officeDocument/2006/relationships/slide" Target="/ppt/slides/slide13.xml" Id="R9be2d3e584b74001" /><Relationship Type="http://schemas.openxmlformats.org/officeDocument/2006/relationships/slide" Target="/ppt/slides/slide14.xml" Id="R7432ba52d7fa4c15" /><Relationship Type="http://schemas.openxmlformats.org/officeDocument/2006/relationships/slide" Target="/ppt/slides/slide15.xml" Id="R8dbcc08332f54e53" /><Relationship Type="http://schemas.openxmlformats.org/officeDocument/2006/relationships/slide" Target="/ppt/slides/slide16.xml" Id="R354f9c9906834ba9" /><Relationship Type="http://schemas.openxmlformats.org/officeDocument/2006/relationships/slide" Target="/ppt/slides/slide17.xml" Id="R7958cb39c7bf4903" /><Relationship Type="http://schemas.openxmlformats.org/officeDocument/2006/relationships/slide" Target="/ppt/slides/slide18.xml" Id="R98d97575fa674999" /><Relationship Type="http://schemas.openxmlformats.org/officeDocument/2006/relationships/slide" Target="/ppt/slides/slide19.xml" Id="Rf2728d9dfea04a8b" /><Relationship Type="http://schemas.openxmlformats.org/officeDocument/2006/relationships/slide" Target="/ppt/slides/slide20.xml" Id="Rc2af9b53cee641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e8e9e9bf224b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72540" dir="4008085">
              <a:srgbClr val="302B29">
                <a:alpha val="1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64f8c10025462e" /><Relationship Type="http://schemas.openxmlformats.org/officeDocument/2006/relationships/notesMaster" Target="/ppt/notesMasters/notesMaster1.xml" Id="Rffac528a1bb140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d0c107db7c4493" /><Relationship Type="http://schemas.openxmlformats.org/officeDocument/2006/relationships/notesMaster" Target="/ppt/notesMasters/notesMaster1.xml" Id="R4af3dff1db5b4c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e4632782bb4984" /><Relationship Type="http://schemas.openxmlformats.org/officeDocument/2006/relationships/notesMaster" Target="/ppt/notesMasters/notesMaster1.xml" Id="Rb510d2f3002848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723f6f97934e78" /><Relationship Type="http://schemas.openxmlformats.org/officeDocument/2006/relationships/notesMaster" Target="/ppt/notesMasters/notesMaster1.xml" Id="R4d0f2919068d4a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d8b05532be43fe" /><Relationship Type="http://schemas.openxmlformats.org/officeDocument/2006/relationships/notesMaster" Target="/ppt/notesMasters/notesMaster1.xml" Id="Ra4dd485a140a45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6c4915b1d94d48" /><Relationship Type="http://schemas.openxmlformats.org/officeDocument/2006/relationships/notesMaster" Target="/ppt/notesMasters/notesMaster1.xml" Id="R5125a535628246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44a6b1308e497d" /><Relationship Type="http://schemas.openxmlformats.org/officeDocument/2006/relationships/notesMaster" Target="/ppt/notesMasters/notesMaster1.xml" Id="Rd6ac71fb063a4a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ae42d2c1934bb8" /><Relationship Type="http://schemas.openxmlformats.org/officeDocument/2006/relationships/notesMaster" Target="/ppt/notesMasters/notesMaster1.xml" Id="Re547607d5dfb4e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bce30bac6b42e9" /><Relationship Type="http://schemas.openxmlformats.org/officeDocument/2006/relationships/notesMaster" Target="/ppt/notesMasters/notesMaster1.xml" Id="Ra45ec6c2fd3b4c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20d67afe76458a" /><Relationship Type="http://schemas.openxmlformats.org/officeDocument/2006/relationships/notesMaster" Target="/ppt/notesMasters/notesMaster1.xml" Id="R2374053d85c746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a7847180264a5a" /><Relationship Type="http://schemas.openxmlformats.org/officeDocument/2006/relationships/notesMaster" Target="/ppt/notesMasters/notesMaster1.xml" Id="Rb53ed5a830e04c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0d4725ab32491e" /><Relationship Type="http://schemas.openxmlformats.org/officeDocument/2006/relationships/notesMaster" Target="/ppt/notesMasters/notesMaster1.xml" Id="Re90b41654b814de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286d3f992e4073" /><Relationship Type="http://schemas.openxmlformats.org/officeDocument/2006/relationships/notesMaster" Target="/ppt/notesMasters/notesMaster1.xml" Id="R6fedefd241de47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2028f952674a1e" /><Relationship Type="http://schemas.openxmlformats.org/officeDocument/2006/relationships/notesMaster" Target="/ppt/notesMasters/notesMaster1.xml" Id="R4cfb43c3b97c4b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27b21fadab54954" /><Relationship Type="http://schemas.openxmlformats.org/officeDocument/2006/relationships/notesMaster" Target="/ppt/notesMasters/notesMaster1.xml" Id="R31f50dd78bbe44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38d37a224e34b08" /><Relationship Type="http://schemas.openxmlformats.org/officeDocument/2006/relationships/notesMaster" Target="/ppt/notesMasters/notesMaster1.xml" Id="Rcc99ee46454a4c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6da4c86f8c4f1c" /><Relationship Type="http://schemas.openxmlformats.org/officeDocument/2006/relationships/notesMaster" Target="/ppt/notesMasters/notesMaster1.xml" Id="R85e912a3b75f45d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5e98dcf19748d6" /><Relationship Type="http://schemas.openxmlformats.org/officeDocument/2006/relationships/notesMaster" Target="/ppt/notesMasters/notesMaster1.xml" Id="R8b88cd0f946a4a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5dcb5eaaa141da" /><Relationship Type="http://schemas.openxmlformats.org/officeDocument/2006/relationships/notesMaster" Target="/ppt/notesMasters/notesMaster1.xml" Id="Ra3c5fa8fc587407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59f8764cc44846" /><Relationship Type="http://schemas.openxmlformats.org/officeDocument/2006/relationships/notesMaster" Target="/ppt/notesMasters/notesMaster1.xml" Id="R9af3013ad73c46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Visuel de couverture généré pour évoquer l’univers textile premium. Il ne représente pas une collection réelle de Beauté Cachée.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01_Beaute_Cachee_Data_Profiling.ipynb, résultats enregistrés. Avis réels de vêtements féminins, sans lien individuel avec le CRM synthétique.</a:t>
            </a:r>
          </a:p>
          <a:p xmlns:a="http://schemas.openxmlformats.org/drawingml/2006/main">
            <a:r>
              <a:t>Source : 02_Sales_CRM_Analysis.ipynb, résultats enregistrés. Simulation 2025. Montants TTC, hors livraison, après remises et remboursements rattachés à la commande initiale. Commandes annulées exclues.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01_Beaute_Cachee_Data_Profiling.ipynb, résultats enregistrés. Avis réels de vêtements féminins, sans lien individuel avec le CRM synthétique.</a:t>
            </a:r>
          </a:p>
          <a:p xmlns:a="http://schemas.openxmlformats.org/drawingml/2006/main">
            <a:r>
              <a:t>Les cinq groupes de KPI du projet sont présentés avant les résultats : Review Count, Average Rating, Recommendation Rate, Positive / Negative Rating Rate et Customer Pain Points Rate. Rating 3 correspond à la catégorie neutre. Recommended IND vaut 1 pour oui. Le taux par thème utilise 2 370 avis négatifs avec texte comme dénominateur. Les vues par catégorie et âge permettent de comparer les groupes, sans identifier des clientes uniques.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02_Sales_CRM_Analysis.ipynb, résultats enregistrés. Simulation 2025. Montants TTC, hors livraison, après remises et remboursements rattachés à la commande initiale. Commandes annulées exclues.</a:t>
            </a:r>
          </a:p>
          <a:p xmlns:a="http://schemas.openxmlformats.org/drawingml/2006/main">
            <a:r>
              <a:t>Liste complète des dix KPI Sales / CRM : Total Revenue, Number of Orders, AOV, Repeat Purchase Rate, Total Customers, Ticket Volume, CSAT, Average First Response Time, Average Resolution Time, SLA Compliance Rate. Le montant net est TTC et hors livraison, sans mesure de profit. Le réachat utilise les clients acheteurs au dénominateur. Le CSAT utilise les réponses valides. Les délais et le SLA utilisent les tickets évaluables selon les règles du notebook. La base de 5 000 clients inclut des clients créés avant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01_Beaute_Cachee_Data_Profiling.ipynb, résultats enregistrés. Avis réels de vêtements féminins, sans lien individuel avec le CRM synthétique.</a:t>
            </a:r>
          </a:p>
          <a:p xmlns:a="http://schemas.openxmlformats.org/drawingml/2006/main">
            <a:r>
              <a:t>LOGIQUE DU PARCOURS</a:t>
            </a:r>
          </a:p>
          <a:p xmlns:a="http://schemas.openxmlformats.org/drawingml/2006/main">
            <a:r>
              <a:t>Ces cinq questions correspondent aux questions Q01 à Q05 du notebook. Les deux premières sont regroupées dans le graphique par famille et les notes moyennes. La troisième et la quatrième sont résumées dans la slide sur les notes, recommandations et âge. La cinquième correspond à l’analyse des commentaires négatifs. Les KPI mesurent les résultats, tandis que les regroupements et la lecture des commentaires permettent de les interpréter. Les recommandations suivent les constats.</a:t>
            </a:r>
          </a:p>
          <a:p xmlns:a="http://schemas.openxmlformats.org/drawingml/2006/main">
            <a:r>
              <a:t>ПОЯСНЕНИЕ</a:t>
            </a:r>
          </a:p>
          <a:p xmlns:a="http://schemas.openxmlformats.org/drawingml/2006/main">
            <a:r>
              <a:t>Бизнес-вопрос — это то, что мы хотим понять. KPI — показатель, который помогает измерить нужную сторону опыта. Например: какие товары рекомендуют реже? Мы сравниваем процент рекомендаций по категориям, учитываем число отзывов и читаем комментарии. Сам процент не объясняет причины. Вопросы 1–2 раскрываются вместе, 3–4 — вместе, а пятый — на слайде с темами негативных отзывов.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01_Beaute_Cachee_Data_Profiling.ipynb, résultats enregistrés. Avis réels de vêtements féminins, sans lien individuel avec le CRM synthétique.</a:t>
            </a:r>
          </a:p>
          <a:p xmlns:a="http://schemas.openxmlformats.org/drawingml/2006/main">
            <a:r>
              <a:t>LOGIQUE DE L’ANALYSE</a:t>
            </a:r>
          </a:p>
          <a:p xmlns:a="http://schemas.openxmlformats.org/drawingml/2006/main">
            <a:r>
              <a:t>Nous regroupons les avis selon Department Name. Recommended IND vaut 1 si le produit est recommandé, 0 sinon. Le taux correspond à la somme des 1 divisée par le nombre d’avis du département, multipliée par 100. Nous comparons aussi la moyenne de Rating et le volume d’avis. Bottoms = bas, Intimate = lingerie, Jackets = vestes, Tops = hauts, Dresses = robes, Trend = catégorie tendance du fichier. Les traductions servent uniquement à la présentation. Trend a le taux le plus faible mais un petit effectif. Dresses combine un taux plus faible que plusieurs départements et 6 319 avis, ce qui justifie une lecture ciblée. Il ne s’agit pas du nombre de clientes uniques, ni d’une mesure de ventes. Les avis ne garantissent pas la représentativité de toutes les acheteuses.</a:t>
            </a:r>
          </a:p>
          <a:p xmlns:a="http://schemas.openxmlformats.org/drawingml/2006/main">
            <a:r>
              <a:t>ПОЯСНЕНИЕ ДЛЯ ВЫСТУПЛЕНИЯ</a:t>
            </a:r>
          </a:p>
          <a:p xmlns:a="http://schemas.openxmlformats.org/drawingml/2006/main">
            <a:r>
              <a:t>Мы сравниваем долю отзывов, в которых товар рекомендуют. Например, 80,82 % для платьев означает примерно 81 рекомендацию на 100 отзывов. Trend — название категории в исходной базе, а не тренд во времени. Там всего 119 отзывов, поэтому не стоит делать сильный вывод только по низкому проценту. По платьям отзывов гораздо больше: имеет смысл прочитать негативные отзывы и понять причины.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01_Beaute_Cachee_Data_Profiling.ipynb, résultats enregistrés. Avis réels de vêtements féminins, sans lien individuel avec le CRM synthétique.</a:t>
            </a:r>
          </a:p>
          <a:p xmlns:a="http://schemas.openxmlformats.org/drawingml/2006/main">
            <a:r>
              <a:t>LOGIQUE DE L’ANALYSE</a:t>
            </a:r>
          </a:p>
          <a:p xmlns:a="http://schemas.openxmlformats.org/drawingml/2006/main">
            <a:r>
              <a:t>Nous croisons Rating et Recommended IND pour chaque avis. Deux cas sont retenus : note 1 ou 2 et recommandation oui (110), ou note 4 ou 5 et recommandation non (193). Total : 303. Le pourcentage est 303 / 23 485 × 100 = 1,29 %. Les notes de 3 ne sont pas classées dans ces cas. Une divergence n’est pas automatiquement une erreur de saisie. Une cliente peut aimer certains aspects mais hésiter à recommander le produit. Des exemples ont été lus, sans généraliser leurs motifs aux 303 avis. La comparaison par âge utilise le taux de recommandation de chaque groupe. Les produits commentés diffèrent selon l’âge : on ne peut pas attribuer l’écart à l’âge seul.</a:t>
            </a:r>
          </a:p>
          <a:p xmlns:a="http://schemas.openxmlformats.org/drawingml/2006/main">
            <a:r>
              <a:t>ПОЯСНЕНИЕ ДЛЯ ВЫСТУПЛЕНИЯ</a:t>
            </a:r>
          </a:p>
          <a:p xmlns:a="http://schemas.openxmlformats.org/drawingml/2006/main">
            <a:r>
              <a:t>Мы проверяем, совпадает ли смысл оценки со смыслом рекомендации. 110 отзывов: оценка низкая, но товар рекомендуют. 193: оценка высокая, но товар не рекомендуют. Всего 303 из 23 485, то есть 1,29 %. Это не обязательно ошибки: человек может оценить качество, но не рекомендовать из-за посадки. Практический вывод — смотреть и оценку, и рекомендацию, а причины искать в тексте. Возрастное сравнение описательное и не доказывает влияние возраста.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01_Beaute_Cachee_Data_Profiling.ipynb, résultats enregistrés. Avis réels de vêtements féminins, sans lien individuel avec le CRM synthétique.</a:t>
            </a:r>
          </a:p>
          <a:p xmlns:a="http://schemas.openxmlformats.org/drawingml/2006/main">
            <a:r>
              <a:t>LOGIQUE DE L’ANALYSE</a:t>
            </a:r>
          </a:p>
          <a:p xmlns:a="http://schemas.openxmlformats.org/drawingml/2006/main">
            <a:r>
              <a:t>Nous sélectionnons les avis notés 1 ou 2 ayant un commentaire exploitable : 2 370 avis. Nous cherchons des expressions liées à cinq thèmes, par exemple too small, poor fit ou poor quality. Après lecture d’exemples détectés et non détectés, certaines expressions sont ajustées. Pour chaque thème, nous divisons le nombre d’avis détectés par 2 370. Taille / coupe : 596 / 2 370 × 100 = 25,15 %. Un avis peut contenir plusieurs thèmes. La couverture de 33,42 % signifie qu’au moins un des cinq thèmes est repéré dans cette part des avis négatifs. Les autres avis restent non classés par ces règles : cela ne signifie pas qu’ils ne contiennent aucun problème. La détection est exploratoire et les thèmes ne sont pas exhaustifs.</a:t>
            </a:r>
          </a:p>
          <a:p xmlns:a="http://schemas.openxmlformats.org/drawingml/2006/main">
            <a:r>
              <a:t>ПОЯСНЕНИЕ ДЛЯ ВЫСТУПЛЕНИЯ</a:t>
            </a:r>
          </a:p>
          <a:p xmlns:a="http://schemas.openxmlformats.org/drawingml/2006/main">
            <a:r>
              <a:t>Сначала оставили негативные отзывы с текстом, затем искали выражения о размере, материале, качестве, фотографиях и состоянии товара. Прочитали примеры и уточнили правила. Размер или посадка упоминаются в 596 из 2 370 отзывов. Это 25,15 %. Наши правила нашли хотя бы одну тему лишь в 33,42 % негативных отзывов. Остальные не стали позитивными — они просто не попали под эти правила. Поэтому это направление для дальнейшей работы, а не полная классификация всех жалоб.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01_Beaute_Cachee_Data_Profiling.ipynb, résultats enregistrés. Avis réels de vêtements féminins, sans lien individuel avec le CRM synthétique.</a:t>
            </a:r>
          </a:p>
          <a:p xmlns:a="http://schemas.openxmlformats.org/drawingml/2006/main">
            <a:r>
              <a:t>LOGIQUE DES RECOMMANDATIONS</a:t>
            </a:r>
          </a:p>
          <a:p xmlns:a="http://schemas.openxmlformats.org/drawingml/2006/main">
            <a:r>
              <a:t>Chaque proposition répond à un résultat : slide 8, comparer les familles puis approfondir les robes en tenant compte du volume. Slide 9, combiner les indicateurs et lire les situations discordantes. Slide 10, améliorer les informations de taille et de produit puis examiner les défauts signalés. Transmettre à l’équipe qualité signifie regrouper les descriptions de coutures défectueuses, de rétrécissement ou d’articles endommagés afin de vérifier les références concernées. Ce travail reste à réaliser, et aucun effet des actions n’a encore été mesuré.</a:t>
            </a:r>
          </a:p>
          <a:p xmlns:a="http://schemas.openxmlformats.org/drawingml/2006/main">
            <a:r>
              <a:t>ПОЯСНЕНИЕ</a:t>
            </a:r>
          </a:p>
          <a:p xmlns:a="http://schemas.openxmlformats.org/drawingml/2006/main">
            <a:r>
              <a:t>Рекомендации относятся ко всем трём слайдам. Третий пункт теперь конкретный: улучшить помощь с размером и описание товара, а сообщения о дефектах передавать команде качества для проверки. Мы предлагаем действия на основе наблюдений, но ещё не проверяли их результат.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02_Sales_CRM_Analysis.ipynb, résultats enregistrés. Simulation 2025. Montants TTC, hors livraison, après remises et remboursements rattachés à la commande initiale. Commandes annulées exclues.</a:t>
            </a:r>
          </a:p>
          <a:p xmlns:a="http://schemas.openxmlformats.org/drawingml/2006/main">
            <a:r>
              <a:t>Ces quatre questions structurent la suite : évolution mensuelle, canaux et assortiment, difficultés par motif, lien entre délais et satisfaction. Les indicateurs de la slide suivante donnent un point de départ global. Les comparaisons expliquent ensuite où concentrer l’attention. Le CSAT concerne le service après un ticket, pas une note du produit.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02_Sales_CRM_Analysis.ipynb, résultats enregistrés. Simulation 2025. Montants TTC, hors livraison, après remises et remboursements rattachés à la commande initiale. Commandes annulées exclues.</a:t>
            </a:r>
          </a:p>
          <a:p xmlns:a="http://schemas.openxmlformats.org/drawingml/2006/main">
            <a:r>
              <a:t>CSAT : 795 réponses valides. SLA : 1966 tickets évaluables. Réachat : 2776 / 4140 acheteurs.</a:t>
            </a:r>
          </a:p>
          <a:p xmlns:a="http://schemas.openxmlformats.org/drawingml/2006/main">
            <a:r>
              <a:t>LOGIQUE : les lignes de commandes non annulées de 2025 donnent le montant net (quantité × prix unitaire − remise − remboursement). Chaque commande compte une seule fois. Panier moyen = montant net / commandes. Réachat = 2 776 clients ayant au moins deux commandes / 4 140 clients ayant acheté × 100. CSAT = 617 scores 4 ou 5 / 795 scores valides × 100. SLA = 1 365 tickets conformes / 1 966 évaluables × 100. Les 5 000 clients représentent la base, pas uniquement les nouveaux inscrits en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02_Sales_CRM_Analysis.ipynb, résultats enregistrés. Simulation 2025. Montants TTC, hors livraison, après remises et remboursements rattachés à la commande initiale. Commandes annulées exclues.</a:t>
            </a:r>
          </a:p>
          <a:p xmlns:a="http://schemas.openxmlformats.org/drawingml/2006/main">
            <a:r>
              <a:t>LOGIQUE : nous calculons le montant net par commande puis regroupons selon le mois de order_date. Nous comptons les commandes distinctes. Novembre et décembre représentent 26,7 % du total annuel. La hausse de novembre par rapport à octobre est proche de celle du nombre de commandes, ce qui indique un effet de volume. Nous ne démontrons pas une saisonnalité récurrente avec une seule année.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02_Sales_CRM_Analysis.ipynb, résultats enregistrés. Simulation 2025. Montants TTC, hors livraison, après remises et remboursements rattachés à la commande initiale. Commandes annulées exclues.</a:t>
            </a:r>
          </a:p>
          <a:p xmlns:a="http://schemas.openxmlformats.org/drawingml/2006/main">
            <a:r>
              <a:t>LOGIQUE : nous regroupons les commandes non annulées selon sales_channel. Pour chaque canal, nous additionnons le montant net et calculons le panier moyen. Website représente 80,62 % des ventes nettes. Les paniers moyens sont proches, alors que le nombre de commandes diffère fortement. Sans coûts, on ne peut pas conclure à une meilleure rentabilité.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02_Sales_CRM_Analysis.ipynb, résultats enregistrés. Simulation 2025. Montants TTC, hors livraison, après remises et remboursements rattachés à la commande initiale. Commandes annulées exclues.</a:t>
            </a:r>
          </a:p>
          <a:p xmlns:a="http://schemas.openxmlformats.org/drawingml/2006/main">
            <a:r>
              <a:t>LOGIQUE : les lignes de commandes non annulées rejoignent products via product_id. Nous regroupons le montant net, les unités commandées et retournées par catégorie, puis par produit. Nightwear arrive en tête en euros mais les volumes par catégorie restent proches. Les prix et le mix produit contribuent donc aux différences. Faibles ventes ne signifie pas automatiquement faible demande : stocks, visibilité et durée de disponibilité ne sont pas connus.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02_Sales_CRM_Analysis.ipynb, résultats enregistrés. Simulation 2025. Montants TTC, hors livraison, après remises et remboursements rattachés à la commande initiale. Commandes annulées exclues.</a:t>
            </a:r>
          </a:p>
          <a:p xmlns:a="http://schemas.openxmlformats.org/drawingml/2006/main">
            <a:r>
              <a:t>Moyennes sur tickets résolus. Return &amp; Refund : SLA 47,38 % (325 évaluables), CSAT 67,44 % (129 réponses).</a:t>
            </a:r>
          </a:p>
          <a:p xmlns:a="http://schemas.openxmlformats.org/drawingml/2006/main">
            <a:r>
              <a:t>LOGIQUE : nous regroupons les tickets selon contact_reason. Nous calculons le délai entre created_at et resolved_at sur les tickets résolus avec chronologie valide. Nous comparons aussi la première réponse et le SLA. Return &amp; Refund présente 51,02 h de résolution moyenne contre environ 20 à 24 h pour les autres motifs. Sa première réponse moyenne est 9,62 h : la difficulté observée porte surtout sur la résolution. Il faut examiner les étapes réelles avant de proposer une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02_Sales_CRM_Analysis.ipynb, résultats enregistrés. Simulation 2025. Montants TTC, hors livraison, après remises et remboursements rattachés à la commande initiale. Commandes annulées exclues.</a:t>
            </a:r>
          </a:p>
          <a:p xmlns:a="http://schemas.openxmlformats.org/drawingml/2006/main">
            <a:r>
              <a:t>CSAT scores 4–5 / scores 1–5. ≤48h : 695 réponses ; &gt;48h : 100. Premier retour : ≤12h 604 réponses, &gt;12h 191.</a:t>
            </a:r>
          </a:p>
          <a:p xmlns:a="http://schemas.openxmlformats.org/drawingml/2006/main">
            <a:r>
              <a:t>LOGIQUE : nous relions les enquêtes aux tickets avec ticket_id, conservons les scores valides de 1 à 5 et comparons deux groupes de délais. CSAT = part des scores 4–5 parmi les réponses valides du groupe. Résolution ≤48 h : 82,73 % sur 695 réponses. &gt;48 h : 42 % sur 100 réponses. Écart = 40,73 points, et non 40,73 %. Cela décrit une association, pas un effet causal. La complexité du ticket et son issue peuvent influencer à la fois le délai et la note. Le CSAT porte sur les répondants au questionnaire, pas sur tous les clients.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02_Sales_CRM_Analysis.ipynb, résultats enregistrés. Simulation 2025. Montants TTC, hors livraison, après remises et remboursements rattachés à la commande initiale. Commandes annulées exclues.</a:t>
            </a:r>
          </a:p>
          <a:p xmlns:a="http://schemas.openxmlformats.org/drawingml/2006/main">
            <a:r>
              <a:t>LOGIQUE : les actions correspondent aux constats précédents. Le pic de fin d’année motive une préparation des stocks et du service. Le poids de Website motive un examen du parcours en ligne. Les délais des retours motivent une analyse du processus et un test d’alerte. Ces recommandations restent des hypothèses à tester dans une activité réelle, car les données CRM sont synthétiques.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Photo et coordonnées reprises du dernier slide de Sales &amp; CRM Intelligence.pdf fourni par Mariia. Les coordonnées restent du texte éditable.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c70074047a42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40ab2cb4fa4a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95d051d0c24c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3b313e74b444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a38b44e06849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43a3823fbf4e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F250B9-230B-4E55-9A5C-20D64C2E292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CC7377D-CA5F-495B-AB20-F737B62292C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9E1993-B781-4253-8644-4A0E118EBBB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4CF828-E8BD-42E8-8FB7-77780F2128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9A0A4B1-8596-4848-8213-9FBAED1FC6F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3321CB-5706-401F-B8C6-E2BA7C773D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8E1980-34C4-45B8-9E27-C47F6ADCC9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476DAB-B71B-455C-88CA-6EACC0ACCC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03078D-4044-4DA0-A870-E30F9B418E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72D61F-278B-423C-9100-1269664842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ade552094d4b8d" /><Relationship Type="http://schemas.openxmlformats.org/officeDocument/2006/relationships/slideLayout" Target="/ppt/slideLayouts/slideLayout1.xml" Id="R402f9ddb96ee44f4" /><Relationship Type="http://schemas.openxmlformats.org/officeDocument/2006/relationships/slideLayout" Target="/ppt/slideLayouts/slideLayout2.xml" Id="R686d3044f2ed4812" /><Relationship Type="http://schemas.openxmlformats.org/officeDocument/2006/relationships/slideLayout" Target="/ppt/slideLayouts/slideLayout3.xml" Id="R3e2745dc0e594e9f" /><Relationship Type="http://schemas.openxmlformats.org/officeDocument/2006/relationships/slideLayout" Target="/ppt/slideLayouts/slideLayout4.xml" Id="R96fea9716e374aad" /><Relationship Type="http://schemas.openxmlformats.org/officeDocument/2006/relationships/slideLayout" Target="/ppt/slideLayouts/slideLayout5.xml" Id="R9a2f6b227b094b82" /><Relationship Type="http://schemas.openxmlformats.org/officeDocument/2006/relationships/slideLayout" Target="/ppt/slideLayouts/slideLayout6.xml" Id="R618b3e03919f46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2f9ddb96ee44f4"/>
    <p:sldLayoutId xmlns:r="http://schemas.openxmlformats.org/officeDocument/2006/relationships" id="2147483650" r:id="R686d3044f2ed4812"/>
    <p:sldLayoutId xmlns:r="http://schemas.openxmlformats.org/officeDocument/2006/relationships" id="2147483651" r:id="R3e2745dc0e594e9f"/>
    <p:sldLayoutId xmlns:r="http://schemas.openxmlformats.org/officeDocument/2006/relationships" id="2147483652" r:id="R96fea9716e374aad"/>
    <p:sldLayoutId xmlns:r="http://schemas.openxmlformats.org/officeDocument/2006/relationships" id="2147483653" r:id="R9a2f6b227b094b82"/>
    <p:sldLayoutId xmlns:r="http://schemas.openxmlformats.org/officeDocument/2006/relationships" id="2147483654" r:id="R618b3e03919f46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72540" dir="4008085">
              <a:srgbClr val="302B29">
                <a:alpha val="1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60c2237db44ae8" /><Relationship Type="http://schemas.openxmlformats.org/officeDocument/2006/relationships/image" Target="/ppt/media/image.png" Id="R9143a7eb07f243d0" /><Relationship Type="http://schemas.openxmlformats.org/officeDocument/2006/relationships/notesSlide" Target="/ppt/notesSlides/notesSlide1.xml" Id="Re29c5b39f7b546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427ce5cd024214" /><Relationship Type="http://schemas.openxmlformats.org/officeDocument/2006/relationships/notesSlide" Target="/ppt/notesSlides/notesSlide2.xml" Id="R9eb4c9675a4d4f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901a42545bf439f" /><Relationship Type="http://schemas.openxmlformats.org/officeDocument/2006/relationships/image" Target="/ppt/media/image2.png" Id="R88687a4dc44d480e" /><Relationship Type="http://schemas.openxmlformats.org/officeDocument/2006/relationships/notesSlide" Target="/ppt/notesSlides/notesSlide3.xml" Id="Rf6d8a5c9f8f34e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acfef20c6e4b7b" /><Relationship Type="http://schemas.openxmlformats.org/officeDocument/2006/relationships/image" Target="/ppt/media/image3.png" Id="Rfd6b354c102641d7" /><Relationship Type="http://schemas.openxmlformats.org/officeDocument/2006/relationships/notesSlide" Target="/ppt/notesSlides/notesSlide4.xml" Id="R92b39584638040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d82b12dc5264df4" /><Relationship Type="http://schemas.openxmlformats.org/officeDocument/2006/relationships/notesSlide" Target="/ppt/notesSlides/notesSlide5.xml" Id="R0bcb51562b5f47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8d7289a10064f8c" /><Relationship Type="http://schemas.openxmlformats.org/officeDocument/2006/relationships/image" Target="/ppt/media/image4.png" Id="R7f3526b8ff1147f6" /><Relationship Type="http://schemas.openxmlformats.org/officeDocument/2006/relationships/notesSlide" Target="/ppt/notesSlides/notesSlide6.xml" Id="R3ab6ff9d42c847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2efca084c6b4038" /><Relationship Type="http://schemas.openxmlformats.org/officeDocument/2006/relationships/image" Target="/ppt/media/image5.png" Id="R4f0b6590572944ee" /><Relationship Type="http://schemas.openxmlformats.org/officeDocument/2006/relationships/notesSlide" Target="/ppt/notesSlides/notesSlide7.xml" Id="R96b8289d84784e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7ed43d18b9e492a" /><Relationship Type="http://schemas.openxmlformats.org/officeDocument/2006/relationships/chart" Target="/ppt/slides/charts/chart1.xml" Id="Rca02e547f7f14603" /><Relationship Type="http://schemas.openxmlformats.org/officeDocument/2006/relationships/notesSlide" Target="/ppt/notesSlides/notesSlide8.xml" Id="R73da3fe6781b44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ef784849dc4f3f" /><Relationship Type="http://schemas.openxmlformats.org/officeDocument/2006/relationships/notesSlide" Target="/ppt/notesSlides/notesSlide9.xml" Id="R77df71ddafb64f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d57ae731689404c" /><Relationship Type="http://schemas.openxmlformats.org/officeDocument/2006/relationships/image" Target="/ppt/media/image6.png" Id="R181cd141e48d47cc" /><Relationship Type="http://schemas.openxmlformats.org/officeDocument/2006/relationships/chart" Target="/ppt/slides/charts/chart2.xml" Id="Rbcb434fa29c54a80" /><Relationship Type="http://schemas.openxmlformats.org/officeDocument/2006/relationships/notesSlide" Target="/ppt/notesSlides/notesSlide10.xml" Id="Rd232e569ba9b4d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7cdc9c3f3544f64" /><Relationship Type="http://schemas.openxmlformats.org/officeDocument/2006/relationships/image" Target="/ppt/media/image7.png" Id="R83d39822fdf14f8d" /><Relationship Type="http://schemas.openxmlformats.org/officeDocument/2006/relationships/notesSlide" Target="/ppt/notesSlides/notesSlide11.xml" Id="R48d5c5fa7f1948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b716f93620e43d3" /><Relationship Type="http://schemas.openxmlformats.org/officeDocument/2006/relationships/image" Target="/ppt/media/image8.png" Id="R5fdffba296ef499d" /><Relationship Type="http://schemas.openxmlformats.org/officeDocument/2006/relationships/notesSlide" Target="/ppt/notesSlides/notesSlide12.xml" Id="R9cbfd888227d43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2a4c08c97124d7d" /><Relationship Type="http://schemas.openxmlformats.org/officeDocument/2006/relationships/notesSlide" Target="/ppt/notesSlides/notesSlide13.xml" Id="R9f06e69d990d4e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fbcfe4306be4b8b" /><Relationship Type="http://schemas.openxmlformats.org/officeDocument/2006/relationships/image" Target="/ppt/media/image9.png" Id="R183b282186ec4e9e" /><Relationship Type="http://schemas.openxmlformats.org/officeDocument/2006/relationships/chart" Target="/ppt/slides/charts/chart3.xml" Id="Rf3deab5f05384724" /><Relationship Type="http://schemas.openxmlformats.org/officeDocument/2006/relationships/notesSlide" Target="/ppt/notesSlides/notesSlide14.xml" Id="R37dad96ce21544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56e0267557e41af" /><Relationship Type="http://schemas.openxmlformats.org/officeDocument/2006/relationships/chart" Target="/ppt/slides/charts/chart4.xml" Id="R4f3a9e8ed5794898" /><Relationship Type="http://schemas.openxmlformats.org/officeDocument/2006/relationships/notesSlide" Target="/ppt/notesSlides/notesSlide15.xml" Id="R054ff5f013774f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42152ff6f1a421b" /><Relationship Type="http://schemas.openxmlformats.org/officeDocument/2006/relationships/image" Target="/ppt/media/image10.png" Id="Rb3c94b8bc6144d8a" /><Relationship Type="http://schemas.openxmlformats.org/officeDocument/2006/relationships/chart" Target="/ppt/slides/charts/chart5.xml" Id="R808230d39cb24031" /><Relationship Type="http://schemas.openxmlformats.org/officeDocument/2006/relationships/notesSlide" Target="/ppt/notesSlides/notesSlide16.xml" Id="R14630ed243fe4a5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1e0686fed7e4338" /><Relationship Type="http://schemas.openxmlformats.org/officeDocument/2006/relationships/chart" Target="/ppt/slides/charts/chart6.xml" Id="R4a44a0d50219409e" /><Relationship Type="http://schemas.openxmlformats.org/officeDocument/2006/relationships/notesSlide" Target="/ppt/notesSlides/notesSlide17.xml" Id="R43839ec8d48049a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51a87460f05443e" /><Relationship Type="http://schemas.openxmlformats.org/officeDocument/2006/relationships/image" Target="/ppt/media/image11.png" Id="R6a26ceb47be44d9b" /><Relationship Type="http://schemas.openxmlformats.org/officeDocument/2006/relationships/chart" Target="/ppt/slides/charts/chart7.xml" Id="R93cbc3f44af14977" /><Relationship Type="http://schemas.openxmlformats.org/officeDocument/2006/relationships/notesSlide" Target="/ppt/notesSlides/notesSlide18.xml" Id="R32555625a4544ab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329a0f691314756" /><Relationship Type="http://schemas.openxmlformats.org/officeDocument/2006/relationships/image" Target="/ppt/media/image12.png" Id="R57fa7632a44545b2" /><Relationship Type="http://schemas.openxmlformats.org/officeDocument/2006/relationships/notesSlide" Target="/ppt/notesSlides/notesSlide19.xml" Id="R0f946d144a5d44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05a76c12d694c0e" /><Relationship Type="http://schemas.openxmlformats.org/officeDocument/2006/relationships/image" Target="/ppt/media/image13.png" Id="Raa198e11cf344add" /><Relationship Type="http://schemas.openxmlformats.org/officeDocument/2006/relationships/image" Target="/ppt/media/image14.png" Id="R66235502cd50461c" /><Relationship Type="http://schemas.openxmlformats.org/officeDocument/2006/relationships/notesSlide" Target="/ppt/notesSlides/notesSlide20.xml" Id="Rbfd7043bea7941f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Valeur</c:v>
          </c:tx>
          <c:spPr>
            <a:solidFill xmlns:a="http://schemas.openxmlformats.org/drawingml/2006/main">
              <a:srgbClr val="8A705B"/>
            </a:solidFill>
          </c:spPr>
          <c:invertIfNegative val="0"/>
          <c:cat>
            <c:strRef>
              <c:f>'Chart Data'!$A$2:$A$7</c:f>
              <c:strCache>
                <c:ptCount val="6"/>
                <c:pt idx="0">
                  <c:v>Bas</c:v>
                </c:pt>
                <c:pt idx="1">
                  <c:v>Lingerie</c:v>
                </c:pt>
                <c:pt idx="2">
                  <c:v>Vestes</c:v>
                </c:pt>
                <c:pt idx="3">
                  <c:v>Hauts</c:v>
                </c:pt>
                <c:pt idx="4">
                  <c:v>Robes</c:v>
                </c:pt>
                <c:pt idx="5">
                  <c:v>Tendance</c:v>
                </c:pt>
              </c:strCache>
            </c:strRef>
          </c:cat>
          <c:val>
            <c:numRef>
              <c:f>'Chart Data'!$B$2:$B$7</c:f>
              <c:numCache>
                <c:formatCode>General</c:formatCode>
                <c:ptCount val="6"/>
                <c:pt idx="0">
                  <c:v>85.12</c:v>
                </c:pt>
                <c:pt idx="1">
                  <c:v>85.01</c:v>
                </c:pt>
                <c:pt idx="2">
                  <c:v>83.62</c:v>
                </c:pt>
                <c:pt idx="3">
                  <c:v>81.52</c:v>
                </c:pt>
                <c:pt idx="4">
                  <c:v>80.82</c:v>
                </c:pt>
                <c:pt idx="5">
                  <c:v>73.95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a:latin typeface="Montserrat"/>
                  <a:ea typeface="Montserrat"/>
                  <a:cs typeface="Montserrat"/>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72768"/>
      </c:catAx>
      <c:valAx>
        <c:axId val="48672768"/>
        <c:scaling>
          <c:orientation val="minMax"/>
          <c:max val="100"/>
          <c:min val="0"/>
        </c:scaling>
        <c:delete val="0"/>
        <c:axPos val="l"/>
        <c:majorGridlines>
          <c:spPr>
            <a:ln xmlns:a="http://schemas.openxmlformats.org/drawingml/2006/main" w="4763">
              <a:solidFill>
                <a:srgbClr val="D8C9BA"/>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50112"/>
        <c:crossBetween val="between"/>
      </c:valAx>
      <c:spPr>
        <a:solidFill xmlns:a="http://schemas.openxmlformats.org/drawingml/2006/main">
          <a:srgbClr val="F3EEE6"/>
        </a:solidFill>
      </c:spPr>
    </c:plotArea>
    <c:plotVisOnly val="1"/>
  </c:chart>
  <c:spPr>
    <a:solidFill xmlns:a="http://schemas.openxmlformats.org/drawingml/2006/main">
      <a:srgbClr val="F3EEE6"/>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Valeur</c:v>
          </c:tx>
          <c:spPr>
            <a:solidFill xmlns:a="http://schemas.openxmlformats.org/drawingml/2006/main">
              <a:srgbClr val="8A705B"/>
            </a:solidFill>
          </c:spPr>
          <c:invertIfNegative val="0"/>
          <c:cat>
            <c:strRef>
              <c:f>'Chart Data'!$A$2:$A$6</c:f>
              <c:strCache>
                <c:ptCount val="5"/>
                <c:pt idx="0">
                  <c:v>Taille / coupe</c:v>
                </c:pt>
                <c:pt idx="1">
                  <c:v>Matière / confort</c:v>
                </c:pt>
                <c:pt idx="2">
                  <c:v>Qualité</c:v>
                </c:pt>
                <c:pt idx="3">
                  <c:v>Présentation</c:v>
                </c:pt>
                <c:pt idx="4">
                  <c:v>État du produit</c:v>
                </c:pt>
              </c:strCache>
            </c:strRef>
          </c:cat>
          <c:val>
            <c:numRef>
              <c:f>'Chart Data'!$B$2:$B$6</c:f>
              <c:numCache>
                <c:formatCode>General</c:formatCode>
                <c:ptCount val="5"/>
                <c:pt idx="0">
                  <c:v>25.15</c:v>
                </c:pt>
                <c:pt idx="1">
                  <c:v>5.44</c:v>
                </c:pt>
                <c:pt idx="2">
                  <c:v>3.67</c:v>
                </c:pt>
                <c:pt idx="3">
                  <c:v>1.05</c:v>
                </c:pt>
                <c:pt idx="4">
                  <c:v>0.25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a:latin typeface="Montserrat"/>
                  <a:ea typeface="Montserrat"/>
                  <a:cs typeface="Montserrat"/>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72768"/>
      </c:catAx>
      <c:valAx>
        <c:axId val="48672768"/>
        <c:scaling>
          <c:orientation val="minMax"/>
          <c:max val="30"/>
          <c:min val="0"/>
        </c:scaling>
        <c:delete val="0"/>
        <c:axPos val="l"/>
        <c:majorGridlines>
          <c:spPr>
            <a:ln xmlns:a="http://schemas.openxmlformats.org/drawingml/2006/main" w="4763">
              <a:solidFill>
                <a:srgbClr val="D8C9BA"/>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50112"/>
        <c:crossBetween val="between"/>
      </c:valAx>
      <c:spPr>
        <a:solidFill xmlns:a="http://schemas.openxmlformats.org/drawingml/2006/main">
          <a:srgbClr val="F3EEE6"/>
        </a:solidFill>
      </c:spPr>
    </c:plotArea>
    <c:plotVisOnly val="1"/>
  </c:chart>
  <c:spPr>
    <a:solidFill xmlns:a="http://schemas.openxmlformats.org/drawingml/2006/main">
      <a:srgbClr val="F3EEE6"/>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Valeur</c:v>
          </c:tx>
          <c:spPr>
            <a:solidFill xmlns:a="http://schemas.openxmlformats.org/drawingml/2006/main">
              <a:srgbClr val="8A705B"/>
            </a:solidFill>
          </c:spPr>
          <c:invertIfNegative val="0"/>
          <c:cat>
            <c:strRef>
              <c:f>'Chart Data'!$A$2:$A$13</c:f>
              <c:strCache>
                <c:ptCount val="12"/>
                <c:pt idx="0">
                  <c:v>Jan</c:v>
                </c:pt>
                <c:pt idx="1">
                  <c:v>Fév</c:v>
                </c:pt>
                <c:pt idx="2">
                  <c:v>Mar</c:v>
                </c:pt>
                <c:pt idx="3">
                  <c:v>Avr</c:v>
                </c:pt>
                <c:pt idx="4">
                  <c:v>Mai</c:v>
                </c:pt>
                <c:pt idx="5">
                  <c:v>Juin</c:v>
                </c:pt>
                <c:pt idx="6">
                  <c:v>Juil</c:v>
                </c:pt>
                <c:pt idx="7">
                  <c:v>Août</c:v>
                </c:pt>
                <c:pt idx="8">
                  <c:v>Sep</c:v>
                </c:pt>
                <c:pt idx="9">
                  <c:v>Oct</c:v>
                </c:pt>
                <c:pt idx="10">
                  <c:v>Nov</c:v>
                </c:pt>
                <c:pt idx="11">
                  <c:v>Déc</c:v>
                </c:pt>
              </c:strCache>
            </c:strRef>
          </c:cat>
          <c:val>
            <c:numRef>
              <c:f>'Chart Data'!$B$2:$B$13</c:f>
              <c:numCache>
                <c:formatCode>General</c:formatCode>
                <c:ptCount val="12"/>
                <c:pt idx="0">
                  <c:v>137.9215</c:v>
                </c:pt>
                <c:pt idx="1">
                  <c:v>125.6065</c:v>
                </c:pt>
                <c:pt idx="2">
                  <c:v>139.667</c:v>
                </c:pt>
                <c:pt idx="3">
                  <c:v>130.826</c:v>
                </c:pt>
                <c:pt idx="4">
                  <c:v>134.57</c:v>
                </c:pt>
                <c:pt idx="5">
                  <c:v>146.5435</c:v>
                </c:pt>
                <c:pt idx="6">
                  <c:v>139.533</c:v>
                </c:pt>
                <c:pt idx="7">
                  <c:v>131.2175</c:v>
                </c:pt>
                <c:pt idx="8">
                  <c:v>132.281</c:v>
                </c:pt>
                <c:pt idx="9">
                  <c:v>140.441</c:v>
                </c:pt>
                <c:pt idx="10">
                  <c:v>227.2765</c:v>
                </c:pt>
                <c:pt idx="11">
                  <c:v>266.7435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a:latin typeface="Montserrat"/>
                  <a:ea typeface="Montserrat"/>
                  <a:cs typeface="Montserrat"/>
                </a:defRPr>
              </a:pPr>
            </a:p>
          </c:txPr>
          <c:dLblPos val="outEnd"/>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72768"/>
      </c:catAx>
      <c:valAx>
        <c:axId val="48672768"/>
        <c:scaling>
          <c:orientation val="minMax"/>
          <c:max val="300"/>
          <c:min val="0"/>
        </c:scaling>
        <c:delete val="0"/>
        <c:axPos val="l"/>
        <c:majorGridlines>
          <c:spPr>
            <a:ln xmlns:a="http://schemas.openxmlformats.org/drawingml/2006/main" w="4763">
              <a:solidFill>
                <a:srgbClr val="D8C9BA"/>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50112"/>
        <c:crossBetween val="between"/>
      </c:valAx>
      <c:spPr>
        <a:solidFill xmlns:a="http://schemas.openxmlformats.org/drawingml/2006/main">
          <a:srgbClr val="F3EEE6"/>
        </a:solidFill>
      </c:spPr>
    </c:plotArea>
    <c:plotVisOnly val="1"/>
  </c:chart>
  <c:spPr>
    <a:solidFill xmlns:a="http://schemas.openxmlformats.org/drawingml/2006/main">
      <a:srgbClr val="F3EEE6"/>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Ventes nettes (k€)</c:v>
          </c:tx>
          <c:spPr>
            <a:solidFill xmlns:a="http://schemas.openxmlformats.org/drawingml/2006/main">
              <a:srgbClr val="8A705B"/>
            </a:solidFill>
          </c:spPr>
          <c:invertIfNegative val="0"/>
          <c:cat>
            <c:strRef>
              <c:f>'Chart Data'!$A$2:$A$3</c:f>
              <c:strCache>
                <c:ptCount val="2"/>
                <c:pt idx="0">
                  <c:v>Boutique</c:v>
                </c:pt>
                <c:pt idx="1">
                  <c:v>Website</c:v>
                </c:pt>
              </c:strCache>
            </c:strRef>
          </c:cat>
          <c:val>
            <c:numRef>
              <c:f>'Chart Data'!$B$2:$B$3</c:f>
              <c:numCache>
                <c:formatCode>General</c:formatCode>
                <c:ptCount val="2"/>
                <c:pt idx="0">
                  <c:v>358.9545</c:v>
                </c:pt>
                <c:pt idx="1">
                  <c:v>1493.6725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a:latin typeface="Montserrat"/>
                  <a:ea typeface="Montserrat"/>
                  <a:cs typeface="Montserrat"/>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72768"/>
      </c:catAx>
      <c:valAx>
        <c:axId val="48672768"/>
        <c:scaling>
          <c:orientation val="minMax"/>
          <c:max val="1600"/>
          <c:min val="0"/>
        </c:scaling>
        <c:delete val="0"/>
        <c:axPos val="l"/>
        <c:majorGridlines>
          <c:spPr>
            <a:ln xmlns:a="http://schemas.openxmlformats.org/drawingml/2006/main" w="4763">
              <a:solidFill>
                <a:srgbClr val="D8C9BA"/>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50112"/>
        <c:crossBetween val="between"/>
      </c:valAx>
      <c:spPr>
        <a:solidFill xmlns:a="http://schemas.openxmlformats.org/drawingml/2006/main">
          <a:srgbClr val="F3EEE6"/>
        </a:solidFill>
      </c:spPr>
    </c:plotArea>
    <c:plotVisOnly val="1"/>
  </c:chart>
  <c:spPr>
    <a:solidFill xmlns:a="http://schemas.openxmlformats.org/drawingml/2006/main">
      <a:srgbClr val="F3EEE6"/>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Valeur</c:v>
          </c:tx>
          <c:spPr>
            <a:solidFill xmlns:a="http://schemas.openxmlformats.org/drawingml/2006/main">
              <a:srgbClr val="8A705B"/>
            </a:solidFill>
          </c:spPr>
          <c:invertIfNegative val="0"/>
          <c:cat>
            <c:strRef>
              <c:f>'Chart Data'!$A$2:$A$6</c:f>
              <c:strCache>
                <c:ptCount val="5"/>
                <c:pt idx="0">
                  <c:v>Nightwear</c:v>
                </c:pt>
                <c:pt idx="1">
                  <c:v>Loungewear</c:v>
                </c:pt>
                <c:pt idx="2">
                  <c:v>Bodysuits</c:v>
                </c:pt>
                <c:pt idx="3">
                  <c:v>Bras</c:v>
                </c:pt>
                <c:pt idx="4">
                  <c:v>Briefs</c:v>
                </c:pt>
              </c:strCache>
            </c:strRef>
          </c:cat>
          <c:val>
            <c:numRef>
              <c:f>'Chart Data'!$B$2:$B$6</c:f>
              <c:numCache>
                <c:formatCode>General</c:formatCode>
                <c:ptCount val="5"/>
                <c:pt idx="0">
                  <c:v>515.95</c:v>
                </c:pt>
                <c:pt idx="1">
                  <c:v>451.0135</c:v>
                </c:pt>
                <c:pt idx="2">
                  <c:v>424.293</c:v>
                </c:pt>
                <c:pt idx="3">
                  <c:v>312.275</c:v>
                </c:pt>
                <c:pt idx="4">
                  <c:v>149.0955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a:latin typeface="Montserrat"/>
                  <a:ea typeface="Montserrat"/>
                  <a:cs typeface="Montserrat"/>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72768"/>
      </c:catAx>
      <c:valAx>
        <c:axId val="48672768"/>
        <c:scaling>
          <c:orientation val="minMax"/>
          <c:max val="600"/>
          <c:min val="0"/>
        </c:scaling>
        <c:delete val="0"/>
        <c:axPos val="l"/>
        <c:majorGridlines>
          <c:spPr>
            <a:ln xmlns:a="http://schemas.openxmlformats.org/drawingml/2006/main" w="4763">
              <a:solidFill>
                <a:srgbClr val="D8C9BA"/>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50112"/>
        <c:crossBetween val="between"/>
      </c:valAx>
      <c:spPr>
        <a:solidFill xmlns:a="http://schemas.openxmlformats.org/drawingml/2006/main">
          <a:srgbClr val="F3EEE6"/>
        </a:solidFill>
      </c:spPr>
    </c:plotArea>
    <c:plotVisOnly val="1"/>
  </c:chart>
  <c:spPr>
    <a:solidFill xmlns:a="http://schemas.openxmlformats.org/drawingml/2006/main">
      <a:srgbClr val="F3EEE6"/>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Valeur</c:v>
          </c:tx>
          <c:spPr>
            <a:solidFill xmlns:a="http://schemas.openxmlformats.org/drawingml/2006/main">
              <a:srgbClr val="8A705B"/>
            </a:solidFill>
          </c:spPr>
          <c:invertIfNegative val="0"/>
          <c:cat>
            <c:strRef>
              <c:f>'Chart Data'!$A$2:$A$6</c:f>
              <c:strCache>
                <c:ptCount val="5"/>
                <c:pt idx="0">
                  <c:v>Livraison</c:v>
                </c:pt>
                <c:pt idx="1">
                  <c:v>Autres</c:v>
                </c:pt>
                <c:pt idx="2">
                  <c:v>Taille / coupe</c:v>
                </c:pt>
                <c:pt idx="3">
                  <c:v>Retours</c:v>
                </c:pt>
                <c:pt idx="4">
                  <c:v>Qualité</c:v>
                </c:pt>
              </c:strCache>
            </c:strRef>
          </c:cat>
          <c:val>
            <c:numRef>
              <c:f>'Chart Data'!$B$2:$B$6</c:f>
              <c:numCache>
                <c:formatCode>General</c:formatCode>
                <c:ptCount val="5"/>
                <c:pt idx="0">
                  <c:v>23.66</c:v>
                </c:pt>
                <c:pt idx="1">
                  <c:v>22.66</c:v>
                </c:pt>
                <c:pt idx="2">
                  <c:v>22.3</c:v>
                </c:pt>
                <c:pt idx="3">
                  <c:v>51.02</c:v>
                </c:pt>
                <c:pt idx="4">
                  <c:v>20.05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a:latin typeface="Montserrat"/>
                  <a:ea typeface="Montserrat"/>
                  <a:cs typeface="Montserrat"/>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72768"/>
      </c:catAx>
      <c:valAx>
        <c:axId val="48672768"/>
        <c:scaling>
          <c:orientation val="minMax"/>
          <c:max val="60"/>
          <c:min val="0"/>
        </c:scaling>
        <c:delete val="0"/>
        <c:axPos val="l"/>
        <c:majorGridlines>
          <c:spPr>
            <a:ln xmlns:a="http://schemas.openxmlformats.org/drawingml/2006/main" w="4763">
              <a:solidFill>
                <a:srgbClr val="D8C9BA"/>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50112"/>
        <c:crossBetween val="between"/>
      </c:valAx>
      <c:spPr>
        <a:solidFill xmlns:a="http://schemas.openxmlformats.org/drawingml/2006/main">
          <a:srgbClr val="F3EEE6"/>
        </a:solidFill>
      </c:spPr>
    </c:plotArea>
    <c:plotVisOnly val="1"/>
  </c:chart>
  <c:spPr>
    <a:solidFill xmlns:a="http://schemas.openxmlformats.org/drawingml/2006/main">
      <a:srgbClr val="F3EEE6"/>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Valeur</c:v>
          </c:tx>
          <c:spPr>
            <a:solidFill xmlns:a="http://schemas.openxmlformats.org/drawingml/2006/main">
              <a:srgbClr val="8A705B"/>
            </a:solidFill>
          </c:spPr>
          <c:invertIfNegative val="0"/>
          <c:cat>
            <c:strRef>
              <c:f>'Chart Data'!$A$2:$A$3</c:f>
              <c:strCache>
                <c:ptCount val="2"/>
                <c:pt idx="0">
                  <c:v>≤ 48 heures</c:v>
                </c:pt>
                <c:pt idx="1">
                  <c:v>&gt; 48 heures</c:v>
                </c:pt>
              </c:strCache>
            </c:strRef>
          </c:cat>
          <c:val>
            <c:numRef>
              <c:f>'Chart Data'!$B$2:$B$3</c:f>
              <c:numCache>
                <c:formatCode>General</c:formatCode>
                <c:ptCount val="2"/>
                <c:pt idx="0">
                  <c:v>82.73</c:v>
                </c:pt>
                <c:pt idx="1">
                  <c:v>42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a:latin typeface="Montserrat"/>
                  <a:ea typeface="Montserrat"/>
                  <a:cs typeface="Montserrat"/>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72768"/>
      </c:catAx>
      <c:valAx>
        <c:axId val="48672768"/>
        <c:scaling>
          <c:orientation val="minMax"/>
          <c:max val="100"/>
          <c:min val="0"/>
        </c:scaling>
        <c:delete val="0"/>
        <c:axPos val="l"/>
        <c:majorGridlines>
          <c:spPr>
            <a:ln xmlns:a="http://schemas.openxmlformats.org/drawingml/2006/main" w="4763">
              <a:solidFill>
                <a:srgbClr val="D8C9BA"/>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242321"/>
                </a:solidFill>
                <a:latin typeface="Montserrat"/>
                <a:ea typeface="Montserrat"/>
                <a:cs typeface="Montserrat"/>
              </a:defRPr>
            </a:pPr>
          </a:p>
        </c:txPr>
        <c:crossAx val="48650112"/>
        <c:crossBetween val="between"/>
      </c:valAx>
      <c:spPr>
        <a:solidFill xmlns:a="http://schemas.openxmlformats.org/drawingml/2006/main">
          <a:srgbClr val="F3EEE6"/>
        </a:solidFill>
      </c:spPr>
    </c:plotArea>
    <c:plotVisOnly val="1"/>
  </c:chart>
  <c:spPr>
    <a:solidFill xmlns:a="http://schemas.openxmlformats.org/drawingml/2006/main">
      <a:srgbClr val="F3EEE6"/>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D3C411-37E2-454E-A5DE-7454F01DC2F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D3DC65-AC09-41E6-BC5C-64E5F24755C1}"/>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3BDA80-B1BC-44C9-9C42-89488904323A}"/>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BEAUTÉ CACHÉE</a:t>
            </a:r>
          </a:p>
        </p:txBody>
      </p:sp>
      <p:sp>
        <p:nvSpPr>
          <p:cNvPr id="4" name="">
            <a:extLst xmlns:a="http://schemas.openxmlformats.org/drawingml/2006/main">
              <a:ext uri="{FF2B5EF4-FFF2-40B4-BE49-F238E27FC236}">
                <a16:creationId xmlns:a16="http://schemas.microsoft.com/office/drawing/2014/main" id="{1231B23E-7D47-4C91-8632-3686A338F744}"/>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01</a:t>
            </a:r>
          </a:p>
        </p:txBody>
      </p:sp>
      <p:pic>
        <p:nvPicPr>
          <p:cNvPr id="5" name="">
            <a:extLst xmlns:a="http://schemas.openxmlformats.org/drawingml/2006/main">
              <a:ext uri="{FF2B5EF4-FFF2-40B4-BE49-F238E27FC236}">
                <a16:creationId xmlns:a16="http://schemas.microsoft.com/office/drawing/2014/main" id="{721105C5-BEAF-4050-9A9B-71B7E05D6106}"/>
              </a:ext>
            </a:extLst>
          </p:cNvPr>
          <p:cNvPicPr>
            <a:picLocks xmlns:a="http://schemas.openxmlformats.org/drawingml/2006/main" noChangeAspect="1"/>
          </p:cNvPicPr>
          <p:nvPr/>
        </p:nvPicPr>
        <p:blipFill>
          <a:blip xmlns:r="http://schemas.openxmlformats.org/officeDocument/2006/relationships" xmlns:a="http://schemas.openxmlformats.org/drawingml/2006/main" r:embed="R9143a7eb07f243d0"/>
          <a:srcRect xmlns:a="http://schemas.openxmlformats.org/drawingml/2006/main" l="0" t="833" r="0" b="833"/>
          <a:stretch xmlns:a="http://schemas.openxmlformats.org/drawingml/2006/main">
            <a:fillRect l="0" t="0" r="0" b="0"/>
          </a:stretch>
        </p:blipFill>
        <p:spPr>
          <a:xfrm xmlns:a="http://schemas.openxmlformats.org/drawingml/2006/main">
            <a:off x="7620000" y="114300"/>
            <a:ext cx="4572000" cy="6743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5218D78-3A1A-4C01-A500-9C9DBC89A1D6}"/>
              </a:ext>
            </a:extLst>
          </p:cNvPr>
          <p:cNvSpPr>
            <a:spLocks xmlns:a="http://schemas.openxmlformats.org/drawingml/2006/main" noGrp="1"/>
          </p:cNvSpPr>
          <p:nvPr/>
        </p:nvSpPr>
        <p:spPr>
          <a:xfrm xmlns:a="http://schemas.openxmlformats.org/drawingml/2006/main">
            <a:off x="666750" y="2095500"/>
            <a:ext cx="6572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959" b="1">
                <a:solidFill>
                  <a:srgbClr val="242321"/>
                </a:solidFill>
                <a:latin typeface="Cormorant Garamond"/>
                <a:ea typeface="Cormorant Garamond"/>
                <a:cs typeface="Cormorant Garamond"/>
              </a:defRPr>
            </a:defPPr>
            <a:lvl1pPr>
              <a:defRPr sz="4959" b="1">
                <a:solidFill>
                  <a:srgbClr val="242321"/>
                </a:solidFill>
                <a:latin typeface="Cormorant Garamond"/>
                <a:ea typeface="Cormorant Garamond"/>
                <a:cs typeface="Cormorant Garamond"/>
              </a:defRPr>
            </a:lvl1pPr>
            <a:lvl2pPr>
              <a:defRPr sz="4959" b="1">
                <a:solidFill>
                  <a:srgbClr val="242321"/>
                </a:solidFill>
                <a:latin typeface="Cormorant Garamond"/>
                <a:ea typeface="Cormorant Garamond"/>
                <a:cs typeface="Cormorant Garamond"/>
              </a:defRPr>
            </a:lvl2pPr>
            <a:lvl3pPr>
              <a:defRPr sz="4959" b="1">
                <a:solidFill>
                  <a:srgbClr val="242321"/>
                </a:solidFill>
                <a:latin typeface="Cormorant Garamond"/>
                <a:ea typeface="Cormorant Garamond"/>
                <a:cs typeface="Cormorant Garamond"/>
              </a:defRPr>
            </a:lvl3pPr>
            <a:lvl4pPr>
              <a:defRPr sz="4959" b="1">
                <a:solidFill>
                  <a:srgbClr val="242321"/>
                </a:solidFill>
                <a:latin typeface="Cormorant Garamond"/>
                <a:ea typeface="Cormorant Garamond"/>
                <a:cs typeface="Cormorant Garamond"/>
              </a:defRPr>
            </a:lvl4pPr>
            <a:lvl5pPr>
              <a:defRPr sz="4959" b="1">
                <a:solidFill>
                  <a:srgbClr val="242321"/>
                </a:solidFill>
                <a:latin typeface="Cormorant Garamond"/>
                <a:ea typeface="Cormorant Garamond"/>
                <a:cs typeface="Cormorant Garamond"/>
              </a:defRPr>
            </a:lvl5pPr>
            <a:lvl6pPr>
              <a:defRPr sz="4959" b="1">
                <a:solidFill>
                  <a:srgbClr val="242321"/>
                </a:solidFill>
                <a:latin typeface="Cormorant Garamond"/>
                <a:ea typeface="Cormorant Garamond"/>
                <a:cs typeface="Cormorant Garamond"/>
              </a:defRPr>
            </a:lvl6pPr>
            <a:lvl7pPr>
              <a:defRPr sz="4959" b="1">
                <a:solidFill>
                  <a:srgbClr val="242321"/>
                </a:solidFill>
                <a:latin typeface="Cormorant Garamond"/>
                <a:ea typeface="Cormorant Garamond"/>
                <a:cs typeface="Cormorant Garamond"/>
              </a:defRPr>
            </a:lvl7pPr>
            <a:lvl8pPr>
              <a:defRPr sz="4959" b="1">
                <a:solidFill>
                  <a:srgbClr val="242321"/>
                </a:solidFill>
                <a:latin typeface="Cormorant Garamond"/>
                <a:ea typeface="Cormorant Garamond"/>
                <a:cs typeface="Cormorant Garamond"/>
              </a:defRPr>
            </a:lvl8pPr>
            <a:lvl9pPr>
              <a:defRPr sz="4959" b="1">
                <a:solidFill>
                  <a:srgbClr val="242321"/>
                </a:solidFill>
                <a:latin typeface="Cormorant Garamond"/>
                <a:ea typeface="Cormorant Garamond"/>
                <a:cs typeface="Cormorant Garamond"/>
              </a:defRPr>
            </a:lvl9pPr>
          </a:lstStyle>
          <a:p xmlns:a="http://schemas.openxmlformats.org/drawingml/2006/main">
            <a:pPr>
              <a:defRPr sz="4959" b="1">
                <a:solidFill>
                  <a:srgbClr val="242321"/>
                </a:solidFill>
                <a:latin typeface="Cormorant Garamond"/>
                <a:ea typeface="Cormorant Garamond"/>
                <a:cs typeface="Cormorant Garamond"/>
              </a:defRPr>
            </a:pPr>
            <a:r>
              <a:rPr sz="4959" b="1">
                <a:solidFill>
                  <a:srgbClr val="242321"/>
                </a:solidFill>
                <a:latin typeface="Cormorant Garamond"/>
                <a:ea typeface="Cormorant Garamond"/>
                <a:cs typeface="Cormorant Garamond"/>
              </a:rPr>
              <a:t>Ventes &amp;</a:t>
            </a:r>
          </a:p>
          <a:p xmlns:a="http://schemas.openxmlformats.org/drawingml/2006/main">
            <a:pPr>
              <a:defRPr sz="4959" b="1">
                <a:solidFill>
                  <a:srgbClr val="242321"/>
                </a:solidFill>
                <a:latin typeface="Cormorant Garamond"/>
                <a:ea typeface="Cormorant Garamond"/>
                <a:cs typeface="Cormorant Garamond"/>
              </a:defRPr>
            </a:pPr>
            <a:r>
              <a:rPr sz="4959" b="1">
                <a:solidFill>
                  <a:srgbClr val="242321"/>
                </a:solidFill>
                <a:latin typeface="Cormorant Garamond"/>
                <a:ea typeface="Cormorant Garamond"/>
                <a:cs typeface="Cormorant Garamond"/>
              </a:rPr>
              <a:t>expérience client</a:t>
            </a:r>
          </a:p>
        </p:txBody>
      </p:sp>
      <p:sp>
        <p:nvSpPr>
          <p:cNvPr id="7" name="">
            <a:extLst xmlns:a="http://schemas.openxmlformats.org/drawingml/2006/main">
              <a:ext uri="{FF2B5EF4-FFF2-40B4-BE49-F238E27FC236}">
                <a16:creationId xmlns:a16="http://schemas.microsoft.com/office/drawing/2014/main" id="{EFD7031F-1021-4BBD-B7FC-E4F47057B0CD}"/>
              </a:ext>
            </a:extLst>
          </p:cNvPr>
          <p:cNvSpPr>
            <a:spLocks xmlns:a="http://schemas.openxmlformats.org/drawingml/2006/main" noGrp="1"/>
          </p:cNvSpPr>
          <p:nvPr/>
        </p:nvSpPr>
        <p:spPr>
          <a:xfrm xmlns:a="http://schemas.openxmlformats.org/drawingml/2006/main">
            <a:off x="666750" y="3905250"/>
            <a:ext cx="628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0">
                <a:solidFill>
                  <a:srgbClr val="242321"/>
                </a:solidFill>
                <a:latin typeface="Montserrat"/>
                <a:ea typeface="Montserrat"/>
                <a:cs typeface="Montserrat"/>
              </a:defRPr>
            </a:defPPr>
            <a:lvl1pPr>
              <a:defRPr sz="1863" b="0">
                <a:solidFill>
                  <a:srgbClr val="242321"/>
                </a:solidFill>
                <a:latin typeface="Montserrat"/>
                <a:ea typeface="Montserrat"/>
                <a:cs typeface="Montserrat"/>
              </a:defRPr>
            </a:lvl1pPr>
            <a:lvl2pPr>
              <a:defRPr sz="1863" b="0">
                <a:solidFill>
                  <a:srgbClr val="242321"/>
                </a:solidFill>
                <a:latin typeface="Montserrat"/>
                <a:ea typeface="Montserrat"/>
                <a:cs typeface="Montserrat"/>
              </a:defRPr>
            </a:lvl2pPr>
            <a:lvl3pPr>
              <a:defRPr sz="1863" b="0">
                <a:solidFill>
                  <a:srgbClr val="242321"/>
                </a:solidFill>
                <a:latin typeface="Montserrat"/>
                <a:ea typeface="Montserrat"/>
                <a:cs typeface="Montserrat"/>
              </a:defRPr>
            </a:lvl3pPr>
            <a:lvl4pPr>
              <a:defRPr sz="1863" b="0">
                <a:solidFill>
                  <a:srgbClr val="242321"/>
                </a:solidFill>
                <a:latin typeface="Montserrat"/>
                <a:ea typeface="Montserrat"/>
                <a:cs typeface="Montserrat"/>
              </a:defRPr>
            </a:lvl4pPr>
            <a:lvl5pPr>
              <a:defRPr sz="1863" b="0">
                <a:solidFill>
                  <a:srgbClr val="242321"/>
                </a:solidFill>
                <a:latin typeface="Montserrat"/>
                <a:ea typeface="Montserrat"/>
                <a:cs typeface="Montserrat"/>
              </a:defRPr>
            </a:lvl5pPr>
            <a:lvl6pPr>
              <a:defRPr sz="1863" b="0">
                <a:solidFill>
                  <a:srgbClr val="242321"/>
                </a:solidFill>
                <a:latin typeface="Montserrat"/>
                <a:ea typeface="Montserrat"/>
                <a:cs typeface="Montserrat"/>
              </a:defRPr>
            </a:lvl6pPr>
            <a:lvl7pPr>
              <a:defRPr sz="1863" b="0">
                <a:solidFill>
                  <a:srgbClr val="242321"/>
                </a:solidFill>
                <a:latin typeface="Montserrat"/>
                <a:ea typeface="Montserrat"/>
                <a:cs typeface="Montserrat"/>
              </a:defRPr>
            </a:lvl7pPr>
            <a:lvl8pPr>
              <a:defRPr sz="1863" b="0">
                <a:solidFill>
                  <a:srgbClr val="242321"/>
                </a:solidFill>
                <a:latin typeface="Montserrat"/>
                <a:ea typeface="Montserrat"/>
                <a:cs typeface="Montserrat"/>
              </a:defRPr>
            </a:lvl8pPr>
            <a:lvl9pPr>
              <a:defRPr sz="1863" b="0">
                <a:solidFill>
                  <a:srgbClr val="242321"/>
                </a:solidFill>
                <a:latin typeface="Montserrat"/>
                <a:ea typeface="Montserrat"/>
                <a:cs typeface="Montserrat"/>
              </a:defRPr>
            </a:lvl9pPr>
          </a:lstStyle>
          <a:p xmlns:a="http://schemas.openxmlformats.org/drawingml/2006/main">
            <a:pPr>
              <a:defRPr sz="1863" b="0">
                <a:solidFill>
                  <a:srgbClr val="242321"/>
                </a:solidFill>
                <a:latin typeface="Montserrat"/>
                <a:ea typeface="Montserrat"/>
                <a:cs typeface="Montserrat"/>
              </a:defRPr>
            </a:pPr>
            <a:r>
              <a:rPr sz="1863" b="0">
                <a:solidFill>
                  <a:srgbClr val="242321"/>
                </a:solidFill>
                <a:latin typeface="Montserrat"/>
                <a:ea typeface="Montserrat"/>
                <a:cs typeface="Montserrat"/>
              </a:rPr>
              <a:t>Avis clients et simulation Sales / CRM</a:t>
            </a:r>
          </a:p>
          <a:p xmlns:a="http://schemas.openxmlformats.org/drawingml/2006/main">
            <a:pPr>
              <a:defRPr sz="1863" b="0">
                <a:solidFill>
                  <a:srgbClr val="242321"/>
                </a:solidFill>
                <a:latin typeface="Montserrat"/>
                <a:ea typeface="Montserrat"/>
                <a:cs typeface="Montserrat"/>
              </a:defRPr>
            </a:pPr>
            <a:r>
              <a:rPr sz="1863" b="0">
                <a:solidFill>
                  <a:srgbClr val="242321"/>
                </a:solidFill>
                <a:latin typeface="Montserrat"/>
                <a:ea typeface="Montserrat"/>
                <a:cs typeface="Montserrat"/>
              </a:rPr>
              <a:t>Diagnostic métier et recommandations</a:t>
            </a:r>
          </a:p>
        </p:txBody>
      </p:sp>
      <p:sp>
        <p:nvSpPr>
          <p:cNvPr id="8" name="">
            <a:extLst xmlns:a="http://schemas.openxmlformats.org/drawingml/2006/main">
              <a:ext uri="{FF2B5EF4-FFF2-40B4-BE49-F238E27FC236}">
                <a16:creationId xmlns:a16="http://schemas.microsoft.com/office/drawing/2014/main" id="{B71FB2A2-95A1-4D14-A962-195511134CF3}"/>
              </a:ext>
            </a:extLst>
          </p:cNvPr>
          <p:cNvSpPr>
            <a:spLocks xmlns:a="http://schemas.openxmlformats.org/drawingml/2006/main" noGrp="1"/>
          </p:cNvSpPr>
          <p:nvPr/>
        </p:nvSpPr>
        <p:spPr>
          <a:xfrm xmlns:a="http://schemas.openxmlformats.org/drawingml/2006/main">
            <a:off x="666750" y="5429250"/>
            <a:ext cx="619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MARIIA KOVAL</a:t>
            </a:r>
          </a:p>
        </p:txBody>
      </p:sp>
      <p:sp>
        <p:nvSpPr>
          <p:cNvPr id="9" name="">
            <a:extLst xmlns:a="http://schemas.openxmlformats.org/drawingml/2006/main">
              <a:ext uri="{FF2B5EF4-FFF2-40B4-BE49-F238E27FC236}">
                <a16:creationId xmlns:a16="http://schemas.microsoft.com/office/drawing/2014/main" id="{4B1D4B3E-B68D-45D4-BAEF-09C6740DF6EA}"/>
              </a:ext>
            </a:extLst>
          </p:cNvPr>
          <p:cNvSpPr>
            <a:spLocks xmlns:a="http://schemas.openxmlformats.org/drawingml/2006/main" noGrp="1"/>
          </p:cNvSpPr>
          <p:nvPr/>
        </p:nvSpPr>
        <p:spPr>
          <a:xfrm xmlns:a="http://schemas.openxmlformats.org/drawingml/2006/main">
            <a:off x="666750" y="6019800"/>
            <a:ext cx="628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242321"/>
                </a:solidFill>
                <a:latin typeface="Montserrat"/>
                <a:ea typeface="Montserrat"/>
                <a:cs typeface="Montserrat"/>
              </a:defRPr>
            </a:defPPr>
            <a:lvl1pPr>
              <a:defRPr sz="1425" b="0">
                <a:solidFill>
                  <a:srgbClr val="242321"/>
                </a:solidFill>
                <a:latin typeface="Montserrat"/>
                <a:ea typeface="Montserrat"/>
                <a:cs typeface="Montserrat"/>
              </a:defRPr>
            </a:lvl1pPr>
            <a:lvl2pPr>
              <a:defRPr sz="1425" b="0">
                <a:solidFill>
                  <a:srgbClr val="242321"/>
                </a:solidFill>
                <a:latin typeface="Montserrat"/>
                <a:ea typeface="Montserrat"/>
                <a:cs typeface="Montserrat"/>
              </a:defRPr>
            </a:lvl2pPr>
            <a:lvl3pPr>
              <a:defRPr sz="1425" b="0">
                <a:solidFill>
                  <a:srgbClr val="242321"/>
                </a:solidFill>
                <a:latin typeface="Montserrat"/>
                <a:ea typeface="Montserrat"/>
                <a:cs typeface="Montserrat"/>
              </a:defRPr>
            </a:lvl3pPr>
            <a:lvl4pPr>
              <a:defRPr sz="1425" b="0">
                <a:solidFill>
                  <a:srgbClr val="242321"/>
                </a:solidFill>
                <a:latin typeface="Montserrat"/>
                <a:ea typeface="Montserrat"/>
                <a:cs typeface="Montserrat"/>
              </a:defRPr>
            </a:lvl4pPr>
            <a:lvl5pPr>
              <a:defRPr sz="1425" b="0">
                <a:solidFill>
                  <a:srgbClr val="242321"/>
                </a:solidFill>
                <a:latin typeface="Montserrat"/>
                <a:ea typeface="Montserrat"/>
                <a:cs typeface="Montserrat"/>
              </a:defRPr>
            </a:lvl5pPr>
            <a:lvl6pPr>
              <a:defRPr sz="1425" b="0">
                <a:solidFill>
                  <a:srgbClr val="242321"/>
                </a:solidFill>
                <a:latin typeface="Montserrat"/>
                <a:ea typeface="Montserrat"/>
                <a:cs typeface="Montserrat"/>
              </a:defRPr>
            </a:lvl6pPr>
            <a:lvl7pPr>
              <a:defRPr sz="1425" b="0">
                <a:solidFill>
                  <a:srgbClr val="242321"/>
                </a:solidFill>
                <a:latin typeface="Montserrat"/>
                <a:ea typeface="Montserrat"/>
                <a:cs typeface="Montserrat"/>
              </a:defRPr>
            </a:lvl7pPr>
            <a:lvl8pPr>
              <a:defRPr sz="1425" b="0">
                <a:solidFill>
                  <a:srgbClr val="242321"/>
                </a:solidFill>
                <a:latin typeface="Montserrat"/>
                <a:ea typeface="Montserrat"/>
                <a:cs typeface="Montserrat"/>
              </a:defRPr>
            </a:lvl8pPr>
            <a:lvl9pPr>
              <a:defRPr sz="1425" b="0">
                <a:solidFill>
                  <a:srgbClr val="242321"/>
                </a:solidFill>
                <a:latin typeface="Montserrat"/>
                <a:ea typeface="Montserrat"/>
                <a:cs typeface="Montserrat"/>
              </a:defRPr>
            </a:lvl9pPr>
          </a:lstStyle>
          <a:p xmlns:a="http://schemas.openxmlformats.org/drawingml/2006/main">
            <a:pPr>
              <a:defRPr sz="1425" b="0">
                <a:solidFill>
                  <a:srgbClr val="242321"/>
                </a:solidFill>
                <a:latin typeface="Montserrat"/>
                <a:ea typeface="Montserrat"/>
                <a:cs typeface="Montserrat"/>
              </a:defRPr>
            </a:pPr>
            <a:r>
              <a:rPr sz="1425" b="0">
                <a:solidFill>
                  <a:srgbClr val="242321"/>
                </a:solidFill>
                <a:latin typeface="Montserrat"/>
                <a:ea typeface="Montserrat"/>
                <a:cs typeface="Montserrat"/>
              </a:rPr>
              <a:t>Étude de cas indépendante · 2026 · Marque fictive</a:t>
            </a:r>
          </a:p>
        </p:txBody>
      </p:sp>
    </p:spTree>
    <p:extLst>
      <p:ext uri="{BB962C8B-B14F-4D97-AF65-F5344CB8AC3E}">
        <p14:creationId xmlns:p14="http://schemas.microsoft.com/office/powerpoint/2010/main" val="6208809"/>
      </p:ext>
    </p:extLst>
  </p:cSld>
</p:sld>
</file>

<file path=ppt/slides/slide2.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1F1F17-114E-4850-8AE6-58D9F6BD84D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DA6EA2-1F66-445B-836A-6CE338771FC2}"/>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430117D-39D0-475A-8284-917EFB0706EE}"/>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Plan de la présentation</a:t>
            </a:r>
          </a:p>
        </p:txBody>
      </p:sp>
      <p:sp>
        <p:nvSpPr>
          <p:cNvPr id="4" name="">
            <a:extLst xmlns:a="http://schemas.openxmlformats.org/drawingml/2006/main">
              <a:ext uri="{FF2B5EF4-FFF2-40B4-BE49-F238E27FC236}">
                <a16:creationId xmlns:a16="http://schemas.microsoft.com/office/drawing/2014/main" id="{4E28D1EC-AEBA-4733-AE5E-3971E4636DB8}"/>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02</a:t>
            </a:r>
          </a:p>
        </p:txBody>
      </p:sp>
      <p:sp>
        <p:nvSpPr>
          <p:cNvPr id="5" name="">
            <a:extLst xmlns:a="http://schemas.openxmlformats.org/drawingml/2006/main">
              <a:ext uri="{FF2B5EF4-FFF2-40B4-BE49-F238E27FC236}">
                <a16:creationId xmlns:a16="http://schemas.microsoft.com/office/drawing/2014/main" id="{68726883-9ED2-4F44-ACCB-3EBCD583D3E3}"/>
              </a:ext>
            </a:extLst>
          </p:cNvPr>
          <p:cNvSpPr>
            <a:spLocks xmlns:a="http://schemas.openxmlformats.org/drawingml/2006/main" noGrp="1"/>
          </p:cNvSpPr>
          <p:nvPr/>
        </p:nvSpPr>
        <p:spPr>
          <a:xfrm xmlns:a="http://schemas.openxmlformats.org/drawingml/2006/main">
            <a:off x="619125" y="1857375"/>
            <a:ext cx="609600" cy="5715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B388822-982D-4124-83D6-82A63B4B847F}"/>
              </a:ext>
            </a:extLst>
          </p:cNvPr>
          <p:cNvSpPr>
            <a:spLocks xmlns:a="http://schemas.openxmlformats.org/drawingml/2006/main" noGrp="1"/>
          </p:cNvSpPr>
          <p:nvPr/>
        </p:nvSpPr>
        <p:spPr>
          <a:xfrm xmlns:a="http://schemas.openxmlformats.org/drawingml/2006/main">
            <a:off x="714375" y="1952625"/>
            <a:ext cx="552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F3EEE6"/>
                </a:solidFill>
                <a:latin typeface="Montserrat"/>
                <a:ea typeface="Montserrat"/>
                <a:cs typeface="Montserrat"/>
              </a:defRPr>
            </a:defPPr>
            <a:lvl1pPr>
              <a:defRPr sz="1794" b="1">
                <a:solidFill>
                  <a:srgbClr val="F3EEE6"/>
                </a:solidFill>
                <a:latin typeface="Montserrat"/>
                <a:ea typeface="Montserrat"/>
                <a:cs typeface="Montserrat"/>
              </a:defRPr>
            </a:lvl1pPr>
            <a:lvl2pPr>
              <a:defRPr sz="1794" b="1">
                <a:solidFill>
                  <a:srgbClr val="F3EEE6"/>
                </a:solidFill>
                <a:latin typeface="Montserrat"/>
                <a:ea typeface="Montserrat"/>
                <a:cs typeface="Montserrat"/>
              </a:defRPr>
            </a:lvl2pPr>
            <a:lvl3pPr>
              <a:defRPr sz="1794" b="1">
                <a:solidFill>
                  <a:srgbClr val="F3EEE6"/>
                </a:solidFill>
                <a:latin typeface="Montserrat"/>
                <a:ea typeface="Montserrat"/>
                <a:cs typeface="Montserrat"/>
              </a:defRPr>
            </a:lvl3pPr>
            <a:lvl4pPr>
              <a:defRPr sz="1794" b="1">
                <a:solidFill>
                  <a:srgbClr val="F3EEE6"/>
                </a:solidFill>
                <a:latin typeface="Montserrat"/>
                <a:ea typeface="Montserrat"/>
                <a:cs typeface="Montserrat"/>
              </a:defRPr>
            </a:lvl4pPr>
            <a:lvl5pPr>
              <a:defRPr sz="1794" b="1">
                <a:solidFill>
                  <a:srgbClr val="F3EEE6"/>
                </a:solidFill>
                <a:latin typeface="Montserrat"/>
                <a:ea typeface="Montserrat"/>
                <a:cs typeface="Montserrat"/>
              </a:defRPr>
            </a:lvl5pPr>
            <a:lvl6pPr>
              <a:defRPr sz="1794" b="1">
                <a:solidFill>
                  <a:srgbClr val="F3EEE6"/>
                </a:solidFill>
                <a:latin typeface="Montserrat"/>
                <a:ea typeface="Montserrat"/>
                <a:cs typeface="Montserrat"/>
              </a:defRPr>
            </a:lvl6pPr>
            <a:lvl7pPr>
              <a:defRPr sz="1794" b="1">
                <a:solidFill>
                  <a:srgbClr val="F3EEE6"/>
                </a:solidFill>
                <a:latin typeface="Montserrat"/>
                <a:ea typeface="Montserrat"/>
                <a:cs typeface="Montserrat"/>
              </a:defRPr>
            </a:lvl7pPr>
            <a:lvl8pPr>
              <a:defRPr sz="1794" b="1">
                <a:solidFill>
                  <a:srgbClr val="F3EEE6"/>
                </a:solidFill>
                <a:latin typeface="Montserrat"/>
                <a:ea typeface="Montserrat"/>
                <a:cs typeface="Montserrat"/>
              </a:defRPr>
            </a:lvl8pPr>
            <a:lvl9pPr>
              <a:defRPr sz="1794" b="1">
                <a:solidFill>
                  <a:srgbClr val="F3EEE6"/>
                </a:solidFill>
                <a:latin typeface="Montserrat"/>
                <a:ea typeface="Montserrat"/>
                <a:cs typeface="Montserrat"/>
              </a:defRPr>
            </a:lvl9pPr>
          </a:lstStyle>
          <a:p xmlns:a="http://schemas.openxmlformats.org/drawingml/2006/main">
            <a:pPr>
              <a:defRPr sz="1794" b="1">
                <a:solidFill>
                  <a:srgbClr val="F3EEE6"/>
                </a:solidFill>
                <a:latin typeface="Montserrat"/>
                <a:ea typeface="Montserrat"/>
                <a:cs typeface="Montserrat"/>
              </a:defRPr>
            </a:pPr>
            <a:r>
              <a:rPr sz="1794" b="1">
                <a:solidFill>
                  <a:srgbClr val="F3EEE6"/>
                </a:solidFill>
                <a:latin typeface="Montserrat"/>
                <a:ea typeface="Montserrat"/>
                <a:cs typeface="Montserrat"/>
              </a:rPr>
              <a:t>01</a:t>
            </a:r>
          </a:p>
        </p:txBody>
      </p:sp>
      <p:sp>
        <p:nvSpPr>
          <p:cNvPr id="7" name="">
            <a:extLst xmlns:a="http://schemas.openxmlformats.org/drawingml/2006/main">
              <a:ext uri="{FF2B5EF4-FFF2-40B4-BE49-F238E27FC236}">
                <a16:creationId xmlns:a16="http://schemas.microsoft.com/office/drawing/2014/main" id="{01D5BFA0-5C2A-4427-B29E-7876B329F753}"/>
              </a:ext>
            </a:extLst>
          </p:cNvPr>
          <p:cNvSpPr>
            <a:spLocks xmlns:a="http://schemas.openxmlformats.org/drawingml/2006/main" noGrp="1"/>
          </p:cNvSpPr>
          <p:nvPr/>
        </p:nvSpPr>
        <p:spPr>
          <a:xfrm xmlns:a="http://schemas.openxmlformats.org/drawingml/2006/main">
            <a:off x="1524000" y="1857375"/>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Le projet et ses indicateurs</a:t>
            </a:r>
          </a:p>
        </p:txBody>
      </p:sp>
      <p:sp>
        <p:nvSpPr>
          <p:cNvPr id="8" name="">
            <a:extLst xmlns:a="http://schemas.openxmlformats.org/drawingml/2006/main">
              <a:ext uri="{FF2B5EF4-FFF2-40B4-BE49-F238E27FC236}">
                <a16:creationId xmlns:a16="http://schemas.microsoft.com/office/drawing/2014/main" id="{230CCA79-D9D9-4FCB-9FB1-A20DF573A610}"/>
              </a:ext>
            </a:extLst>
          </p:cNvPr>
          <p:cNvSpPr>
            <a:spLocks xmlns:a="http://schemas.openxmlformats.org/drawingml/2006/main" noGrp="1"/>
          </p:cNvSpPr>
          <p:nvPr/>
        </p:nvSpPr>
        <p:spPr>
          <a:xfrm xmlns:a="http://schemas.openxmlformats.org/drawingml/2006/main">
            <a:off x="1524000" y="2276475"/>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Contexte, objectifs, sources et KPI</a:t>
            </a:r>
          </a:p>
        </p:txBody>
      </p:sp>
      <p:sp>
        <p:nvSpPr>
          <p:cNvPr id="9" name="">
            <a:extLst xmlns:a="http://schemas.openxmlformats.org/drawingml/2006/main">
              <a:ext uri="{FF2B5EF4-FFF2-40B4-BE49-F238E27FC236}">
                <a16:creationId xmlns:a16="http://schemas.microsoft.com/office/drawing/2014/main" id="{FD64B68B-DFA8-4141-B6E0-939298CEB01A}"/>
              </a:ext>
            </a:extLst>
          </p:cNvPr>
          <p:cNvSpPr>
            <a:spLocks xmlns:a="http://schemas.openxmlformats.org/drawingml/2006/main" noGrp="1"/>
          </p:cNvSpPr>
          <p:nvPr/>
        </p:nvSpPr>
        <p:spPr>
          <a:xfrm xmlns:a="http://schemas.openxmlformats.org/drawingml/2006/main">
            <a:off x="10287000" y="1952625"/>
            <a:ext cx="123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8A705B"/>
                </a:solidFill>
                <a:latin typeface="Montserrat"/>
                <a:ea typeface="Montserrat"/>
                <a:cs typeface="Montserrat"/>
              </a:defRPr>
            </a:defPPr>
            <a:lvl1pPr>
              <a:defRPr sz="1725" b="1">
                <a:solidFill>
                  <a:srgbClr val="8A705B"/>
                </a:solidFill>
                <a:latin typeface="Montserrat"/>
                <a:ea typeface="Montserrat"/>
                <a:cs typeface="Montserrat"/>
              </a:defRPr>
            </a:lvl1pPr>
            <a:lvl2pPr>
              <a:defRPr sz="1725" b="1">
                <a:solidFill>
                  <a:srgbClr val="8A705B"/>
                </a:solidFill>
                <a:latin typeface="Montserrat"/>
                <a:ea typeface="Montserrat"/>
                <a:cs typeface="Montserrat"/>
              </a:defRPr>
            </a:lvl2pPr>
            <a:lvl3pPr>
              <a:defRPr sz="1725" b="1">
                <a:solidFill>
                  <a:srgbClr val="8A705B"/>
                </a:solidFill>
                <a:latin typeface="Montserrat"/>
                <a:ea typeface="Montserrat"/>
                <a:cs typeface="Montserrat"/>
              </a:defRPr>
            </a:lvl3pPr>
            <a:lvl4pPr>
              <a:defRPr sz="1725" b="1">
                <a:solidFill>
                  <a:srgbClr val="8A705B"/>
                </a:solidFill>
                <a:latin typeface="Montserrat"/>
                <a:ea typeface="Montserrat"/>
                <a:cs typeface="Montserrat"/>
              </a:defRPr>
            </a:lvl4pPr>
            <a:lvl5pPr>
              <a:defRPr sz="1725" b="1">
                <a:solidFill>
                  <a:srgbClr val="8A705B"/>
                </a:solidFill>
                <a:latin typeface="Montserrat"/>
                <a:ea typeface="Montserrat"/>
                <a:cs typeface="Montserrat"/>
              </a:defRPr>
            </a:lvl5pPr>
            <a:lvl6pPr>
              <a:defRPr sz="1725" b="1">
                <a:solidFill>
                  <a:srgbClr val="8A705B"/>
                </a:solidFill>
                <a:latin typeface="Montserrat"/>
                <a:ea typeface="Montserrat"/>
                <a:cs typeface="Montserrat"/>
              </a:defRPr>
            </a:lvl6pPr>
            <a:lvl7pPr>
              <a:defRPr sz="1725" b="1">
                <a:solidFill>
                  <a:srgbClr val="8A705B"/>
                </a:solidFill>
                <a:latin typeface="Montserrat"/>
                <a:ea typeface="Montserrat"/>
                <a:cs typeface="Montserrat"/>
              </a:defRPr>
            </a:lvl7pPr>
            <a:lvl8pPr>
              <a:defRPr sz="1725" b="1">
                <a:solidFill>
                  <a:srgbClr val="8A705B"/>
                </a:solidFill>
                <a:latin typeface="Montserrat"/>
                <a:ea typeface="Montserrat"/>
                <a:cs typeface="Montserrat"/>
              </a:defRPr>
            </a:lvl8pPr>
            <a:lvl9pPr>
              <a:defRPr sz="1725" b="1">
                <a:solidFill>
                  <a:srgbClr val="8A705B"/>
                </a:solidFill>
                <a:latin typeface="Montserrat"/>
                <a:ea typeface="Montserrat"/>
                <a:cs typeface="Montserrat"/>
              </a:defRPr>
            </a:lvl9pPr>
          </a:lstStyle>
          <a:p xmlns:a="http://schemas.openxmlformats.org/drawingml/2006/main">
            <a:pPr>
              <a:defRPr sz="1725" b="1">
                <a:solidFill>
                  <a:srgbClr val="8A705B"/>
                </a:solidFill>
                <a:latin typeface="Montserrat"/>
                <a:ea typeface="Montserrat"/>
                <a:cs typeface="Montserrat"/>
              </a:defRPr>
            </a:pPr>
            <a:r>
              <a:rPr sz="1725" b="1">
                <a:solidFill>
                  <a:srgbClr val="8A705B"/>
                </a:solidFill>
                <a:latin typeface="Montserrat"/>
                <a:ea typeface="Montserrat"/>
                <a:cs typeface="Montserrat"/>
              </a:rPr>
              <a:t>03–06</a:t>
            </a:r>
          </a:p>
        </p:txBody>
      </p:sp>
      <p:sp>
        <p:nvSpPr>
          <p:cNvPr id="10" name="">
            <a:extLst xmlns:a="http://schemas.openxmlformats.org/drawingml/2006/main">
              <a:ext uri="{FF2B5EF4-FFF2-40B4-BE49-F238E27FC236}">
                <a16:creationId xmlns:a16="http://schemas.microsoft.com/office/drawing/2014/main" id="{20A0CB01-F15E-41F5-96C9-A542C46F00E8}"/>
              </a:ext>
            </a:extLst>
          </p:cNvPr>
          <p:cNvSpPr>
            <a:spLocks xmlns:a="http://schemas.openxmlformats.org/drawingml/2006/main" noGrp="1"/>
          </p:cNvSpPr>
          <p:nvPr/>
        </p:nvSpPr>
        <p:spPr>
          <a:xfrm xmlns:a="http://schemas.openxmlformats.org/drawingml/2006/main">
            <a:off x="619125" y="2857500"/>
            <a:ext cx="609600" cy="5715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95201A2-5E79-485E-B077-AD5E2956284E}"/>
              </a:ext>
            </a:extLst>
          </p:cNvPr>
          <p:cNvSpPr>
            <a:spLocks xmlns:a="http://schemas.openxmlformats.org/drawingml/2006/main" noGrp="1"/>
          </p:cNvSpPr>
          <p:nvPr/>
        </p:nvSpPr>
        <p:spPr>
          <a:xfrm xmlns:a="http://schemas.openxmlformats.org/drawingml/2006/main">
            <a:off x="714375" y="2952750"/>
            <a:ext cx="552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02</a:t>
            </a:r>
          </a:p>
        </p:txBody>
      </p:sp>
      <p:sp>
        <p:nvSpPr>
          <p:cNvPr id="12" name="">
            <a:extLst xmlns:a="http://schemas.openxmlformats.org/drawingml/2006/main">
              <a:ext uri="{FF2B5EF4-FFF2-40B4-BE49-F238E27FC236}">
                <a16:creationId xmlns:a16="http://schemas.microsoft.com/office/drawing/2014/main" id="{CBE43BAE-91F1-41B2-9810-94F213FE8CA6}"/>
              </a:ext>
            </a:extLst>
          </p:cNvPr>
          <p:cNvSpPr>
            <a:spLocks xmlns:a="http://schemas.openxmlformats.org/drawingml/2006/main" noGrp="1"/>
          </p:cNvSpPr>
          <p:nvPr/>
        </p:nvSpPr>
        <p:spPr>
          <a:xfrm xmlns:a="http://schemas.openxmlformats.org/drawingml/2006/main">
            <a:off x="1524000" y="2857500"/>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Ce que révèlent les avis clients</a:t>
            </a:r>
          </a:p>
        </p:txBody>
      </p:sp>
      <p:sp>
        <p:nvSpPr>
          <p:cNvPr id="13" name="">
            <a:extLst xmlns:a="http://schemas.openxmlformats.org/drawingml/2006/main">
              <a:ext uri="{FF2B5EF4-FFF2-40B4-BE49-F238E27FC236}">
                <a16:creationId xmlns:a16="http://schemas.microsoft.com/office/drawing/2014/main" id="{D85D9A8C-C9CD-4CA1-9F0D-20DA1953655D}"/>
              </a:ext>
            </a:extLst>
          </p:cNvPr>
          <p:cNvSpPr>
            <a:spLocks xmlns:a="http://schemas.openxmlformats.org/drawingml/2006/main" noGrp="1"/>
          </p:cNvSpPr>
          <p:nvPr/>
        </p:nvSpPr>
        <p:spPr>
          <a:xfrm xmlns:a="http://schemas.openxmlformats.org/drawingml/2006/main">
            <a:off x="1524000" y="327660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Recommandation, motifs d’insatisfaction et actions</a:t>
            </a:r>
          </a:p>
        </p:txBody>
      </p:sp>
      <p:sp>
        <p:nvSpPr>
          <p:cNvPr id="14" name="">
            <a:extLst xmlns:a="http://schemas.openxmlformats.org/drawingml/2006/main">
              <a:ext uri="{FF2B5EF4-FFF2-40B4-BE49-F238E27FC236}">
                <a16:creationId xmlns:a16="http://schemas.microsoft.com/office/drawing/2014/main" id="{507FA376-8762-4567-9DB0-865E907DF0C6}"/>
              </a:ext>
            </a:extLst>
          </p:cNvPr>
          <p:cNvSpPr>
            <a:spLocks xmlns:a="http://schemas.openxmlformats.org/drawingml/2006/main" noGrp="1"/>
          </p:cNvSpPr>
          <p:nvPr/>
        </p:nvSpPr>
        <p:spPr>
          <a:xfrm xmlns:a="http://schemas.openxmlformats.org/drawingml/2006/main">
            <a:off x="10287000" y="2952750"/>
            <a:ext cx="123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8A705B"/>
                </a:solidFill>
                <a:latin typeface="Montserrat"/>
                <a:ea typeface="Montserrat"/>
                <a:cs typeface="Montserrat"/>
              </a:defRPr>
            </a:defPPr>
            <a:lvl1pPr>
              <a:defRPr sz="1725" b="1">
                <a:solidFill>
                  <a:srgbClr val="8A705B"/>
                </a:solidFill>
                <a:latin typeface="Montserrat"/>
                <a:ea typeface="Montserrat"/>
                <a:cs typeface="Montserrat"/>
              </a:defRPr>
            </a:lvl1pPr>
            <a:lvl2pPr>
              <a:defRPr sz="1725" b="1">
                <a:solidFill>
                  <a:srgbClr val="8A705B"/>
                </a:solidFill>
                <a:latin typeface="Montserrat"/>
                <a:ea typeface="Montserrat"/>
                <a:cs typeface="Montserrat"/>
              </a:defRPr>
            </a:lvl2pPr>
            <a:lvl3pPr>
              <a:defRPr sz="1725" b="1">
                <a:solidFill>
                  <a:srgbClr val="8A705B"/>
                </a:solidFill>
                <a:latin typeface="Montserrat"/>
                <a:ea typeface="Montserrat"/>
                <a:cs typeface="Montserrat"/>
              </a:defRPr>
            </a:lvl3pPr>
            <a:lvl4pPr>
              <a:defRPr sz="1725" b="1">
                <a:solidFill>
                  <a:srgbClr val="8A705B"/>
                </a:solidFill>
                <a:latin typeface="Montserrat"/>
                <a:ea typeface="Montserrat"/>
                <a:cs typeface="Montserrat"/>
              </a:defRPr>
            </a:lvl4pPr>
            <a:lvl5pPr>
              <a:defRPr sz="1725" b="1">
                <a:solidFill>
                  <a:srgbClr val="8A705B"/>
                </a:solidFill>
                <a:latin typeface="Montserrat"/>
                <a:ea typeface="Montserrat"/>
                <a:cs typeface="Montserrat"/>
              </a:defRPr>
            </a:lvl5pPr>
            <a:lvl6pPr>
              <a:defRPr sz="1725" b="1">
                <a:solidFill>
                  <a:srgbClr val="8A705B"/>
                </a:solidFill>
                <a:latin typeface="Montserrat"/>
                <a:ea typeface="Montserrat"/>
                <a:cs typeface="Montserrat"/>
              </a:defRPr>
            </a:lvl6pPr>
            <a:lvl7pPr>
              <a:defRPr sz="1725" b="1">
                <a:solidFill>
                  <a:srgbClr val="8A705B"/>
                </a:solidFill>
                <a:latin typeface="Montserrat"/>
                <a:ea typeface="Montserrat"/>
                <a:cs typeface="Montserrat"/>
              </a:defRPr>
            </a:lvl7pPr>
            <a:lvl8pPr>
              <a:defRPr sz="1725" b="1">
                <a:solidFill>
                  <a:srgbClr val="8A705B"/>
                </a:solidFill>
                <a:latin typeface="Montserrat"/>
                <a:ea typeface="Montserrat"/>
                <a:cs typeface="Montserrat"/>
              </a:defRPr>
            </a:lvl8pPr>
            <a:lvl9pPr>
              <a:defRPr sz="1725" b="1">
                <a:solidFill>
                  <a:srgbClr val="8A705B"/>
                </a:solidFill>
                <a:latin typeface="Montserrat"/>
                <a:ea typeface="Montserrat"/>
                <a:cs typeface="Montserrat"/>
              </a:defRPr>
            </a:lvl9pPr>
          </a:lstStyle>
          <a:p xmlns:a="http://schemas.openxmlformats.org/drawingml/2006/main">
            <a:pPr>
              <a:defRPr sz="1725" b="1">
                <a:solidFill>
                  <a:srgbClr val="8A705B"/>
                </a:solidFill>
                <a:latin typeface="Montserrat"/>
                <a:ea typeface="Montserrat"/>
                <a:cs typeface="Montserrat"/>
              </a:defRPr>
            </a:pPr>
            <a:r>
              <a:rPr sz="1725" b="1">
                <a:solidFill>
                  <a:srgbClr val="8A705B"/>
                </a:solidFill>
                <a:latin typeface="Montserrat"/>
                <a:ea typeface="Montserrat"/>
                <a:cs typeface="Montserrat"/>
              </a:rPr>
              <a:t>07–11</a:t>
            </a:r>
          </a:p>
        </p:txBody>
      </p:sp>
      <p:sp>
        <p:nvSpPr>
          <p:cNvPr id="15" name="">
            <a:extLst xmlns:a="http://schemas.openxmlformats.org/drawingml/2006/main">
              <a:ext uri="{FF2B5EF4-FFF2-40B4-BE49-F238E27FC236}">
                <a16:creationId xmlns:a16="http://schemas.microsoft.com/office/drawing/2014/main" id="{72C866DD-052E-4BAC-BC76-D592CDB8183A}"/>
              </a:ext>
            </a:extLst>
          </p:cNvPr>
          <p:cNvSpPr>
            <a:spLocks xmlns:a="http://schemas.openxmlformats.org/drawingml/2006/main" noGrp="1"/>
          </p:cNvSpPr>
          <p:nvPr/>
        </p:nvSpPr>
        <p:spPr>
          <a:xfrm xmlns:a="http://schemas.openxmlformats.org/drawingml/2006/main">
            <a:off x="619125" y="3857625"/>
            <a:ext cx="609600" cy="5715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DF8BF71-B4BD-4597-BD16-E2EF755BDFB6}"/>
              </a:ext>
            </a:extLst>
          </p:cNvPr>
          <p:cNvSpPr>
            <a:spLocks xmlns:a="http://schemas.openxmlformats.org/drawingml/2006/main" noGrp="1"/>
          </p:cNvSpPr>
          <p:nvPr/>
        </p:nvSpPr>
        <p:spPr>
          <a:xfrm xmlns:a="http://schemas.openxmlformats.org/drawingml/2006/main">
            <a:off x="714375" y="3952875"/>
            <a:ext cx="552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F3EEE6"/>
                </a:solidFill>
                <a:latin typeface="Montserrat"/>
                <a:ea typeface="Montserrat"/>
                <a:cs typeface="Montserrat"/>
              </a:defRPr>
            </a:defPPr>
            <a:lvl1pPr>
              <a:defRPr sz="1794" b="1">
                <a:solidFill>
                  <a:srgbClr val="F3EEE6"/>
                </a:solidFill>
                <a:latin typeface="Montserrat"/>
                <a:ea typeface="Montserrat"/>
                <a:cs typeface="Montserrat"/>
              </a:defRPr>
            </a:lvl1pPr>
            <a:lvl2pPr>
              <a:defRPr sz="1794" b="1">
                <a:solidFill>
                  <a:srgbClr val="F3EEE6"/>
                </a:solidFill>
                <a:latin typeface="Montserrat"/>
                <a:ea typeface="Montserrat"/>
                <a:cs typeface="Montserrat"/>
              </a:defRPr>
            </a:lvl2pPr>
            <a:lvl3pPr>
              <a:defRPr sz="1794" b="1">
                <a:solidFill>
                  <a:srgbClr val="F3EEE6"/>
                </a:solidFill>
                <a:latin typeface="Montserrat"/>
                <a:ea typeface="Montserrat"/>
                <a:cs typeface="Montserrat"/>
              </a:defRPr>
            </a:lvl3pPr>
            <a:lvl4pPr>
              <a:defRPr sz="1794" b="1">
                <a:solidFill>
                  <a:srgbClr val="F3EEE6"/>
                </a:solidFill>
                <a:latin typeface="Montserrat"/>
                <a:ea typeface="Montserrat"/>
                <a:cs typeface="Montserrat"/>
              </a:defRPr>
            </a:lvl4pPr>
            <a:lvl5pPr>
              <a:defRPr sz="1794" b="1">
                <a:solidFill>
                  <a:srgbClr val="F3EEE6"/>
                </a:solidFill>
                <a:latin typeface="Montserrat"/>
                <a:ea typeface="Montserrat"/>
                <a:cs typeface="Montserrat"/>
              </a:defRPr>
            </a:lvl5pPr>
            <a:lvl6pPr>
              <a:defRPr sz="1794" b="1">
                <a:solidFill>
                  <a:srgbClr val="F3EEE6"/>
                </a:solidFill>
                <a:latin typeface="Montserrat"/>
                <a:ea typeface="Montserrat"/>
                <a:cs typeface="Montserrat"/>
              </a:defRPr>
            </a:lvl6pPr>
            <a:lvl7pPr>
              <a:defRPr sz="1794" b="1">
                <a:solidFill>
                  <a:srgbClr val="F3EEE6"/>
                </a:solidFill>
                <a:latin typeface="Montserrat"/>
                <a:ea typeface="Montserrat"/>
                <a:cs typeface="Montserrat"/>
              </a:defRPr>
            </a:lvl7pPr>
            <a:lvl8pPr>
              <a:defRPr sz="1794" b="1">
                <a:solidFill>
                  <a:srgbClr val="F3EEE6"/>
                </a:solidFill>
                <a:latin typeface="Montserrat"/>
                <a:ea typeface="Montserrat"/>
                <a:cs typeface="Montserrat"/>
              </a:defRPr>
            </a:lvl8pPr>
            <a:lvl9pPr>
              <a:defRPr sz="1794" b="1">
                <a:solidFill>
                  <a:srgbClr val="F3EEE6"/>
                </a:solidFill>
                <a:latin typeface="Montserrat"/>
                <a:ea typeface="Montserrat"/>
                <a:cs typeface="Montserrat"/>
              </a:defRPr>
            </a:lvl9pPr>
          </a:lstStyle>
          <a:p xmlns:a="http://schemas.openxmlformats.org/drawingml/2006/main">
            <a:pPr>
              <a:defRPr sz="1794" b="1">
                <a:solidFill>
                  <a:srgbClr val="F3EEE6"/>
                </a:solidFill>
                <a:latin typeface="Montserrat"/>
                <a:ea typeface="Montserrat"/>
                <a:cs typeface="Montserrat"/>
              </a:defRPr>
            </a:pPr>
            <a:r>
              <a:rPr sz="1794" b="1">
                <a:solidFill>
                  <a:srgbClr val="F3EEE6"/>
                </a:solidFill>
                <a:latin typeface="Montserrat"/>
                <a:ea typeface="Montserrat"/>
                <a:cs typeface="Montserrat"/>
              </a:rPr>
              <a:t>03</a:t>
            </a:r>
          </a:p>
        </p:txBody>
      </p:sp>
      <p:sp>
        <p:nvSpPr>
          <p:cNvPr id="17" name="">
            <a:extLst xmlns:a="http://schemas.openxmlformats.org/drawingml/2006/main">
              <a:ext uri="{FF2B5EF4-FFF2-40B4-BE49-F238E27FC236}">
                <a16:creationId xmlns:a16="http://schemas.microsoft.com/office/drawing/2014/main" id="{62738637-7950-4F69-B0B9-C55BC8D96CE3}"/>
              </a:ext>
            </a:extLst>
          </p:cNvPr>
          <p:cNvSpPr>
            <a:spLocks xmlns:a="http://schemas.openxmlformats.org/drawingml/2006/main" noGrp="1"/>
          </p:cNvSpPr>
          <p:nvPr/>
        </p:nvSpPr>
        <p:spPr>
          <a:xfrm xmlns:a="http://schemas.openxmlformats.org/drawingml/2006/main">
            <a:off x="1524000" y="3857625"/>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Ventes et expérience de service</a:t>
            </a:r>
          </a:p>
        </p:txBody>
      </p:sp>
      <p:sp>
        <p:nvSpPr>
          <p:cNvPr id="18" name="">
            <a:extLst xmlns:a="http://schemas.openxmlformats.org/drawingml/2006/main">
              <a:ext uri="{FF2B5EF4-FFF2-40B4-BE49-F238E27FC236}">
                <a16:creationId xmlns:a16="http://schemas.microsoft.com/office/drawing/2014/main" id="{4D3CC8DE-BC33-47B6-B09F-2EC723691A02}"/>
              </a:ext>
            </a:extLst>
          </p:cNvPr>
          <p:cNvSpPr>
            <a:spLocks xmlns:a="http://schemas.openxmlformats.org/drawingml/2006/main" noGrp="1"/>
          </p:cNvSpPr>
          <p:nvPr/>
        </p:nvSpPr>
        <p:spPr>
          <a:xfrm xmlns:a="http://schemas.openxmlformats.org/drawingml/2006/main">
            <a:off x="1524000" y="4276725"/>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Questions métier, résultats 2025 et recommandations</a:t>
            </a:r>
          </a:p>
        </p:txBody>
      </p:sp>
      <p:sp>
        <p:nvSpPr>
          <p:cNvPr id="19" name="">
            <a:extLst xmlns:a="http://schemas.openxmlformats.org/drawingml/2006/main">
              <a:ext uri="{FF2B5EF4-FFF2-40B4-BE49-F238E27FC236}">
                <a16:creationId xmlns:a16="http://schemas.microsoft.com/office/drawing/2014/main" id="{B721DC8B-4C3D-471F-8CA2-0C4044284D1F}"/>
              </a:ext>
            </a:extLst>
          </p:cNvPr>
          <p:cNvSpPr>
            <a:spLocks xmlns:a="http://schemas.openxmlformats.org/drawingml/2006/main" noGrp="1"/>
          </p:cNvSpPr>
          <p:nvPr/>
        </p:nvSpPr>
        <p:spPr>
          <a:xfrm xmlns:a="http://schemas.openxmlformats.org/drawingml/2006/main">
            <a:off x="10287000" y="3952875"/>
            <a:ext cx="123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8A705B"/>
                </a:solidFill>
                <a:latin typeface="Montserrat"/>
                <a:ea typeface="Montserrat"/>
                <a:cs typeface="Montserrat"/>
              </a:defRPr>
            </a:defPPr>
            <a:lvl1pPr>
              <a:defRPr sz="1725" b="1">
                <a:solidFill>
                  <a:srgbClr val="8A705B"/>
                </a:solidFill>
                <a:latin typeface="Montserrat"/>
                <a:ea typeface="Montserrat"/>
                <a:cs typeface="Montserrat"/>
              </a:defRPr>
            </a:lvl1pPr>
            <a:lvl2pPr>
              <a:defRPr sz="1725" b="1">
                <a:solidFill>
                  <a:srgbClr val="8A705B"/>
                </a:solidFill>
                <a:latin typeface="Montserrat"/>
                <a:ea typeface="Montserrat"/>
                <a:cs typeface="Montserrat"/>
              </a:defRPr>
            </a:lvl2pPr>
            <a:lvl3pPr>
              <a:defRPr sz="1725" b="1">
                <a:solidFill>
                  <a:srgbClr val="8A705B"/>
                </a:solidFill>
                <a:latin typeface="Montserrat"/>
                <a:ea typeface="Montserrat"/>
                <a:cs typeface="Montserrat"/>
              </a:defRPr>
            </a:lvl3pPr>
            <a:lvl4pPr>
              <a:defRPr sz="1725" b="1">
                <a:solidFill>
                  <a:srgbClr val="8A705B"/>
                </a:solidFill>
                <a:latin typeface="Montserrat"/>
                <a:ea typeface="Montserrat"/>
                <a:cs typeface="Montserrat"/>
              </a:defRPr>
            </a:lvl4pPr>
            <a:lvl5pPr>
              <a:defRPr sz="1725" b="1">
                <a:solidFill>
                  <a:srgbClr val="8A705B"/>
                </a:solidFill>
                <a:latin typeface="Montserrat"/>
                <a:ea typeface="Montserrat"/>
                <a:cs typeface="Montserrat"/>
              </a:defRPr>
            </a:lvl5pPr>
            <a:lvl6pPr>
              <a:defRPr sz="1725" b="1">
                <a:solidFill>
                  <a:srgbClr val="8A705B"/>
                </a:solidFill>
                <a:latin typeface="Montserrat"/>
                <a:ea typeface="Montserrat"/>
                <a:cs typeface="Montserrat"/>
              </a:defRPr>
            </a:lvl6pPr>
            <a:lvl7pPr>
              <a:defRPr sz="1725" b="1">
                <a:solidFill>
                  <a:srgbClr val="8A705B"/>
                </a:solidFill>
                <a:latin typeface="Montserrat"/>
                <a:ea typeface="Montserrat"/>
                <a:cs typeface="Montserrat"/>
              </a:defRPr>
            </a:lvl7pPr>
            <a:lvl8pPr>
              <a:defRPr sz="1725" b="1">
                <a:solidFill>
                  <a:srgbClr val="8A705B"/>
                </a:solidFill>
                <a:latin typeface="Montserrat"/>
                <a:ea typeface="Montserrat"/>
                <a:cs typeface="Montserrat"/>
              </a:defRPr>
            </a:lvl8pPr>
            <a:lvl9pPr>
              <a:defRPr sz="1725" b="1">
                <a:solidFill>
                  <a:srgbClr val="8A705B"/>
                </a:solidFill>
                <a:latin typeface="Montserrat"/>
                <a:ea typeface="Montserrat"/>
                <a:cs typeface="Montserrat"/>
              </a:defRPr>
            </a:lvl9pPr>
          </a:lstStyle>
          <a:p xmlns:a="http://schemas.openxmlformats.org/drawingml/2006/main">
            <a:pPr>
              <a:defRPr sz="1725" b="1">
                <a:solidFill>
                  <a:srgbClr val="8A705B"/>
                </a:solidFill>
                <a:latin typeface="Montserrat"/>
                <a:ea typeface="Montserrat"/>
                <a:cs typeface="Montserrat"/>
              </a:defRPr>
            </a:pPr>
            <a:r>
              <a:rPr sz="1725" b="1">
                <a:solidFill>
                  <a:srgbClr val="8A705B"/>
                </a:solidFill>
                <a:latin typeface="Montserrat"/>
                <a:ea typeface="Montserrat"/>
                <a:cs typeface="Montserrat"/>
              </a:rPr>
              <a:t>12–19</a:t>
            </a:r>
          </a:p>
        </p:txBody>
      </p:sp>
      <p:sp>
        <p:nvSpPr>
          <p:cNvPr id="20" name="">
            <a:extLst xmlns:a="http://schemas.openxmlformats.org/drawingml/2006/main">
              <a:ext uri="{FF2B5EF4-FFF2-40B4-BE49-F238E27FC236}">
                <a16:creationId xmlns:a16="http://schemas.microsoft.com/office/drawing/2014/main" id="{632F5830-E0CA-48AB-9D8D-7F0CDAA8D5DC}"/>
              </a:ext>
            </a:extLst>
          </p:cNvPr>
          <p:cNvSpPr>
            <a:spLocks xmlns:a="http://schemas.openxmlformats.org/drawingml/2006/main" noGrp="1"/>
          </p:cNvSpPr>
          <p:nvPr/>
        </p:nvSpPr>
        <p:spPr>
          <a:xfrm xmlns:a="http://schemas.openxmlformats.org/drawingml/2006/main">
            <a:off x="619125" y="4857750"/>
            <a:ext cx="609600" cy="5715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A304ECE-F093-4ECC-B5A6-336EB0541B09}"/>
              </a:ext>
            </a:extLst>
          </p:cNvPr>
          <p:cNvSpPr>
            <a:spLocks xmlns:a="http://schemas.openxmlformats.org/drawingml/2006/main" noGrp="1"/>
          </p:cNvSpPr>
          <p:nvPr/>
        </p:nvSpPr>
        <p:spPr>
          <a:xfrm xmlns:a="http://schemas.openxmlformats.org/drawingml/2006/main">
            <a:off x="714375" y="4953000"/>
            <a:ext cx="552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04</a:t>
            </a:r>
          </a:p>
        </p:txBody>
      </p:sp>
      <p:sp>
        <p:nvSpPr>
          <p:cNvPr id="22" name="">
            <a:extLst xmlns:a="http://schemas.openxmlformats.org/drawingml/2006/main">
              <a:ext uri="{FF2B5EF4-FFF2-40B4-BE49-F238E27FC236}">
                <a16:creationId xmlns:a16="http://schemas.microsoft.com/office/drawing/2014/main" id="{56F681CC-9C58-48FC-B077-5AFDC083B526}"/>
              </a:ext>
            </a:extLst>
          </p:cNvPr>
          <p:cNvSpPr>
            <a:spLocks xmlns:a="http://schemas.openxmlformats.org/drawingml/2006/main" noGrp="1"/>
          </p:cNvSpPr>
          <p:nvPr/>
        </p:nvSpPr>
        <p:spPr>
          <a:xfrm xmlns:a="http://schemas.openxmlformats.org/drawingml/2006/main">
            <a:off x="1524000" y="4857750"/>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Contact</a:t>
            </a:r>
          </a:p>
        </p:txBody>
      </p:sp>
      <p:sp>
        <p:nvSpPr>
          <p:cNvPr id="23" name="">
            <a:extLst xmlns:a="http://schemas.openxmlformats.org/drawingml/2006/main">
              <a:ext uri="{FF2B5EF4-FFF2-40B4-BE49-F238E27FC236}">
                <a16:creationId xmlns:a16="http://schemas.microsoft.com/office/drawing/2014/main" id="{97D6AE06-4C9A-41B0-975E-D2B78C6D6C4D}"/>
              </a:ext>
            </a:extLst>
          </p:cNvPr>
          <p:cNvSpPr>
            <a:spLocks xmlns:a="http://schemas.openxmlformats.org/drawingml/2006/main" noGrp="1"/>
          </p:cNvSpPr>
          <p:nvPr/>
        </p:nvSpPr>
        <p:spPr>
          <a:xfrm xmlns:a="http://schemas.openxmlformats.org/drawingml/2006/main">
            <a:off x="1524000" y="527685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Échange autour du projet</a:t>
            </a:r>
          </a:p>
        </p:txBody>
      </p:sp>
      <p:sp>
        <p:nvSpPr>
          <p:cNvPr id="24" name="">
            <a:extLst xmlns:a="http://schemas.openxmlformats.org/drawingml/2006/main">
              <a:ext uri="{FF2B5EF4-FFF2-40B4-BE49-F238E27FC236}">
                <a16:creationId xmlns:a16="http://schemas.microsoft.com/office/drawing/2014/main" id="{740B5016-8EE2-4070-AB13-E255631675B1}"/>
              </a:ext>
            </a:extLst>
          </p:cNvPr>
          <p:cNvSpPr>
            <a:spLocks xmlns:a="http://schemas.openxmlformats.org/drawingml/2006/main" noGrp="1"/>
          </p:cNvSpPr>
          <p:nvPr/>
        </p:nvSpPr>
        <p:spPr>
          <a:xfrm xmlns:a="http://schemas.openxmlformats.org/drawingml/2006/main">
            <a:off x="10287000" y="4953000"/>
            <a:ext cx="123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8A705B"/>
                </a:solidFill>
                <a:latin typeface="Montserrat"/>
                <a:ea typeface="Montserrat"/>
                <a:cs typeface="Montserrat"/>
              </a:defRPr>
            </a:defPPr>
            <a:lvl1pPr>
              <a:defRPr sz="1725" b="1">
                <a:solidFill>
                  <a:srgbClr val="8A705B"/>
                </a:solidFill>
                <a:latin typeface="Montserrat"/>
                <a:ea typeface="Montserrat"/>
                <a:cs typeface="Montserrat"/>
              </a:defRPr>
            </a:lvl1pPr>
            <a:lvl2pPr>
              <a:defRPr sz="1725" b="1">
                <a:solidFill>
                  <a:srgbClr val="8A705B"/>
                </a:solidFill>
                <a:latin typeface="Montserrat"/>
                <a:ea typeface="Montserrat"/>
                <a:cs typeface="Montserrat"/>
              </a:defRPr>
            </a:lvl2pPr>
            <a:lvl3pPr>
              <a:defRPr sz="1725" b="1">
                <a:solidFill>
                  <a:srgbClr val="8A705B"/>
                </a:solidFill>
                <a:latin typeface="Montserrat"/>
                <a:ea typeface="Montserrat"/>
                <a:cs typeface="Montserrat"/>
              </a:defRPr>
            </a:lvl3pPr>
            <a:lvl4pPr>
              <a:defRPr sz="1725" b="1">
                <a:solidFill>
                  <a:srgbClr val="8A705B"/>
                </a:solidFill>
                <a:latin typeface="Montserrat"/>
                <a:ea typeface="Montserrat"/>
                <a:cs typeface="Montserrat"/>
              </a:defRPr>
            </a:lvl4pPr>
            <a:lvl5pPr>
              <a:defRPr sz="1725" b="1">
                <a:solidFill>
                  <a:srgbClr val="8A705B"/>
                </a:solidFill>
                <a:latin typeface="Montserrat"/>
                <a:ea typeface="Montserrat"/>
                <a:cs typeface="Montserrat"/>
              </a:defRPr>
            </a:lvl5pPr>
            <a:lvl6pPr>
              <a:defRPr sz="1725" b="1">
                <a:solidFill>
                  <a:srgbClr val="8A705B"/>
                </a:solidFill>
                <a:latin typeface="Montserrat"/>
                <a:ea typeface="Montserrat"/>
                <a:cs typeface="Montserrat"/>
              </a:defRPr>
            </a:lvl6pPr>
            <a:lvl7pPr>
              <a:defRPr sz="1725" b="1">
                <a:solidFill>
                  <a:srgbClr val="8A705B"/>
                </a:solidFill>
                <a:latin typeface="Montserrat"/>
                <a:ea typeface="Montserrat"/>
                <a:cs typeface="Montserrat"/>
              </a:defRPr>
            </a:lvl7pPr>
            <a:lvl8pPr>
              <a:defRPr sz="1725" b="1">
                <a:solidFill>
                  <a:srgbClr val="8A705B"/>
                </a:solidFill>
                <a:latin typeface="Montserrat"/>
                <a:ea typeface="Montserrat"/>
                <a:cs typeface="Montserrat"/>
              </a:defRPr>
            </a:lvl8pPr>
            <a:lvl9pPr>
              <a:defRPr sz="1725" b="1">
                <a:solidFill>
                  <a:srgbClr val="8A705B"/>
                </a:solidFill>
                <a:latin typeface="Montserrat"/>
                <a:ea typeface="Montserrat"/>
                <a:cs typeface="Montserrat"/>
              </a:defRPr>
            </a:lvl9pPr>
          </a:lstStyle>
          <a:p xmlns:a="http://schemas.openxmlformats.org/drawingml/2006/main">
            <a:pPr>
              <a:defRPr sz="1725" b="1">
                <a:solidFill>
                  <a:srgbClr val="8A705B"/>
                </a:solidFill>
                <a:latin typeface="Montserrat"/>
                <a:ea typeface="Montserrat"/>
                <a:cs typeface="Montserrat"/>
              </a:defRPr>
            </a:pPr>
            <a:r>
              <a:rPr sz="1725" b="1">
                <a:solidFill>
                  <a:srgbClr val="8A705B"/>
                </a:solidFill>
                <a:latin typeface="Montserrat"/>
                <a:ea typeface="Montserrat"/>
                <a:cs typeface="Montserrat"/>
              </a:rPr>
              <a:t>20</a:t>
            </a:r>
          </a:p>
        </p:txBody>
      </p:sp>
    </p:spTree>
    <p:extLst>
      <p:ext uri="{BB962C8B-B14F-4D97-AF65-F5344CB8AC3E}">
        <p14:creationId xmlns:p14="http://schemas.microsoft.com/office/powerpoint/2010/main" val="801454115"/>
      </p:ext>
    </p:extLst>
  </p:cSld>
</p:sld>
</file>

<file path=ppt/slides/slide3.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744ACD21-D0B2-49A9-BA81-B7DD6C734856}"/>
              </a:ext>
            </a:extLst>
          </p:cNvPr>
          <p:cNvPicPr>
            <a:picLocks xmlns:a="http://schemas.openxmlformats.org/drawingml/2006/main" noChangeAspect="1"/>
          </p:cNvPicPr>
          <p:nvPr/>
        </p:nvPicPr>
        <p:blipFill>
          <a:blip xmlns:r="http://schemas.openxmlformats.org/officeDocument/2006/relationships" xmlns:a="http://schemas.openxmlformats.org/drawingml/2006/main" r:embed="R88687a4dc44d480e"/>
          <a:stretch xmlns:a="http://schemas.openxmlformats.org/drawingml/2006/main"/>
        </p:blipFill>
        <p:spPr>
          <a:xfrm xmlns:a="http://schemas.openxmlformats.org/drawingml/2006/main" flipH="1">
            <a:off x="10548938" y="142875"/>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8EFBF0D-B543-43E0-946C-9972298960B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52FF2D-DEE7-4FBE-9C9A-B9EA38D14DBD}"/>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389E6A-68CC-4040-B126-2C42E12CA50A}"/>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Contexte, enjeux et objectifs</a:t>
            </a:r>
          </a:p>
        </p:txBody>
      </p:sp>
      <p:sp>
        <p:nvSpPr>
          <p:cNvPr id="5" name="">
            <a:extLst xmlns:a="http://schemas.openxmlformats.org/drawingml/2006/main">
              <a:ext uri="{FF2B5EF4-FFF2-40B4-BE49-F238E27FC236}">
                <a16:creationId xmlns:a16="http://schemas.microsoft.com/office/drawing/2014/main" id="{8A4B7D80-3868-4DA2-B069-6884CE963DC5}"/>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03</a:t>
            </a:r>
          </a:p>
        </p:txBody>
      </p:sp>
      <p:sp>
        <p:nvSpPr>
          <p:cNvPr id="6" name="">
            <a:extLst xmlns:a="http://schemas.openxmlformats.org/drawingml/2006/main">
              <a:ext uri="{FF2B5EF4-FFF2-40B4-BE49-F238E27FC236}">
                <a16:creationId xmlns:a16="http://schemas.microsoft.com/office/drawing/2014/main" id="{70CB4F57-AFD2-483D-BA57-DA248E048838}"/>
              </a:ext>
            </a:extLst>
          </p:cNvPr>
          <p:cNvSpPr>
            <a:spLocks xmlns:a="http://schemas.openxmlformats.org/drawingml/2006/main" noGrp="1"/>
          </p:cNvSpPr>
          <p:nvPr/>
        </p:nvSpPr>
        <p:spPr>
          <a:xfrm xmlns:a="http://schemas.openxmlformats.org/drawingml/2006/main">
            <a:off x="619125" y="1762125"/>
            <a:ext cx="5238750" cy="4000500"/>
          </a:xfrm>
          <a:prstGeom xmlns:a="http://schemas.openxmlformats.org/drawingml/2006/main" prst="roundRect">
            <a:avLst>
              <a:gd name="adj" fmla="val 1905"/>
            </a:avLst>
          </a:prstGeom>
          <a:solidFill xmlns:a="http://schemas.openxmlformats.org/drawingml/2006/main">
            <a:srgbClr val="E6DACE"/>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790D36B1-A543-4101-B5E2-651F665D26EE}"/>
              </a:ext>
            </a:extLst>
          </p:cNvPr>
          <p:cNvSpPr>
            <a:spLocks xmlns:a="http://schemas.openxmlformats.org/drawingml/2006/main" noGrp="1"/>
          </p:cNvSpPr>
          <p:nvPr/>
        </p:nvSpPr>
        <p:spPr>
          <a:xfrm xmlns:a="http://schemas.openxmlformats.org/drawingml/2006/main">
            <a:off x="6143625" y="1762125"/>
            <a:ext cx="5429250" cy="4000500"/>
          </a:xfrm>
          <a:prstGeom xmlns:a="http://schemas.openxmlformats.org/drawingml/2006/main" prst="roundRect">
            <a:avLst>
              <a:gd name="adj" fmla="val 1905"/>
            </a:avLst>
          </a:prstGeom>
          <a:solidFill xmlns:a="http://schemas.openxmlformats.org/drawingml/2006/main">
            <a:srgbClr val="DDD8D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FF7BC83-E180-43A8-B1E2-AFD610514F1E}"/>
              </a:ext>
            </a:extLst>
          </p:cNvPr>
          <p:cNvSpPr>
            <a:spLocks xmlns:a="http://schemas.openxmlformats.org/drawingml/2006/main" noGrp="1"/>
          </p:cNvSpPr>
          <p:nvPr/>
        </p:nvSpPr>
        <p:spPr>
          <a:xfrm xmlns:a="http://schemas.openxmlformats.org/drawingml/2006/main">
            <a:off x="857250" y="20478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CONTEXTE &amp; ENJEUX MÉTIER</a:t>
            </a:r>
          </a:p>
        </p:txBody>
      </p:sp>
      <p:sp>
        <p:nvSpPr>
          <p:cNvPr id="9" name="">
            <a:extLst xmlns:a="http://schemas.openxmlformats.org/drawingml/2006/main">
              <a:ext uri="{FF2B5EF4-FFF2-40B4-BE49-F238E27FC236}">
                <a16:creationId xmlns:a16="http://schemas.microsoft.com/office/drawing/2014/main" id="{D6FA1226-67B9-40D3-ACC2-6AADC25643CF}"/>
              </a:ext>
            </a:extLst>
          </p:cNvPr>
          <p:cNvSpPr>
            <a:spLocks xmlns:a="http://schemas.openxmlformats.org/drawingml/2006/main" noGrp="1"/>
          </p:cNvSpPr>
          <p:nvPr/>
        </p:nvSpPr>
        <p:spPr>
          <a:xfrm xmlns:a="http://schemas.openxmlformats.org/drawingml/2006/main">
            <a:off x="857250" y="266700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92" b="1">
                <a:solidFill>
                  <a:srgbClr val="242321"/>
                </a:solidFill>
                <a:latin typeface="Cormorant Garamond"/>
                <a:ea typeface="Cormorant Garamond"/>
                <a:cs typeface="Cormorant Garamond"/>
              </a:defRPr>
            </a:defPPr>
            <a:lvl1pPr>
              <a:defRPr sz="2992" b="1">
                <a:solidFill>
                  <a:srgbClr val="242321"/>
                </a:solidFill>
                <a:latin typeface="Cormorant Garamond"/>
                <a:ea typeface="Cormorant Garamond"/>
                <a:cs typeface="Cormorant Garamond"/>
              </a:defRPr>
            </a:lvl1pPr>
            <a:lvl2pPr>
              <a:defRPr sz="2992" b="1">
                <a:solidFill>
                  <a:srgbClr val="242321"/>
                </a:solidFill>
                <a:latin typeface="Cormorant Garamond"/>
                <a:ea typeface="Cormorant Garamond"/>
                <a:cs typeface="Cormorant Garamond"/>
              </a:defRPr>
            </a:lvl2pPr>
            <a:lvl3pPr>
              <a:defRPr sz="2992" b="1">
                <a:solidFill>
                  <a:srgbClr val="242321"/>
                </a:solidFill>
                <a:latin typeface="Cormorant Garamond"/>
                <a:ea typeface="Cormorant Garamond"/>
                <a:cs typeface="Cormorant Garamond"/>
              </a:defRPr>
            </a:lvl3pPr>
            <a:lvl4pPr>
              <a:defRPr sz="2992" b="1">
                <a:solidFill>
                  <a:srgbClr val="242321"/>
                </a:solidFill>
                <a:latin typeface="Cormorant Garamond"/>
                <a:ea typeface="Cormorant Garamond"/>
                <a:cs typeface="Cormorant Garamond"/>
              </a:defRPr>
            </a:lvl4pPr>
            <a:lvl5pPr>
              <a:defRPr sz="2992" b="1">
                <a:solidFill>
                  <a:srgbClr val="242321"/>
                </a:solidFill>
                <a:latin typeface="Cormorant Garamond"/>
                <a:ea typeface="Cormorant Garamond"/>
                <a:cs typeface="Cormorant Garamond"/>
              </a:defRPr>
            </a:lvl5pPr>
            <a:lvl6pPr>
              <a:defRPr sz="2992" b="1">
                <a:solidFill>
                  <a:srgbClr val="242321"/>
                </a:solidFill>
                <a:latin typeface="Cormorant Garamond"/>
                <a:ea typeface="Cormorant Garamond"/>
                <a:cs typeface="Cormorant Garamond"/>
              </a:defRPr>
            </a:lvl6pPr>
            <a:lvl7pPr>
              <a:defRPr sz="2992" b="1">
                <a:solidFill>
                  <a:srgbClr val="242321"/>
                </a:solidFill>
                <a:latin typeface="Cormorant Garamond"/>
                <a:ea typeface="Cormorant Garamond"/>
                <a:cs typeface="Cormorant Garamond"/>
              </a:defRPr>
            </a:lvl7pPr>
            <a:lvl8pPr>
              <a:defRPr sz="2992" b="1">
                <a:solidFill>
                  <a:srgbClr val="242321"/>
                </a:solidFill>
                <a:latin typeface="Cormorant Garamond"/>
                <a:ea typeface="Cormorant Garamond"/>
                <a:cs typeface="Cormorant Garamond"/>
              </a:defRPr>
            </a:lvl8pPr>
            <a:lvl9pPr>
              <a:defRPr sz="2992" b="1">
                <a:solidFill>
                  <a:srgbClr val="242321"/>
                </a:solidFill>
                <a:latin typeface="Cormorant Garamond"/>
                <a:ea typeface="Cormorant Garamond"/>
                <a:cs typeface="Cormorant Garamond"/>
              </a:defRPr>
            </a:lvl9pPr>
          </a:lstStyle>
          <a:p xmlns:a="http://schemas.openxmlformats.org/drawingml/2006/main">
            <a:pPr>
              <a:defRPr sz="2992" b="1">
                <a:solidFill>
                  <a:srgbClr val="242321"/>
                </a:solidFill>
                <a:latin typeface="Cormorant Garamond"/>
                <a:ea typeface="Cormorant Garamond"/>
                <a:cs typeface="Cormorant Garamond"/>
              </a:defRPr>
            </a:pPr>
            <a:r>
              <a:rPr sz="2992" b="1">
                <a:solidFill>
                  <a:srgbClr val="242321"/>
                </a:solidFill>
                <a:latin typeface="Cormorant Garamond"/>
                <a:ea typeface="Cormorant Garamond"/>
                <a:cs typeface="Cormorant Garamond"/>
              </a:rPr>
              <a:t>Beauté Cachée</a:t>
            </a:r>
          </a:p>
        </p:txBody>
      </p:sp>
      <p:sp>
        <p:nvSpPr>
          <p:cNvPr id="10" name="">
            <a:extLst xmlns:a="http://schemas.openxmlformats.org/drawingml/2006/main">
              <a:ext uri="{FF2B5EF4-FFF2-40B4-BE49-F238E27FC236}">
                <a16:creationId xmlns:a16="http://schemas.microsoft.com/office/drawing/2014/main" id="{4C13345E-E156-4D17-B41C-775181094D8C}"/>
              </a:ext>
            </a:extLst>
          </p:cNvPr>
          <p:cNvSpPr>
            <a:spLocks xmlns:a="http://schemas.openxmlformats.org/drawingml/2006/main" noGrp="1"/>
          </p:cNvSpPr>
          <p:nvPr/>
        </p:nvSpPr>
        <p:spPr>
          <a:xfrm xmlns:a="http://schemas.openxmlformats.org/drawingml/2006/main">
            <a:off x="857250" y="31908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0">
                <a:solidFill>
                  <a:srgbClr val="242321"/>
                </a:solidFill>
                <a:latin typeface="Montserrat"/>
                <a:ea typeface="Montserrat"/>
                <a:cs typeface="Montserrat"/>
              </a:defRPr>
            </a:defPPr>
            <a:lvl1pPr>
              <a:defRPr sz="1863" b="0">
                <a:solidFill>
                  <a:srgbClr val="242321"/>
                </a:solidFill>
                <a:latin typeface="Montserrat"/>
                <a:ea typeface="Montserrat"/>
                <a:cs typeface="Montserrat"/>
              </a:defRPr>
            </a:lvl1pPr>
            <a:lvl2pPr>
              <a:defRPr sz="1863" b="0">
                <a:solidFill>
                  <a:srgbClr val="242321"/>
                </a:solidFill>
                <a:latin typeface="Montserrat"/>
                <a:ea typeface="Montserrat"/>
                <a:cs typeface="Montserrat"/>
              </a:defRPr>
            </a:lvl2pPr>
            <a:lvl3pPr>
              <a:defRPr sz="1863" b="0">
                <a:solidFill>
                  <a:srgbClr val="242321"/>
                </a:solidFill>
                <a:latin typeface="Montserrat"/>
                <a:ea typeface="Montserrat"/>
                <a:cs typeface="Montserrat"/>
              </a:defRPr>
            </a:lvl3pPr>
            <a:lvl4pPr>
              <a:defRPr sz="1863" b="0">
                <a:solidFill>
                  <a:srgbClr val="242321"/>
                </a:solidFill>
                <a:latin typeface="Montserrat"/>
                <a:ea typeface="Montserrat"/>
                <a:cs typeface="Montserrat"/>
              </a:defRPr>
            </a:lvl4pPr>
            <a:lvl5pPr>
              <a:defRPr sz="1863" b="0">
                <a:solidFill>
                  <a:srgbClr val="242321"/>
                </a:solidFill>
                <a:latin typeface="Montserrat"/>
                <a:ea typeface="Montserrat"/>
                <a:cs typeface="Montserrat"/>
              </a:defRPr>
            </a:lvl5pPr>
            <a:lvl6pPr>
              <a:defRPr sz="1863" b="0">
                <a:solidFill>
                  <a:srgbClr val="242321"/>
                </a:solidFill>
                <a:latin typeface="Montserrat"/>
                <a:ea typeface="Montserrat"/>
                <a:cs typeface="Montserrat"/>
              </a:defRPr>
            </a:lvl6pPr>
            <a:lvl7pPr>
              <a:defRPr sz="1863" b="0">
                <a:solidFill>
                  <a:srgbClr val="242321"/>
                </a:solidFill>
                <a:latin typeface="Montserrat"/>
                <a:ea typeface="Montserrat"/>
                <a:cs typeface="Montserrat"/>
              </a:defRPr>
            </a:lvl7pPr>
            <a:lvl8pPr>
              <a:defRPr sz="1863" b="0">
                <a:solidFill>
                  <a:srgbClr val="242321"/>
                </a:solidFill>
                <a:latin typeface="Montserrat"/>
                <a:ea typeface="Montserrat"/>
                <a:cs typeface="Montserrat"/>
              </a:defRPr>
            </a:lvl8pPr>
            <a:lvl9pPr>
              <a:defRPr sz="1863" b="0">
                <a:solidFill>
                  <a:srgbClr val="242321"/>
                </a:solidFill>
                <a:latin typeface="Montserrat"/>
                <a:ea typeface="Montserrat"/>
                <a:cs typeface="Montserrat"/>
              </a:defRPr>
            </a:lvl9pPr>
          </a:lstStyle>
          <a:p xmlns:a="http://schemas.openxmlformats.org/drawingml/2006/main">
            <a:pPr>
              <a:defRPr sz="1863" b="0">
                <a:solidFill>
                  <a:srgbClr val="242321"/>
                </a:solidFill>
                <a:latin typeface="Montserrat"/>
                <a:ea typeface="Montserrat"/>
                <a:cs typeface="Montserrat"/>
              </a:defRPr>
            </a:pPr>
            <a:r>
              <a:rPr sz="1863" b="0">
                <a:solidFill>
                  <a:srgbClr val="242321"/>
                </a:solidFill>
                <a:latin typeface="Montserrat"/>
                <a:ea typeface="Montserrat"/>
                <a:cs typeface="Montserrat"/>
              </a:rPr>
              <a:t>Une marque fictive de lingerie premium,</a:t>
            </a:r>
          </a:p>
          <a:p xmlns:a="http://schemas.openxmlformats.org/drawingml/2006/main">
            <a:pPr>
              <a:defRPr sz="1863" b="0">
                <a:solidFill>
                  <a:srgbClr val="242321"/>
                </a:solidFill>
                <a:latin typeface="Montserrat"/>
                <a:ea typeface="Montserrat"/>
                <a:cs typeface="Montserrat"/>
              </a:defRPr>
            </a:pPr>
            <a:r>
              <a:rPr sz="1863" b="0">
                <a:solidFill>
                  <a:srgbClr val="242321"/>
                </a:solidFill>
                <a:latin typeface="Montserrat"/>
                <a:ea typeface="Montserrat"/>
                <a:cs typeface="Montserrat"/>
              </a:rPr>
              <a:t>présente en ligne et en boutique.</a:t>
            </a:r>
          </a:p>
        </p:txBody>
      </p:sp>
      <p:sp>
        <p:nvSpPr>
          <p:cNvPr id="11" name="">
            <a:extLst xmlns:a="http://schemas.openxmlformats.org/drawingml/2006/main">
              <a:ext uri="{FF2B5EF4-FFF2-40B4-BE49-F238E27FC236}">
                <a16:creationId xmlns:a16="http://schemas.microsoft.com/office/drawing/2014/main" id="{5BD6C96E-F878-4129-8D46-B578AB546964}"/>
              </a:ext>
            </a:extLst>
          </p:cNvPr>
          <p:cNvSpPr>
            <a:spLocks xmlns:a="http://schemas.openxmlformats.org/drawingml/2006/main" noGrp="1"/>
          </p:cNvSpPr>
          <p:nvPr/>
        </p:nvSpPr>
        <p:spPr>
          <a:xfrm xmlns:a="http://schemas.openxmlformats.org/drawingml/2006/main">
            <a:off x="857250" y="4524375"/>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Comprendre les attentes produit.</a:t>
            </a:r>
          </a:p>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Piloter les ventes et la qualité du service.</a:t>
            </a:r>
          </a:p>
        </p:txBody>
      </p:sp>
      <p:sp>
        <p:nvSpPr>
          <p:cNvPr id="12" name="">
            <a:extLst xmlns:a="http://schemas.openxmlformats.org/drawingml/2006/main">
              <a:ext uri="{FF2B5EF4-FFF2-40B4-BE49-F238E27FC236}">
                <a16:creationId xmlns:a16="http://schemas.microsoft.com/office/drawing/2014/main" id="{3490B467-9D87-4192-83A2-0D13520D5605}"/>
              </a:ext>
            </a:extLst>
          </p:cNvPr>
          <p:cNvSpPr>
            <a:spLocks xmlns:a="http://schemas.openxmlformats.org/drawingml/2006/main" noGrp="1"/>
          </p:cNvSpPr>
          <p:nvPr/>
        </p:nvSpPr>
        <p:spPr>
          <a:xfrm xmlns:a="http://schemas.openxmlformats.org/drawingml/2006/main">
            <a:off x="6381750" y="2047875"/>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PROBLÉMATIQUE</a:t>
            </a:r>
          </a:p>
        </p:txBody>
      </p:sp>
      <p:sp>
        <p:nvSpPr>
          <p:cNvPr id="13" name="">
            <a:extLst xmlns:a="http://schemas.openxmlformats.org/drawingml/2006/main">
              <a:ext uri="{FF2B5EF4-FFF2-40B4-BE49-F238E27FC236}">
                <a16:creationId xmlns:a16="http://schemas.microsoft.com/office/drawing/2014/main" id="{12282165-4381-4363-AE00-9CC1AFD2CEA0}"/>
              </a:ext>
            </a:extLst>
          </p:cNvPr>
          <p:cNvSpPr>
            <a:spLocks xmlns:a="http://schemas.openxmlformats.org/drawingml/2006/main" noGrp="1"/>
          </p:cNvSpPr>
          <p:nvPr/>
        </p:nvSpPr>
        <p:spPr>
          <a:xfrm xmlns:a="http://schemas.openxmlformats.org/drawingml/2006/main">
            <a:off x="6381750" y="2619375"/>
            <a:ext cx="4857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0">
                <a:solidFill>
                  <a:srgbClr val="242321"/>
                </a:solidFill>
                <a:latin typeface="Montserrat"/>
                <a:ea typeface="Montserrat"/>
                <a:cs typeface="Montserrat"/>
              </a:defRPr>
            </a:defPPr>
            <a:lvl1pPr>
              <a:defRPr sz="2001" b="0">
                <a:solidFill>
                  <a:srgbClr val="242321"/>
                </a:solidFill>
                <a:latin typeface="Montserrat"/>
                <a:ea typeface="Montserrat"/>
                <a:cs typeface="Montserrat"/>
              </a:defRPr>
            </a:lvl1pPr>
            <a:lvl2pPr>
              <a:defRPr sz="2001" b="0">
                <a:solidFill>
                  <a:srgbClr val="242321"/>
                </a:solidFill>
                <a:latin typeface="Montserrat"/>
                <a:ea typeface="Montserrat"/>
                <a:cs typeface="Montserrat"/>
              </a:defRPr>
            </a:lvl2pPr>
            <a:lvl3pPr>
              <a:defRPr sz="2001" b="0">
                <a:solidFill>
                  <a:srgbClr val="242321"/>
                </a:solidFill>
                <a:latin typeface="Montserrat"/>
                <a:ea typeface="Montserrat"/>
                <a:cs typeface="Montserrat"/>
              </a:defRPr>
            </a:lvl3pPr>
            <a:lvl4pPr>
              <a:defRPr sz="2001" b="0">
                <a:solidFill>
                  <a:srgbClr val="242321"/>
                </a:solidFill>
                <a:latin typeface="Montserrat"/>
                <a:ea typeface="Montserrat"/>
                <a:cs typeface="Montserrat"/>
              </a:defRPr>
            </a:lvl4pPr>
            <a:lvl5pPr>
              <a:defRPr sz="2001" b="0">
                <a:solidFill>
                  <a:srgbClr val="242321"/>
                </a:solidFill>
                <a:latin typeface="Montserrat"/>
                <a:ea typeface="Montserrat"/>
                <a:cs typeface="Montserrat"/>
              </a:defRPr>
            </a:lvl5pPr>
            <a:lvl6pPr>
              <a:defRPr sz="2001" b="0">
                <a:solidFill>
                  <a:srgbClr val="242321"/>
                </a:solidFill>
                <a:latin typeface="Montserrat"/>
                <a:ea typeface="Montserrat"/>
                <a:cs typeface="Montserrat"/>
              </a:defRPr>
            </a:lvl6pPr>
            <a:lvl7pPr>
              <a:defRPr sz="2001" b="0">
                <a:solidFill>
                  <a:srgbClr val="242321"/>
                </a:solidFill>
                <a:latin typeface="Montserrat"/>
                <a:ea typeface="Montserrat"/>
                <a:cs typeface="Montserrat"/>
              </a:defRPr>
            </a:lvl7pPr>
            <a:lvl8pPr>
              <a:defRPr sz="2001" b="0">
                <a:solidFill>
                  <a:srgbClr val="242321"/>
                </a:solidFill>
                <a:latin typeface="Montserrat"/>
                <a:ea typeface="Montserrat"/>
                <a:cs typeface="Montserrat"/>
              </a:defRPr>
            </a:lvl8pPr>
            <a:lvl9pPr>
              <a:defRPr sz="2001" b="0">
                <a:solidFill>
                  <a:srgbClr val="242321"/>
                </a:solidFill>
                <a:latin typeface="Montserrat"/>
                <a:ea typeface="Montserrat"/>
                <a:cs typeface="Montserrat"/>
              </a:defRPr>
            </a:lvl9pPr>
          </a:lstStyle>
          <a:p xmlns:a="http://schemas.openxmlformats.org/drawingml/2006/main">
            <a:pPr>
              <a:defRPr sz="2001" b="0">
                <a:solidFill>
                  <a:srgbClr val="242321"/>
                </a:solidFill>
                <a:latin typeface="Montserrat"/>
                <a:ea typeface="Montserrat"/>
                <a:cs typeface="Montserrat"/>
              </a:defRPr>
            </a:pPr>
            <a:r>
              <a:rPr sz="2001" b="0">
                <a:solidFill>
                  <a:srgbClr val="242321"/>
                </a:solidFill>
                <a:latin typeface="Montserrat"/>
                <a:ea typeface="Montserrat"/>
                <a:cs typeface="Montserrat"/>
              </a:rPr>
              <a:t>Comment orienter les décisions</a:t>
            </a:r>
          </a:p>
          <a:p xmlns:a="http://schemas.openxmlformats.org/drawingml/2006/main">
            <a:pPr>
              <a:defRPr sz="2001" b="0">
                <a:solidFill>
                  <a:srgbClr val="242321"/>
                </a:solidFill>
                <a:latin typeface="Montserrat"/>
                <a:ea typeface="Montserrat"/>
                <a:cs typeface="Montserrat"/>
              </a:defRPr>
            </a:pPr>
            <a:r>
              <a:rPr sz="2001" b="0">
                <a:solidFill>
                  <a:srgbClr val="242321"/>
                </a:solidFill>
                <a:latin typeface="Montserrat"/>
                <a:ea typeface="Montserrat"/>
                <a:cs typeface="Montserrat"/>
              </a:rPr>
              <a:t>commerciales et améliorer</a:t>
            </a:r>
          </a:p>
          <a:p xmlns:a="http://schemas.openxmlformats.org/drawingml/2006/main">
            <a:pPr>
              <a:defRPr sz="2001" b="0">
                <a:solidFill>
                  <a:srgbClr val="242321"/>
                </a:solidFill>
                <a:latin typeface="Montserrat"/>
                <a:ea typeface="Montserrat"/>
                <a:cs typeface="Montserrat"/>
              </a:defRPr>
            </a:pPr>
            <a:r>
              <a:rPr sz="2001" b="0">
                <a:solidFill>
                  <a:srgbClr val="242321"/>
                </a:solidFill>
                <a:latin typeface="Montserrat"/>
                <a:ea typeface="Montserrat"/>
                <a:cs typeface="Montserrat"/>
              </a:rPr>
              <a:t>l’expérience client ?</a:t>
            </a:r>
          </a:p>
        </p:txBody>
      </p:sp>
      <p:sp>
        <p:nvSpPr>
          <p:cNvPr id="14" name="">
            <a:extLst xmlns:a="http://schemas.openxmlformats.org/drawingml/2006/main">
              <a:ext uri="{FF2B5EF4-FFF2-40B4-BE49-F238E27FC236}">
                <a16:creationId xmlns:a16="http://schemas.microsoft.com/office/drawing/2014/main" id="{4DD74D6B-8A79-4D6E-ACC3-CA3318AF9E95}"/>
              </a:ext>
            </a:extLst>
          </p:cNvPr>
          <p:cNvSpPr>
            <a:spLocks xmlns:a="http://schemas.openxmlformats.org/drawingml/2006/main" noGrp="1"/>
          </p:cNvSpPr>
          <p:nvPr/>
        </p:nvSpPr>
        <p:spPr>
          <a:xfrm xmlns:a="http://schemas.openxmlformats.org/drawingml/2006/main">
            <a:off x="6381750" y="419100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OBJECTIFS</a:t>
            </a:r>
          </a:p>
        </p:txBody>
      </p:sp>
      <p:sp>
        <p:nvSpPr>
          <p:cNvPr id="15" name="">
            <a:extLst xmlns:a="http://schemas.openxmlformats.org/drawingml/2006/main">
              <a:ext uri="{FF2B5EF4-FFF2-40B4-BE49-F238E27FC236}">
                <a16:creationId xmlns:a16="http://schemas.microsoft.com/office/drawing/2014/main" id="{CECD8770-B715-4BE3-B826-32317846E3BC}"/>
              </a:ext>
            </a:extLst>
          </p:cNvPr>
          <p:cNvSpPr>
            <a:spLocks xmlns:a="http://schemas.openxmlformats.org/drawingml/2006/main" noGrp="1"/>
          </p:cNvSpPr>
          <p:nvPr/>
        </p:nvSpPr>
        <p:spPr>
          <a:xfrm xmlns:a="http://schemas.openxmlformats.org/drawingml/2006/main">
            <a:off x="6381750" y="4714875"/>
            <a:ext cx="4857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242321"/>
                </a:solidFill>
                <a:latin typeface="Montserrat"/>
                <a:ea typeface="Montserrat"/>
                <a:cs typeface="Montserrat"/>
              </a:defRPr>
            </a:defPPr>
            <a:lvl1pPr>
              <a:defRPr sz="1725" b="0">
                <a:solidFill>
                  <a:srgbClr val="242321"/>
                </a:solidFill>
                <a:latin typeface="Montserrat"/>
                <a:ea typeface="Montserrat"/>
                <a:cs typeface="Montserrat"/>
              </a:defRPr>
            </a:lvl1pPr>
            <a:lvl2pPr>
              <a:defRPr sz="1725" b="0">
                <a:solidFill>
                  <a:srgbClr val="242321"/>
                </a:solidFill>
                <a:latin typeface="Montserrat"/>
                <a:ea typeface="Montserrat"/>
                <a:cs typeface="Montserrat"/>
              </a:defRPr>
            </a:lvl2pPr>
            <a:lvl3pPr>
              <a:defRPr sz="1725" b="0">
                <a:solidFill>
                  <a:srgbClr val="242321"/>
                </a:solidFill>
                <a:latin typeface="Montserrat"/>
                <a:ea typeface="Montserrat"/>
                <a:cs typeface="Montserrat"/>
              </a:defRPr>
            </a:lvl3pPr>
            <a:lvl4pPr>
              <a:defRPr sz="1725" b="0">
                <a:solidFill>
                  <a:srgbClr val="242321"/>
                </a:solidFill>
                <a:latin typeface="Montserrat"/>
                <a:ea typeface="Montserrat"/>
                <a:cs typeface="Montserrat"/>
              </a:defRPr>
            </a:lvl4pPr>
            <a:lvl5pPr>
              <a:defRPr sz="1725" b="0">
                <a:solidFill>
                  <a:srgbClr val="242321"/>
                </a:solidFill>
                <a:latin typeface="Montserrat"/>
                <a:ea typeface="Montserrat"/>
                <a:cs typeface="Montserrat"/>
              </a:defRPr>
            </a:lvl5pPr>
            <a:lvl6pPr>
              <a:defRPr sz="1725" b="0">
                <a:solidFill>
                  <a:srgbClr val="242321"/>
                </a:solidFill>
                <a:latin typeface="Montserrat"/>
                <a:ea typeface="Montserrat"/>
                <a:cs typeface="Montserrat"/>
              </a:defRPr>
            </a:lvl6pPr>
            <a:lvl7pPr>
              <a:defRPr sz="1725" b="0">
                <a:solidFill>
                  <a:srgbClr val="242321"/>
                </a:solidFill>
                <a:latin typeface="Montserrat"/>
                <a:ea typeface="Montserrat"/>
                <a:cs typeface="Montserrat"/>
              </a:defRPr>
            </a:lvl7pPr>
            <a:lvl8pPr>
              <a:defRPr sz="1725" b="0">
                <a:solidFill>
                  <a:srgbClr val="242321"/>
                </a:solidFill>
                <a:latin typeface="Montserrat"/>
                <a:ea typeface="Montserrat"/>
                <a:cs typeface="Montserrat"/>
              </a:defRPr>
            </a:lvl8pPr>
            <a:lvl9pPr>
              <a:defRPr sz="1725" b="0">
                <a:solidFill>
                  <a:srgbClr val="242321"/>
                </a:solidFill>
                <a:latin typeface="Montserrat"/>
                <a:ea typeface="Montserrat"/>
                <a:cs typeface="Montserrat"/>
              </a:defRPr>
            </a:lvl9pPr>
          </a:lstStyle>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Évaluer les résultats et les difficultés.</a:t>
            </a:r>
          </a:p>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Prioriser des actions fondées</a:t>
            </a:r>
          </a:p>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sur les observations.</a:t>
            </a:r>
          </a:p>
        </p:txBody>
      </p:sp>
    </p:spTree>
    <p:extLst>
      <p:ext uri="{BB962C8B-B14F-4D97-AF65-F5344CB8AC3E}">
        <p14:creationId xmlns:p14="http://schemas.microsoft.com/office/powerpoint/2010/main" val="1444650738"/>
      </p:ext>
    </p:extLst>
  </p:cSld>
</p:sld>
</file>

<file path=ppt/slides/slide4.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CBE627B1-7F7F-45BE-8491-EBBC9FE4CC05}"/>
              </a:ext>
            </a:extLst>
          </p:cNvPr>
          <p:cNvPicPr>
            <a:picLocks xmlns:a="http://schemas.openxmlformats.org/drawingml/2006/main" noChangeAspect="1"/>
          </p:cNvPicPr>
          <p:nvPr/>
        </p:nvPicPr>
        <p:blipFill>
          <a:blip xmlns:r="http://schemas.openxmlformats.org/officeDocument/2006/relationships" xmlns:a="http://schemas.openxmlformats.org/drawingml/2006/main" r:embed="Rfd6b354c102641d7"/>
          <a:stretch xmlns:a="http://schemas.openxmlformats.org/drawingml/2006/main"/>
        </p:blipFill>
        <p:spPr>
          <a:xfrm xmlns:a="http://schemas.openxmlformats.org/drawingml/2006/main" flipH="1">
            <a:off x="10548938" y="142875"/>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B2AC88-803B-47F7-8278-604B82D0505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8A9D2D-ADC9-464F-9CA3-DEA81BAD214C}"/>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43F3CE-59B2-46A6-9405-61BE2979ECA7}"/>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Deux sources, deux périmètres</a:t>
            </a:r>
          </a:p>
        </p:txBody>
      </p:sp>
      <p:sp>
        <p:nvSpPr>
          <p:cNvPr id="5" name="">
            <a:extLst xmlns:a="http://schemas.openxmlformats.org/drawingml/2006/main">
              <a:ext uri="{FF2B5EF4-FFF2-40B4-BE49-F238E27FC236}">
                <a16:creationId xmlns:a16="http://schemas.microsoft.com/office/drawing/2014/main" id="{8510DF23-BD9B-4DC8-AC59-8AFB275A6DF5}"/>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04</a:t>
            </a:r>
          </a:p>
        </p:txBody>
      </p:sp>
      <p:sp>
        <p:nvSpPr>
          <p:cNvPr id="6" name="">
            <a:extLst xmlns:a="http://schemas.openxmlformats.org/drawingml/2006/main">
              <a:ext uri="{FF2B5EF4-FFF2-40B4-BE49-F238E27FC236}">
                <a16:creationId xmlns:a16="http://schemas.microsoft.com/office/drawing/2014/main" id="{BAC06BBD-A087-4113-8A00-7181F1689821}"/>
              </a:ext>
            </a:extLst>
          </p:cNvPr>
          <p:cNvSpPr>
            <a:spLocks xmlns:a="http://schemas.openxmlformats.org/drawingml/2006/main" noGrp="1"/>
          </p:cNvSpPr>
          <p:nvPr/>
        </p:nvSpPr>
        <p:spPr>
          <a:xfrm xmlns:a="http://schemas.openxmlformats.org/drawingml/2006/main">
            <a:off x="619125" y="1857375"/>
            <a:ext cx="5238750" cy="3190875"/>
          </a:xfrm>
          <a:prstGeom xmlns:a="http://schemas.openxmlformats.org/drawingml/2006/main" prst="roundRect">
            <a:avLst>
              <a:gd name="adj" fmla="val 2388"/>
            </a:avLst>
          </a:prstGeom>
          <a:solidFill xmlns:a="http://schemas.openxmlformats.org/drawingml/2006/main">
            <a:srgbClr val="E6DACE"/>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290A6B9-BEBE-41D1-9435-087E5218FBD8}"/>
              </a:ext>
            </a:extLst>
          </p:cNvPr>
          <p:cNvSpPr>
            <a:spLocks xmlns:a="http://schemas.openxmlformats.org/drawingml/2006/main" noGrp="1"/>
          </p:cNvSpPr>
          <p:nvPr/>
        </p:nvSpPr>
        <p:spPr>
          <a:xfrm xmlns:a="http://schemas.openxmlformats.org/drawingml/2006/main">
            <a:off x="6238875" y="1857375"/>
            <a:ext cx="5334000" cy="3190875"/>
          </a:xfrm>
          <a:prstGeom xmlns:a="http://schemas.openxmlformats.org/drawingml/2006/main" prst="roundRect">
            <a:avLst>
              <a:gd name="adj" fmla="val 2388"/>
            </a:avLst>
          </a:prstGeom>
          <a:solidFill xmlns:a="http://schemas.openxmlformats.org/drawingml/2006/main">
            <a:srgbClr val="DDD8D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8BA128DB-EE74-4E48-A651-BDAA50A6FDF0}"/>
              </a:ext>
            </a:extLst>
          </p:cNvPr>
          <p:cNvSpPr>
            <a:spLocks xmlns:a="http://schemas.openxmlformats.org/drawingml/2006/main" noGrp="1"/>
          </p:cNvSpPr>
          <p:nvPr/>
        </p:nvSpPr>
        <p:spPr>
          <a:xfrm xmlns:a="http://schemas.openxmlformats.org/drawingml/2006/main">
            <a:off x="857250" y="214312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1">
                <a:solidFill>
                  <a:srgbClr val="242321"/>
                </a:solidFill>
                <a:latin typeface="Montserrat"/>
                <a:ea typeface="Montserrat"/>
                <a:cs typeface="Montserrat"/>
              </a:defRPr>
            </a:defPPr>
            <a:lvl1pPr>
              <a:defRPr sz="1863" b="1">
                <a:solidFill>
                  <a:srgbClr val="242321"/>
                </a:solidFill>
                <a:latin typeface="Montserrat"/>
                <a:ea typeface="Montserrat"/>
                <a:cs typeface="Montserrat"/>
              </a:defRPr>
            </a:lvl1pPr>
            <a:lvl2pPr>
              <a:defRPr sz="1863" b="1">
                <a:solidFill>
                  <a:srgbClr val="242321"/>
                </a:solidFill>
                <a:latin typeface="Montserrat"/>
                <a:ea typeface="Montserrat"/>
                <a:cs typeface="Montserrat"/>
              </a:defRPr>
            </a:lvl2pPr>
            <a:lvl3pPr>
              <a:defRPr sz="1863" b="1">
                <a:solidFill>
                  <a:srgbClr val="242321"/>
                </a:solidFill>
                <a:latin typeface="Montserrat"/>
                <a:ea typeface="Montserrat"/>
                <a:cs typeface="Montserrat"/>
              </a:defRPr>
            </a:lvl3pPr>
            <a:lvl4pPr>
              <a:defRPr sz="1863" b="1">
                <a:solidFill>
                  <a:srgbClr val="242321"/>
                </a:solidFill>
                <a:latin typeface="Montserrat"/>
                <a:ea typeface="Montserrat"/>
                <a:cs typeface="Montserrat"/>
              </a:defRPr>
            </a:lvl4pPr>
            <a:lvl5pPr>
              <a:defRPr sz="1863" b="1">
                <a:solidFill>
                  <a:srgbClr val="242321"/>
                </a:solidFill>
                <a:latin typeface="Montserrat"/>
                <a:ea typeface="Montserrat"/>
                <a:cs typeface="Montserrat"/>
              </a:defRPr>
            </a:lvl5pPr>
            <a:lvl6pPr>
              <a:defRPr sz="1863" b="1">
                <a:solidFill>
                  <a:srgbClr val="242321"/>
                </a:solidFill>
                <a:latin typeface="Montserrat"/>
                <a:ea typeface="Montserrat"/>
                <a:cs typeface="Montserrat"/>
              </a:defRPr>
            </a:lvl6pPr>
            <a:lvl7pPr>
              <a:defRPr sz="1863" b="1">
                <a:solidFill>
                  <a:srgbClr val="242321"/>
                </a:solidFill>
                <a:latin typeface="Montserrat"/>
                <a:ea typeface="Montserrat"/>
                <a:cs typeface="Montserrat"/>
              </a:defRPr>
            </a:lvl7pPr>
            <a:lvl8pPr>
              <a:defRPr sz="1863" b="1">
                <a:solidFill>
                  <a:srgbClr val="242321"/>
                </a:solidFill>
                <a:latin typeface="Montserrat"/>
                <a:ea typeface="Montserrat"/>
                <a:cs typeface="Montserrat"/>
              </a:defRPr>
            </a:lvl8pPr>
            <a:lvl9pPr>
              <a:defRPr sz="1863" b="1">
                <a:solidFill>
                  <a:srgbClr val="242321"/>
                </a:solidFill>
                <a:latin typeface="Montserrat"/>
                <a:ea typeface="Montserrat"/>
                <a:cs typeface="Montserrat"/>
              </a:defRPr>
            </a:lvl9pPr>
          </a:lstStyle>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CUSTOMER REVIEWS</a:t>
            </a:r>
          </a:p>
        </p:txBody>
      </p:sp>
      <p:sp>
        <p:nvSpPr>
          <p:cNvPr id="9" name="">
            <a:extLst xmlns:a="http://schemas.openxmlformats.org/drawingml/2006/main">
              <a:ext uri="{FF2B5EF4-FFF2-40B4-BE49-F238E27FC236}">
                <a16:creationId xmlns:a16="http://schemas.microsoft.com/office/drawing/2014/main" id="{BD0CB80A-2681-4663-9F6F-85B2969DB086}"/>
              </a:ext>
            </a:extLst>
          </p:cNvPr>
          <p:cNvSpPr>
            <a:spLocks xmlns:a="http://schemas.openxmlformats.org/drawingml/2006/main" noGrp="1"/>
          </p:cNvSpPr>
          <p:nvPr/>
        </p:nvSpPr>
        <p:spPr>
          <a:xfrm xmlns:a="http://schemas.openxmlformats.org/drawingml/2006/main">
            <a:off x="857250" y="278130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46" b="1">
                <a:solidFill>
                  <a:srgbClr val="242321"/>
                </a:solidFill>
                <a:latin typeface="Montserrat"/>
                <a:ea typeface="Montserrat"/>
                <a:cs typeface="Montserrat"/>
              </a:defRPr>
            </a:defPPr>
            <a:lvl1pPr>
              <a:defRPr sz="2346" b="1">
                <a:solidFill>
                  <a:srgbClr val="242321"/>
                </a:solidFill>
                <a:latin typeface="Montserrat"/>
                <a:ea typeface="Montserrat"/>
                <a:cs typeface="Montserrat"/>
              </a:defRPr>
            </a:lvl1pPr>
            <a:lvl2pPr>
              <a:defRPr sz="2346" b="1">
                <a:solidFill>
                  <a:srgbClr val="242321"/>
                </a:solidFill>
                <a:latin typeface="Montserrat"/>
                <a:ea typeface="Montserrat"/>
                <a:cs typeface="Montserrat"/>
              </a:defRPr>
            </a:lvl2pPr>
            <a:lvl3pPr>
              <a:defRPr sz="2346" b="1">
                <a:solidFill>
                  <a:srgbClr val="242321"/>
                </a:solidFill>
                <a:latin typeface="Montserrat"/>
                <a:ea typeface="Montserrat"/>
                <a:cs typeface="Montserrat"/>
              </a:defRPr>
            </a:lvl3pPr>
            <a:lvl4pPr>
              <a:defRPr sz="2346" b="1">
                <a:solidFill>
                  <a:srgbClr val="242321"/>
                </a:solidFill>
                <a:latin typeface="Montserrat"/>
                <a:ea typeface="Montserrat"/>
                <a:cs typeface="Montserrat"/>
              </a:defRPr>
            </a:lvl4pPr>
            <a:lvl5pPr>
              <a:defRPr sz="2346" b="1">
                <a:solidFill>
                  <a:srgbClr val="242321"/>
                </a:solidFill>
                <a:latin typeface="Montserrat"/>
                <a:ea typeface="Montserrat"/>
                <a:cs typeface="Montserrat"/>
              </a:defRPr>
            </a:lvl5pPr>
            <a:lvl6pPr>
              <a:defRPr sz="2346" b="1">
                <a:solidFill>
                  <a:srgbClr val="242321"/>
                </a:solidFill>
                <a:latin typeface="Montserrat"/>
                <a:ea typeface="Montserrat"/>
                <a:cs typeface="Montserrat"/>
              </a:defRPr>
            </a:lvl6pPr>
            <a:lvl7pPr>
              <a:defRPr sz="2346" b="1">
                <a:solidFill>
                  <a:srgbClr val="242321"/>
                </a:solidFill>
                <a:latin typeface="Montserrat"/>
                <a:ea typeface="Montserrat"/>
                <a:cs typeface="Montserrat"/>
              </a:defRPr>
            </a:lvl7pPr>
            <a:lvl8pPr>
              <a:defRPr sz="2346" b="1">
                <a:solidFill>
                  <a:srgbClr val="242321"/>
                </a:solidFill>
                <a:latin typeface="Montserrat"/>
                <a:ea typeface="Montserrat"/>
                <a:cs typeface="Montserrat"/>
              </a:defRPr>
            </a:lvl8pPr>
            <a:lvl9pPr>
              <a:defRPr sz="2346" b="1">
                <a:solidFill>
                  <a:srgbClr val="242321"/>
                </a:solidFill>
                <a:latin typeface="Montserrat"/>
                <a:ea typeface="Montserrat"/>
                <a:cs typeface="Montserrat"/>
              </a:defRPr>
            </a:lvl9pPr>
          </a:lstStyle>
          <a:p xmlns:a="http://schemas.openxmlformats.org/drawingml/2006/main">
            <a:pPr>
              <a:defRPr sz="2346" b="1">
                <a:solidFill>
                  <a:srgbClr val="242321"/>
                </a:solidFill>
                <a:latin typeface="Montserrat"/>
                <a:ea typeface="Montserrat"/>
                <a:cs typeface="Montserrat"/>
              </a:defRPr>
            </a:pPr>
            <a:r>
              <a:rPr sz="2346" b="1">
                <a:solidFill>
                  <a:srgbClr val="242321"/>
                </a:solidFill>
                <a:latin typeface="Montserrat"/>
                <a:ea typeface="Montserrat"/>
                <a:cs typeface="Montserrat"/>
              </a:rPr>
              <a:t>23 485 avis réels</a:t>
            </a:r>
          </a:p>
        </p:txBody>
      </p:sp>
      <p:sp>
        <p:nvSpPr>
          <p:cNvPr id="10" name="">
            <a:extLst xmlns:a="http://schemas.openxmlformats.org/drawingml/2006/main">
              <a:ext uri="{FF2B5EF4-FFF2-40B4-BE49-F238E27FC236}">
                <a16:creationId xmlns:a16="http://schemas.microsoft.com/office/drawing/2014/main" id="{237005BA-90B4-40B7-BE8F-CBFD505F6880}"/>
              </a:ext>
            </a:extLst>
          </p:cNvPr>
          <p:cNvSpPr>
            <a:spLocks xmlns:a="http://schemas.openxmlformats.org/drawingml/2006/main" noGrp="1"/>
          </p:cNvSpPr>
          <p:nvPr/>
        </p:nvSpPr>
        <p:spPr>
          <a:xfrm xmlns:a="http://schemas.openxmlformats.org/drawingml/2006/main">
            <a:off x="857250" y="3524250"/>
            <a:ext cx="47148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32" b="0">
                <a:solidFill>
                  <a:srgbClr val="242321"/>
                </a:solidFill>
                <a:latin typeface="Montserrat"/>
                <a:ea typeface="Montserrat"/>
                <a:cs typeface="Montserrat"/>
              </a:defRPr>
            </a:defPPr>
            <a:lvl1pPr>
              <a:defRPr sz="1932" b="0">
                <a:solidFill>
                  <a:srgbClr val="242321"/>
                </a:solidFill>
                <a:latin typeface="Montserrat"/>
                <a:ea typeface="Montserrat"/>
                <a:cs typeface="Montserrat"/>
              </a:defRPr>
            </a:lvl1pPr>
            <a:lvl2pPr>
              <a:defRPr sz="1932" b="0">
                <a:solidFill>
                  <a:srgbClr val="242321"/>
                </a:solidFill>
                <a:latin typeface="Montserrat"/>
                <a:ea typeface="Montserrat"/>
                <a:cs typeface="Montserrat"/>
              </a:defRPr>
            </a:lvl2pPr>
            <a:lvl3pPr>
              <a:defRPr sz="1932" b="0">
                <a:solidFill>
                  <a:srgbClr val="242321"/>
                </a:solidFill>
                <a:latin typeface="Montserrat"/>
                <a:ea typeface="Montserrat"/>
                <a:cs typeface="Montserrat"/>
              </a:defRPr>
            </a:lvl3pPr>
            <a:lvl4pPr>
              <a:defRPr sz="1932" b="0">
                <a:solidFill>
                  <a:srgbClr val="242321"/>
                </a:solidFill>
                <a:latin typeface="Montserrat"/>
                <a:ea typeface="Montserrat"/>
                <a:cs typeface="Montserrat"/>
              </a:defRPr>
            </a:lvl4pPr>
            <a:lvl5pPr>
              <a:defRPr sz="1932" b="0">
                <a:solidFill>
                  <a:srgbClr val="242321"/>
                </a:solidFill>
                <a:latin typeface="Montserrat"/>
                <a:ea typeface="Montserrat"/>
                <a:cs typeface="Montserrat"/>
              </a:defRPr>
            </a:lvl5pPr>
            <a:lvl6pPr>
              <a:defRPr sz="1932" b="0">
                <a:solidFill>
                  <a:srgbClr val="242321"/>
                </a:solidFill>
                <a:latin typeface="Montserrat"/>
                <a:ea typeface="Montserrat"/>
                <a:cs typeface="Montserrat"/>
              </a:defRPr>
            </a:lvl6pPr>
            <a:lvl7pPr>
              <a:defRPr sz="1932" b="0">
                <a:solidFill>
                  <a:srgbClr val="242321"/>
                </a:solidFill>
                <a:latin typeface="Montserrat"/>
                <a:ea typeface="Montserrat"/>
                <a:cs typeface="Montserrat"/>
              </a:defRPr>
            </a:lvl7pPr>
            <a:lvl8pPr>
              <a:defRPr sz="1932" b="0">
                <a:solidFill>
                  <a:srgbClr val="242321"/>
                </a:solidFill>
                <a:latin typeface="Montserrat"/>
                <a:ea typeface="Montserrat"/>
                <a:cs typeface="Montserrat"/>
              </a:defRPr>
            </a:lvl8pPr>
            <a:lvl9pPr>
              <a:defRPr sz="1932" b="0">
                <a:solidFill>
                  <a:srgbClr val="242321"/>
                </a:solidFill>
                <a:latin typeface="Montserrat"/>
                <a:ea typeface="Montserrat"/>
                <a:cs typeface="Montserrat"/>
              </a:defRPr>
            </a:lvl9pPr>
          </a:lstStyle>
          <a:p xmlns:a="http://schemas.openxmlformats.org/drawingml/2006/main">
            <a:pPr>
              <a:defRPr sz="1932" b="0">
                <a:solidFill>
                  <a:srgbClr val="242321"/>
                </a:solidFill>
                <a:latin typeface="Montserrat"/>
                <a:ea typeface="Montserrat"/>
                <a:cs typeface="Montserrat"/>
              </a:defRPr>
            </a:pPr>
            <a:r>
              <a:rPr sz="1932" b="0">
                <a:solidFill>
                  <a:srgbClr val="242321"/>
                </a:solidFill>
                <a:latin typeface="Montserrat"/>
                <a:ea typeface="Montserrat"/>
                <a:cs typeface="Montserrat"/>
              </a:rPr>
              <a:t>Vêtements féminins</a:t>
            </a:r>
          </a:p>
          <a:p xmlns:a="http://schemas.openxmlformats.org/drawingml/2006/main">
            <a:pPr>
              <a:defRPr sz="1932" b="0">
                <a:solidFill>
                  <a:srgbClr val="242321"/>
                </a:solidFill>
                <a:latin typeface="Montserrat"/>
                <a:ea typeface="Montserrat"/>
                <a:cs typeface="Montserrat"/>
              </a:defRPr>
            </a:pPr>
            <a:r>
              <a:rPr sz="1932" b="0">
                <a:solidFill>
                  <a:srgbClr val="242321"/>
                </a:solidFill>
                <a:latin typeface="Montserrat"/>
                <a:ea typeface="Montserrat"/>
                <a:cs typeface="Montserrat"/>
              </a:rPr>
              <a:t>Notes, recommandations et</a:t>
            </a:r>
          </a:p>
          <a:p xmlns:a="http://schemas.openxmlformats.org/drawingml/2006/main">
            <a:pPr>
              <a:defRPr sz="1932" b="0">
                <a:solidFill>
                  <a:srgbClr val="242321"/>
                </a:solidFill>
                <a:latin typeface="Montserrat"/>
                <a:ea typeface="Montserrat"/>
                <a:cs typeface="Montserrat"/>
              </a:defRPr>
            </a:pPr>
            <a:r>
              <a:rPr sz="1932" b="0">
                <a:solidFill>
                  <a:srgbClr val="242321"/>
                </a:solidFill>
                <a:latin typeface="Montserrat"/>
                <a:ea typeface="Montserrat"/>
                <a:cs typeface="Montserrat"/>
              </a:rPr>
              <a:t>commentaires sur les produits.</a:t>
            </a:r>
          </a:p>
        </p:txBody>
      </p:sp>
      <p:sp>
        <p:nvSpPr>
          <p:cNvPr id="11" name="">
            <a:extLst xmlns:a="http://schemas.openxmlformats.org/drawingml/2006/main">
              <a:ext uri="{FF2B5EF4-FFF2-40B4-BE49-F238E27FC236}">
                <a16:creationId xmlns:a16="http://schemas.microsoft.com/office/drawing/2014/main" id="{51FBFF5F-FDA1-4D4B-A6EC-B75D00412D88}"/>
              </a:ext>
            </a:extLst>
          </p:cNvPr>
          <p:cNvSpPr>
            <a:spLocks xmlns:a="http://schemas.openxmlformats.org/drawingml/2006/main" noGrp="1"/>
          </p:cNvSpPr>
          <p:nvPr/>
        </p:nvSpPr>
        <p:spPr>
          <a:xfrm xmlns:a="http://schemas.openxmlformats.org/drawingml/2006/main">
            <a:off x="6477000" y="214312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1">
                <a:solidFill>
                  <a:srgbClr val="242321"/>
                </a:solidFill>
                <a:latin typeface="Montserrat"/>
                <a:ea typeface="Montserrat"/>
                <a:cs typeface="Montserrat"/>
              </a:defRPr>
            </a:defPPr>
            <a:lvl1pPr>
              <a:defRPr sz="1863" b="1">
                <a:solidFill>
                  <a:srgbClr val="242321"/>
                </a:solidFill>
                <a:latin typeface="Montserrat"/>
                <a:ea typeface="Montserrat"/>
                <a:cs typeface="Montserrat"/>
              </a:defRPr>
            </a:lvl1pPr>
            <a:lvl2pPr>
              <a:defRPr sz="1863" b="1">
                <a:solidFill>
                  <a:srgbClr val="242321"/>
                </a:solidFill>
                <a:latin typeface="Montserrat"/>
                <a:ea typeface="Montserrat"/>
                <a:cs typeface="Montserrat"/>
              </a:defRPr>
            </a:lvl2pPr>
            <a:lvl3pPr>
              <a:defRPr sz="1863" b="1">
                <a:solidFill>
                  <a:srgbClr val="242321"/>
                </a:solidFill>
                <a:latin typeface="Montserrat"/>
                <a:ea typeface="Montserrat"/>
                <a:cs typeface="Montserrat"/>
              </a:defRPr>
            </a:lvl3pPr>
            <a:lvl4pPr>
              <a:defRPr sz="1863" b="1">
                <a:solidFill>
                  <a:srgbClr val="242321"/>
                </a:solidFill>
                <a:latin typeface="Montserrat"/>
                <a:ea typeface="Montserrat"/>
                <a:cs typeface="Montserrat"/>
              </a:defRPr>
            </a:lvl4pPr>
            <a:lvl5pPr>
              <a:defRPr sz="1863" b="1">
                <a:solidFill>
                  <a:srgbClr val="242321"/>
                </a:solidFill>
                <a:latin typeface="Montserrat"/>
                <a:ea typeface="Montserrat"/>
                <a:cs typeface="Montserrat"/>
              </a:defRPr>
            </a:lvl5pPr>
            <a:lvl6pPr>
              <a:defRPr sz="1863" b="1">
                <a:solidFill>
                  <a:srgbClr val="242321"/>
                </a:solidFill>
                <a:latin typeface="Montserrat"/>
                <a:ea typeface="Montserrat"/>
                <a:cs typeface="Montserrat"/>
              </a:defRPr>
            </a:lvl6pPr>
            <a:lvl7pPr>
              <a:defRPr sz="1863" b="1">
                <a:solidFill>
                  <a:srgbClr val="242321"/>
                </a:solidFill>
                <a:latin typeface="Montserrat"/>
                <a:ea typeface="Montserrat"/>
                <a:cs typeface="Montserrat"/>
              </a:defRPr>
            </a:lvl7pPr>
            <a:lvl8pPr>
              <a:defRPr sz="1863" b="1">
                <a:solidFill>
                  <a:srgbClr val="242321"/>
                </a:solidFill>
                <a:latin typeface="Montserrat"/>
                <a:ea typeface="Montserrat"/>
                <a:cs typeface="Montserrat"/>
              </a:defRPr>
            </a:lvl8pPr>
            <a:lvl9pPr>
              <a:defRPr sz="1863" b="1">
                <a:solidFill>
                  <a:srgbClr val="242321"/>
                </a:solidFill>
                <a:latin typeface="Montserrat"/>
                <a:ea typeface="Montserrat"/>
                <a:cs typeface="Montserrat"/>
              </a:defRPr>
            </a:lvl9pPr>
          </a:lstStyle>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SALES / CRM</a:t>
            </a:r>
          </a:p>
        </p:txBody>
      </p:sp>
      <p:sp>
        <p:nvSpPr>
          <p:cNvPr id="12" name="">
            <a:extLst xmlns:a="http://schemas.openxmlformats.org/drawingml/2006/main">
              <a:ext uri="{FF2B5EF4-FFF2-40B4-BE49-F238E27FC236}">
                <a16:creationId xmlns:a16="http://schemas.microsoft.com/office/drawing/2014/main" id="{D357DCA6-33FB-48DB-AD8F-AB8E9E52BC82}"/>
              </a:ext>
            </a:extLst>
          </p:cNvPr>
          <p:cNvSpPr>
            <a:spLocks xmlns:a="http://schemas.openxmlformats.org/drawingml/2006/main" noGrp="1"/>
          </p:cNvSpPr>
          <p:nvPr/>
        </p:nvSpPr>
        <p:spPr>
          <a:xfrm xmlns:a="http://schemas.openxmlformats.org/drawingml/2006/main">
            <a:off x="6477000" y="278130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46" b="1">
                <a:solidFill>
                  <a:srgbClr val="242321"/>
                </a:solidFill>
                <a:latin typeface="Montserrat"/>
                <a:ea typeface="Montserrat"/>
                <a:cs typeface="Montserrat"/>
              </a:defRPr>
            </a:defPPr>
            <a:lvl1pPr>
              <a:defRPr sz="2346" b="1">
                <a:solidFill>
                  <a:srgbClr val="242321"/>
                </a:solidFill>
                <a:latin typeface="Montserrat"/>
                <a:ea typeface="Montserrat"/>
                <a:cs typeface="Montserrat"/>
              </a:defRPr>
            </a:lvl1pPr>
            <a:lvl2pPr>
              <a:defRPr sz="2346" b="1">
                <a:solidFill>
                  <a:srgbClr val="242321"/>
                </a:solidFill>
                <a:latin typeface="Montserrat"/>
                <a:ea typeface="Montserrat"/>
                <a:cs typeface="Montserrat"/>
              </a:defRPr>
            </a:lvl2pPr>
            <a:lvl3pPr>
              <a:defRPr sz="2346" b="1">
                <a:solidFill>
                  <a:srgbClr val="242321"/>
                </a:solidFill>
                <a:latin typeface="Montserrat"/>
                <a:ea typeface="Montserrat"/>
                <a:cs typeface="Montserrat"/>
              </a:defRPr>
            </a:lvl3pPr>
            <a:lvl4pPr>
              <a:defRPr sz="2346" b="1">
                <a:solidFill>
                  <a:srgbClr val="242321"/>
                </a:solidFill>
                <a:latin typeface="Montserrat"/>
                <a:ea typeface="Montserrat"/>
                <a:cs typeface="Montserrat"/>
              </a:defRPr>
            </a:lvl4pPr>
            <a:lvl5pPr>
              <a:defRPr sz="2346" b="1">
                <a:solidFill>
                  <a:srgbClr val="242321"/>
                </a:solidFill>
                <a:latin typeface="Montserrat"/>
                <a:ea typeface="Montserrat"/>
                <a:cs typeface="Montserrat"/>
              </a:defRPr>
            </a:lvl5pPr>
            <a:lvl6pPr>
              <a:defRPr sz="2346" b="1">
                <a:solidFill>
                  <a:srgbClr val="242321"/>
                </a:solidFill>
                <a:latin typeface="Montserrat"/>
                <a:ea typeface="Montserrat"/>
                <a:cs typeface="Montserrat"/>
              </a:defRPr>
            </a:lvl6pPr>
            <a:lvl7pPr>
              <a:defRPr sz="2346" b="1">
                <a:solidFill>
                  <a:srgbClr val="242321"/>
                </a:solidFill>
                <a:latin typeface="Montserrat"/>
                <a:ea typeface="Montserrat"/>
                <a:cs typeface="Montserrat"/>
              </a:defRPr>
            </a:lvl7pPr>
            <a:lvl8pPr>
              <a:defRPr sz="2346" b="1">
                <a:solidFill>
                  <a:srgbClr val="242321"/>
                </a:solidFill>
                <a:latin typeface="Montserrat"/>
                <a:ea typeface="Montserrat"/>
                <a:cs typeface="Montserrat"/>
              </a:defRPr>
            </a:lvl8pPr>
            <a:lvl9pPr>
              <a:defRPr sz="2346" b="1">
                <a:solidFill>
                  <a:srgbClr val="242321"/>
                </a:solidFill>
                <a:latin typeface="Montserrat"/>
                <a:ea typeface="Montserrat"/>
                <a:cs typeface="Montserrat"/>
              </a:defRPr>
            </a:lvl9pPr>
          </a:lstStyle>
          <a:p xmlns:a="http://schemas.openxmlformats.org/drawingml/2006/main">
            <a:pPr>
              <a:defRPr sz="2346" b="1">
                <a:solidFill>
                  <a:srgbClr val="242321"/>
                </a:solidFill>
                <a:latin typeface="Montserrat"/>
                <a:ea typeface="Montserrat"/>
                <a:cs typeface="Montserrat"/>
              </a:defRPr>
            </a:pPr>
            <a:r>
              <a:rPr sz="2346" b="1">
                <a:solidFill>
                  <a:srgbClr val="242321"/>
                </a:solidFill>
                <a:latin typeface="Montserrat"/>
                <a:ea typeface="Montserrat"/>
                <a:cs typeface="Montserrat"/>
              </a:rPr>
              <a:t>2025 · activité simulée</a:t>
            </a:r>
          </a:p>
        </p:txBody>
      </p:sp>
      <p:sp>
        <p:nvSpPr>
          <p:cNvPr id="13" name="">
            <a:extLst xmlns:a="http://schemas.openxmlformats.org/drawingml/2006/main">
              <a:ext uri="{FF2B5EF4-FFF2-40B4-BE49-F238E27FC236}">
                <a16:creationId xmlns:a16="http://schemas.microsoft.com/office/drawing/2014/main" id="{5917AF68-6F02-4745-A7E0-D9FAE8E92C36}"/>
              </a:ext>
            </a:extLst>
          </p:cNvPr>
          <p:cNvSpPr>
            <a:spLocks xmlns:a="http://schemas.openxmlformats.org/drawingml/2006/main" noGrp="1"/>
          </p:cNvSpPr>
          <p:nvPr/>
        </p:nvSpPr>
        <p:spPr>
          <a:xfrm xmlns:a="http://schemas.openxmlformats.org/drawingml/2006/main">
            <a:off x="6477000" y="3524250"/>
            <a:ext cx="4762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32" b="0">
                <a:solidFill>
                  <a:srgbClr val="242321"/>
                </a:solidFill>
                <a:latin typeface="Montserrat"/>
                <a:ea typeface="Montserrat"/>
                <a:cs typeface="Montserrat"/>
              </a:defRPr>
            </a:defPPr>
            <a:lvl1pPr>
              <a:defRPr sz="1932" b="0">
                <a:solidFill>
                  <a:srgbClr val="242321"/>
                </a:solidFill>
                <a:latin typeface="Montserrat"/>
                <a:ea typeface="Montserrat"/>
                <a:cs typeface="Montserrat"/>
              </a:defRPr>
            </a:lvl1pPr>
            <a:lvl2pPr>
              <a:defRPr sz="1932" b="0">
                <a:solidFill>
                  <a:srgbClr val="242321"/>
                </a:solidFill>
                <a:latin typeface="Montserrat"/>
                <a:ea typeface="Montserrat"/>
                <a:cs typeface="Montserrat"/>
              </a:defRPr>
            </a:lvl2pPr>
            <a:lvl3pPr>
              <a:defRPr sz="1932" b="0">
                <a:solidFill>
                  <a:srgbClr val="242321"/>
                </a:solidFill>
                <a:latin typeface="Montserrat"/>
                <a:ea typeface="Montserrat"/>
                <a:cs typeface="Montserrat"/>
              </a:defRPr>
            </a:lvl3pPr>
            <a:lvl4pPr>
              <a:defRPr sz="1932" b="0">
                <a:solidFill>
                  <a:srgbClr val="242321"/>
                </a:solidFill>
                <a:latin typeface="Montserrat"/>
                <a:ea typeface="Montserrat"/>
                <a:cs typeface="Montserrat"/>
              </a:defRPr>
            </a:lvl4pPr>
            <a:lvl5pPr>
              <a:defRPr sz="1932" b="0">
                <a:solidFill>
                  <a:srgbClr val="242321"/>
                </a:solidFill>
                <a:latin typeface="Montserrat"/>
                <a:ea typeface="Montserrat"/>
                <a:cs typeface="Montserrat"/>
              </a:defRPr>
            </a:lvl5pPr>
            <a:lvl6pPr>
              <a:defRPr sz="1932" b="0">
                <a:solidFill>
                  <a:srgbClr val="242321"/>
                </a:solidFill>
                <a:latin typeface="Montserrat"/>
                <a:ea typeface="Montserrat"/>
                <a:cs typeface="Montserrat"/>
              </a:defRPr>
            </a:lvl6pPr>
            <a:lvl7pPr>
              <a:defRPr sz="1932" b="0">
                <a:solidFill>
                  <a:srgbClr val="242321"/>
                </a:solidFill>
                <a:latin typeface="Montserrat"/>
                <a:ea typeface="Montserrat"/>
                <a:cs typeface="Montserrat"/>
              </a:defRPr>
            </a:lvl7pPr>
            <a:lvl8pPr>
              <a:defRPr sz="1932" b="0">
                <a:solidFill>
                  <a:srgbClr val="242321"/>
                </a:solidFill>
                <a:latin typeface="Montserrat"/>
                <a:ea typeface="Montserrat"/>
                <a:cs typeface="Montserrat"/>
              </a:defRPr>
            </a:lvl8pPr>
            <a:lvl9pPr>
              <a:defRPr sz="1932" b="0">
                <a:solidFill>
                  <a:srgbClr val="242321"/>
                </a:solidFill>
                <a:latin typeface="Montserrat"/>
                <a:ea typeface="Montserrat"/>
                <a:cs typeface="Montserrat"/>
              </a:defRPr>
            </a:lvl9pPr>
          </a:lstStyle>
          <a:p xmlns:a="http://schemas.openxmlformats.org/drawingml/2006/main">
            <a:pPr>
              <a:defRPr sz="1932" b="0">
                <a:solidFill>
                  <a:srgbClr val="242321"/>
                </a:solidFill>
                <a:latin typeface="Montserrat"/>
                <a:ea typeface="Montserrat"/>
                <a:cs typeface="Montserrat"/>
              </a:defRPr>
            </a:pPr>
            <a:r>
              <a:rPr sz="1932" b="0">
                <a:solidFill>
                  <a:srgbClr val="242321"/>
                </a:solidFill>
                <a:latin typeface="Montserrat"/>
                <a:ea typeface="Montserrat"/>
                <a:cs typeface="Montserrat"/>
              </a:rPr>
              <a:t>6 tables, 33 000 lignes</a:t>
            </a:r>
          </a:p>
          <a:p xmlns:a="http://schemas.openxmlformats.org/drawingml/2006/main">
            <a:pPr>
              <a:defRPr sz="1932" b="0">
                <a:solidFill>
                  <a:srgbClr val="242321"/>
                </a:solidFill>
                <a:latin typeface="Montserrat"/>
                <a:ea typeface="Montserrat"/>
                <a:cs typeface="Montserrat"/>
              </a:defRPr>
            </a:pPr>
            <a:r>
              <a:rPr sz="1932" b="0">
                <a:solidFill>
                  <a:srgbClr val="242321"/>
                </a:solidFill>
                <a:latin typeface="Montserrat"/>
                <a:ea typeface="Montserrat"/>
                <a:cs typeface="Montserrat"/>
              </a:rPr>
              <a:t>Commandes, produits, clients,</a:t>
            </a:r>
          </a:p>
          <a:p xmlns:a="http://schemas.openxmlformats.org/drawingml/2006/main">
            <a:pPr>
              <a:defRPr sz="1932" b="0">
                <a:solidFill>
                  <a:srgbClr val="242321"/>
                </a:solidFill>
                <a:latin typeface="Montserrat"/>
                <a:ea typeface="Montserrat"/>
                <a:cs typeface="Montserrat"/>
              </a:defRPr>
            </a:pPr>
            <a:r>
              <a:rPr sz="1932" b="0">
                <a:solidFill>
                  <a:srgbClr val="242321"/>
                </a:solidFill>
                <a:latin typeface="Montserrat"/>
                <a:ea typeface="Montserrat"/>
                <a:cs typeface="Montserrat"/>
              </a:rPr>
              <a:t>tickets et évaluations du service.</a:t>
            </a:r>
          </a:p>
        </p:txBody>
      </p:sp>
      <p:sp>
        <p:nvSpPr>
          <p:cNvPr id="14" name="">
            <a:extLst xmlns:a="http://schemas.openxmlformats.org/drawingml/2006/main">
              <a:ext uri="{FF2B5EF4-FFF2-40B4-BE49-F238E27FC236}">
                <a16:creationId xmlns:a16="http://schemas.microsoft.com/office/drawing/2014/main" id="{F90CF4AA-58ED-489E-B23B-0ECCE270AEBE}"/>
              </a:ext>
            </a:extLst>
          </p:cNvPr>
          <p:cNvSpPr>
            <a:spLocks xmlns:a="http://schemas.openxmlformats.org/drawingml/2006/main" noGrp="1"/>
          </p:cNvSpPr>
          <p:nvPr/>
        </p:nvSpPr>
        <p:spPr>
          <a:xfrm xmlns:a="http://schemas.openxmlformats.org/drawingml/2006/main">
            <a:off x="552450" y="5143500"/>
            <a:ext cx="11049000" cy="647700"/>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8F80C21-1CD7-429C-966C-B4FCB2BA699E}"/>
              </a:ext>
            </a:extLst>
          </p:cNvPr>
          <p:cNvSpPr>
            <a:spLocks xmlns:a="http://schemas.openxmlformats.org/drawingml/2006/main" noGrp="1"/>
          </p:cNvSpPr>
          <p:nvPr/>
        </p:nvSpPr>
        <p:spPr>
          <a:xfrm xmlns:a="http://schemas.openxmlformats.org/drawingml/2006/main">
            <a:off x="552450" y="5143500"/>
            <a:ext cx="47625" cy="6477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36732DB-6E61-4C22-988D-5FB07956BCF6}"/>
              </a:ext>
            </a:extLst>
          </p:cNvPr>
          <p:cNvSpPr>
            <a:spLocks xmlns:a="http://schemas.openxmlformats.org/drawingml/2006/main" noGrp="1"/>
          </p:cNvSpPr>
          <p:nvPr/>
        </p:nvSpPr>
        <p:spPr>
          <a:xfrm xmlns:a="http://schemas.openxmlformats.org/drawingml/2006/main">
            <a:off x="714375" y="52292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Deux angles complémentaires : le produit et le parcours d’achat / service.</a:t>
            </a:r>
          </a:p>
        </p:txBody>
      </p:sp>
      <p:sp>
        <p:nvSpPr>
          <p:cNvPr id="17" name="">
            <a:extLst xmlns:a="http://schemas.openxmlformats.org/drawingml/2006/main">
              <a:ext uri="{FF2B5EF4-FFF2-40B4-BE49-F238E27FC236}">
                <a16:creationId xmlns:a16="http://schemas.microsoft.com/office/drawing/2014/main" id="{D9FBB980-53B3-4A39-8094-0775E2613C4F}"/>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Les avis réels et les clients fictifs du CRM ne sont pas reliés individuellement.</a:t>
            </a:r>
          </a:p>
        </p:txBody>
      </p:sp>
    </p:spTree>
    <p:extLst>
      <p:ext uri="{BB962C8B-B14F-4D97-AF65-F5344CB8AC3E}">
        <p14:creationId xmlns:p14="http://schemas.microsoft.com/office/powerpoint/2010/main" val="1155673721"/>
      </p:ext>
    </p:extLst>
  </p:cSld>
</p:sld>
</file>

<file path=ppt/slides/slide5.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69C5C8A-DFE1-49E9-81D1-4160B4D50C2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BB6562-0B0B-4736-8E66-99142ED7F14F}"/>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C5F3A1-3DDB-4C7D-BB57-A66E94445DB8}"/>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KPI : comprendre les avis clients</a:t>
            </a:r>
          </a:p>
        </p:txBody>
      </p:sp>
      <p:sp>
        <p:nvSpPr>
          <p:cNvPr id="4" name="">
            <a:extLst xmlns:a="http://schemas.openxmlformats.org/drawingml/2006/main">
              <a:ext uri="{FF2B5EF4-FFF2-40B4-BE49-F238E27FC236}">
                <a16:creationId xmlns:a16="http://schemas.microsoft.com/office/drawing/2014/main" id="{A3689A9D-3ABA-4E9A-A169-30E572F11ED6}"/>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05</a:t>
            </a:r>
          </a:p>
        </p:txBody>
      </p:sp>
      <p:sp>
        <p:nvSpPr>
          <p:cNvPr id="5" name="">
            <a:extLst xmlns:a="http://schemas.openxmlformats.org/drawingml/2006/main">
              <a:ext uri="{FF2B5EF4-FFF2-40B4-BE49-F238E27FC236}">
                <a16:creationId xmlns:a16="http://schemas.microsoft.com/office/drawing/2014/main" id="{6772EA2D-1551-4249-9860-4D14218313BD}"/>
              </a:ext>
            </a:extLst>
          </p:cNvPr>
          <p:cNvSpPr>
            <a:spLocks xmlns:a="http://schemas.openxmlformats.org/drawingml/2006/main" noGrp="1"/>
          </p:cNvSpPr>
          <p:nvPr/>
        </p:nvSpPr>
        <p:spPr>
          <a:xfrm xmlns:a="http://schemas.openxmlformats.org/drawingml/2006/main">
            <a:off x="762000" y="1809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8A705B"/>
                </a:solidFill>
                <a:latin typeface="Montserrat"/>
                <a:ea typeface="Montserrat"/>
                <a:cs typeface="Montserrat"/>
              </a:defRPr>
            </a:defPPr>
            <a:lvl1pPr>
              <a:defRPr sz="1587" b="1">
                <a:solidFill>
                  <a:srgbClr val="8A705B"/>
                </a:solidFill>
                <a:latin typeface="Montserrat"/>
                <a:ea typeface="Montserrat"/>
                <a:cs typeface="Montserrat"/>
              </a:defRPr>
            </a:lvl1pPr>
            <a:lvl2pPr>
              <a:defRPr sz="1587" b="1">
                <a:solidFill>
                  <a:srgbClr val="8A705B"/>
                </a:solidFill>
                <a:latin typeface="Montserrat"/>
                <a:ea typeface="Montserrat"/>
                <a:cs typeface="Montserrat"/>
              </a:defRPr>
            </a:lvl2pPr>
            <a:lvl3pPr>
              <a:defRPr sz="1587" b="1">
                <a:solidFill>
                  <a:srgbClr val="8A705B"/>
                </a:solidFill>
                <a:latin typeface="Montserrat"/>
                <a:ea typeface="Montserrat"/>
                <a:cs typeface="Montserrat"/>
              </a:defRPr>
            </a:lvl3pPr>
            <a:lvl4pPr>
              <a:defRPr sz="1587" b="1">
                <a:solidFill>
                  <a:srgbClr val="8A705B"/>
                </a:solidFill>
                <a:latin typeface="Montserrat"/>
                <a:ea typeface="Montserrat"/>
                <a:cs typeface="Montserrat"/>
              </a:defRPr>
            </a:lvl4pPr>
            <a:lvl5pPr>
              <a:defRPr sz="1587" b="1">
                <a:solidFill>
                  <a:srgbClr val="8A705B"/>
                </a:solidFill>
                <a:latin typeface="Montserrat"/>
                <a:ea typeface="Montserrat"/>
                <a:cs typeface="Montserrat"/>
              </a:defRPr>
            </a:lvl5pPr>
            <a:lvl6pPr>
              <a:defRPr sz="1587" b="1">
                <a:solidFill>
                  <a:srgbClr val="8A705B"/>
                </a:solidFill>
                <a:latin typeface="Montserrat"/>
                <a:ea typeface="Montserrat"/>
                <a:cs typeface="Montserrat"/>
              </a:defRPr>
            </a:lvl6pPr>
            <a:lvl7pPr>
              <a:defRPr sz="1587" b="1">
                <a:solidFill>
                  <a:srgbClr val="8A705B"/>
                </a:solidFill>
                <a:latin typeface="Montserrat"/>
                <a:ea typeface="Montserrat"/>
                <a:cs typeface="Montserrat"/>
              </a:defRPr>
            </a:lvl7pPr>
            <a:lvl8pPr>
              <a:defRPr sz="1587" b="1">
                <a:solidFill>
                  <a:srgbClr val="8A705B"/>
                </a:solidFill>
                <a:latin typeface="Montserrat"/>
                <a:ea typeface="Montserrat"/>
                <a:cs typeface="Montserrat"/>
              </a:defRPr>
            </a:lvl8pPr>
            <a:lvl9pPr>
              <a:defRPr sz="1587" b="1">
                <a:solidFill>
                  <a:srgbClr val="8A705B"/>
                </a:solidFill>
                <a:latin typeface="Montserrat"/>
                <a:ea typeface="Montserrat"/>
                <a:cs typeface="Montserrat"/>
              </a:defRPr>
            </a:lvl9pPr>
          </a:lstStyle>
          <a:p xmlns:a="http://schemas.openxmlformats.org/drawingml/2006/main">
            <a:pPr>
              <a:defRPr sz="1587" b="1">
                <a:solidFill>
                  <a:srgbClr val="8A705B"/>
                </a:solidFill>
                <a:latin typeface="Montserrat"/>
                <a:ea typeface="Montserrat"/>
                <a:cs typeface="Montserrat"/>
              </a:defRPr>
            </a:pPr>
            <a:r>
              <a:rPr sz="1587" b="1">
                <a:solidFill>
                  <a:srgbClr val="8A705B"/>
                </a:solidFill>
                <a:latin typeface="Montserrat"/>
                <a:ea typeface="Montserrat"/>
                <a:cs typeface="Montserrat"/>
              </a:rPr>
              <a:t>INDICATEUR</a:t>
            </a:r>
          </a:p>
        </p:txBody>
      </p:sp>
      <p:sp>
        <p:nvSpPr>
          <p:cNvPr id="6" name="">
            <a:extLst xmlns:a="http://schemas.openxmlformats.org/drawingml/2006/main">
              <a:ext uri="{FF2B5EF4-FFF2-40B4-BE49-F238E27FC236}">
                <a16:creationId xmlns:a16="http://schemas.microsoft.com/office/drawing/2014/main" id="{93854F0B-B14B-4F7E-A2A4-FEEDFD6AA73B}"/>
              </a:ext>
            </a:extLst>
          </p:cNvPr>
          <p:cNvSpPr>
            <a:spLocks xmlns:a="http://schemas.openxmlformats.org/drawingml/2006/main" noGrp="1"/>
          </p:cNvSpPr>
          <p:nvPr/>
        </p:nvSpPr>
        <p:spPr>
          <a:xfrm xmlns:a="http://schemas.openxmlformats.org/drawingml/2006/main">
            <a:off x="5715000" y="180975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8A705B"/>
                </a:solidFill>
                <a:latin typeface="Montserrat"/>
                <a:ea typeface="Montserrat"/>
                <a:cs typeface="Montserrat"/>
              </a:defRPr>
            </a:defPPr>
            <a:lvl1pPr>
              <a:defRPr sz="1587" b="1">
                <a:solidFill>
                  <a:srgbClr val="8A705B"/>
                </a:solidFill>
                <a:latin typeface="Montserrat"/>
                <a:ea typeface="Montserrat"/>
                <a:cs typeface="Montserrat"/>
              </a:defRPr>
            </a:lvl1pPr>
            <a:lvl2pPr>
              <a:defRPr sz="1587" b="1">
                <a:solidFill>
                  <a:srgbClr val="8A705B"/>
                </a:solidFill>
                <a:latin typeface="Montserrat"/>
                <a:ea typeface="Montserrat"/>
                <a:cs typeface="Montserrat"/>
              </a:defRPr>
            </a:lvl2pPr>
            <a:lvl3pPr>
              <a:defRPr sz="1587" b="1">
                <a:solidFill>
                  <a:srgbClr val="8A705B"/>
                </a:solidFill>
                <a:latin typeface="Montserrat"/>
                <a:ea typeface="Montserrat"/>
                <a:cs typeface="Montserrat"/>
              </a:defRPr>
            </a:lvl3pPr>
            <a:lvl4pPr>
              <a:defRPr sz="1587" b="1">
                <a:solidFill>
                  <a:srgbClr val="8A705B"/>
                </a:solidFill>
                <a:latin typeface="Montserrat"/>
                <a:ea typeface="Montserrat"/>
                <a:cs typeface="Montserrat"/>
              </a:defRPr>
            </a:lvl4pPr>
            <a:lvl5pPr>
              <a:defRPr sz="1587" b="1">
                <a:solidFill>
                  <a:srgbClr val="8A705B"/>
                </a:solidFill>
                <a:latin typeface="Montserrat"/>
                <a:ea typeface="Montserrat"/>
                <a:cs typeface="Montserrat"/>
              </a:defRPr>
            </a:lvl5pPr>
            <a:lvl6pPr>
              <a:defRPr sz="1587" b="1">
                <a:solidFill>
                  <a:srgbClr val="8A705B"/>
                </a:solidFill>
                <a:latin typeface="Montserrat"/>
                <a:ea typeface="Montserrat"/>
                <a:cs typeface="Montserrat"/>
              </a:defRPr>
            </a:lvl6pPr>
            <a:lvl7pPr>
              <a:defRPr sz="1587" b="1">
                <a:solidFill>
                  <a:srgbClr val="8A705B"/>
                </a:solidFill>
                <a:latin typeface="Montserrat"/>
                <a:ea typeface="Montserrat"/>
                <a:cs typeface="Montserrat"/>
              </a:defRPr>
            </a:lvl7pPr>
            <a:lvl8pPr>
              <a:defRPr sz="1587" b="1">
                <a:solidFill>
                  <a:srgbClr val="8A705B"/>
                </a:solidFill>
                <a:latin typeface="Montserrat"/>
                <a:ea typeface="Montserrat"/>
                <a:cs typeface="Montserrat"/>
              </a:defRPr>
            </a:lvl8pPr>
            <a:lvl9pPr>
              <a:defRPr sz="1587" b="1">
                <a:solidFill>
                  <a:srgbClr val="8A705B"/>
                </a:solidFill>
                <a:latin typeface="Montserrat"/>
                <a:ea typeface="Montserrat"/>
                <a:cs typeface="Montserrat"/>
              </a:defRPr>
            </a:lvl9pPr>
          </a:lstStyle>
          <a:p xmlns:a="http://schemas.openxmlformats.org/drawingml/2006/main">
            <a:pPr>
              <a:defRPr sz="1587" b="1">
                <a:solidFill>
                  <a:srgbClr val="8A705B"/>
                </a:solidFill>
                <a:latin typeface="Montserrat"/>
                <a:ea typeface="Montserrat"/>
                <a:cs typeface="Montserrat"/>
              </a:defRPr>
            </a:pPr>
            <a:r>
              <a:rPr sz="1587" b="1">
                <a:solidFill>
                  <a:srgbClr val="8A705B"/>
                </a:solidFill>
                <a:latin typeface="Montserrat"/>
                <a:ea typeface="Montserrat"/>
                <a:cs typeface="Montserrat"/>
              </a:rPr>
              <a:t>CE QU’IL PERMET DE COMPRENDRE</a:t>
            </a:r>
          </a:p>
        </p:txBody>
      </p:sp>
      <p:sp>
        <p:nvSpPr>
          <p:cNvPr id="7" name="">
            <a:extLst xmlns:a="http://schemas.openxmlformats.org/drawingml/2006/main">
              <a:ext uri="{FF2B5EF4-FFF2-40B4-BE49-F238E27FC236}">
                <a16:creationId xmlns:a16="http://schemas.microsoft.com/office/drawing/2014/main" id="{6A762908-8CF6-4269-A1A7-B33D39FD604C}"/>
              </a:ext>
            </a:extLst>
          </p:cNvPr>
          <p:cNvSpPr>
            <a:spLocks xmlns:a="http://schemas.openxmlformats.org/drawingml/2006/main" noGrp="1"/>
          </p:cNvSpPr>
          <p:nvPr/>
        </p:nvSpPr>
        <p:spPr>
          <a:xfrm xmlns:a="http://schemas.openxmlformats.org/drawingml/2006/main">
            <a:off x="619125" y="2343150"/>
            <a:ext cx="10953750" cy="609600"/>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35D6503-98C5-42DA-B804-6749C7E014C7}"/>
              </a:ext>
            </a:extLst>
          </p:cNvPr>
          <p:cNvSpPr>
            <a:spLocks xmlns:a="http://schemas.openxmlformats.org/drawingml/2006/main" noGrp="1"/>
          </p:cNvSpPr>
          <p:nvPr/>
        </p:nvSpPr>
        <p:spPr>
          <a:xfrm xmlns:a="http://schemas.openxmlformats.org/drawingml/2006/main">
            <a:off x="762000" y="2457450"/>
            <a:ext cx="471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Nombre d’avis</a:t>
            </a:r>
          </a:p>
        </p:txBody>
      </p:sp>
      <p:sp>
        <p:nvSpPr>
          <p:cNvPr id="9" name="">
            <a:extLst xmlns:a="http://schemas.openxmlformats.org/drawingml/2006/main">
              <a:ext uri="{FF2B5EF4-FFF2-40B4-BE49-F238E27FC236}">
                <a16:creationId xmlns:a16="http://schemas.microsoft.com/office/drawing/2014/main" id="{07C167D6-3AA4-407B-BB29-C1E5DF39DB40}"/>
              </a:ext>
            </a:extLst>
          </p:cNvPr>
          <p:cNvSpPr>
            <a:spLocks xmlns:a="http://schemas.openxmlformats.org/drawingml/2006/main" noGrp="1"/>
          </p:cNvSpPr>
          <p:nvPr/>
        </p:nvSpPr>
        <p:spPr>
          <a:xfrm xmlns:a="http://schemas.openxmlformats.org/drawingml/2006/main">
            <a:off x="5715000" y="2457450"/>
            <a:ext cx="561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Le nombre d’avis utilisé pour la comparaison.</a:t>
            </a:r>
          </a:p>
        </p:txBody>
      </p:sp>
      <p:sp>
        <p:nvSpPr>
          <p:cNvPr id="10" name="">
            <a:extLst xmlns:a="http://schemas.openxmlformats.org/drawingml/2006/main">
              <a:ext uri="{FF2B5EF4-FFF2-40B4-BE49-F238E27FC236}">
                <a16:creationId xmlns:a16="http://schemas.microsoft.com/office/drawing/2014/main" id="{B26375D9-2F5F-4F05-BDCD-71AA61457D00}"/>
              </a:ext>
            </a:extLst>
          </p:cNvPr>
          <p:cNvSpPr>
            <a:spLocks xmlns:a="http://schemas.openxmlformats.org/drawingml/2006/main" noGrp="1"/>
          </p:cNvSpPr>
          <p:nvPr/>
        </p:nvSpPr>
        <p:spPr>
          <a:xfrm xmlns:a="http://schemas.openxmlformats.org/drawingml/2006/main">
            <a:off x="619125" y="2981325"/>
            <a:ext cx="10953750" cy="609600"/>
          </a:xfrm>
          <a:prstGeom xmlns:a="http://schemas.openxmlformats.org/drawingml/2006/main" prst="rect">
            <a:avLst/>
          </a:prstGeom>
          <a:solidFill xmlns:a="http://schemas.openxmlformats.org/drawingml/2006/main">
            <a:srgbClr val="F3EEE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D0123E6-222A-4B9A-90DD-68C87634CAF8}"/>
              </a:ext>
            </a:extLst>
          </p:cNvPr>
          <p:cNvSpPr>
            <a:spLocks xmlns:a="http://schemas.openxmlformats.org/drawingml/2006/main" noGrp="1"/>
          </p:cNvSpPr>
          <p:nvPr/>
        </p:nvSpPr>
        <p:spPr>
          <a:xfrm xmlns:a="http://schemas.openxmlformats.org/drawingml/2006/main">
            <a:off x="762000" y="3095625"/>
            <a:ext cx="471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Note moyenne / 5</a:t>
            </a:r>
          </a:p>
        </p:txBody>
      </p:sp>
      <p:sp>
        <p:nvSpPr>
          <p:cNvPr id="12" name="">
            <a:extLst xmlns:a="http://schemas.openxmlformats.org/drawingml/2006/main">
              <a:ext uri="{FF2B5EF4-FFF2-40B4-BE49-F238E27FC236}">
                <a16:creationId xmlns:a16="http://schemas.microsoft.com/office/drawing/2014/main" id="{0377D821-6D45-479A-A3C1-CB978B187446}"/>
              </a:ext>
            </a:extLst>
          </p:cNvPr>
          <p:cNvSpPr>
            <a:spLocks xmlns:a="http://schemas.openxmlformats.org/drawingml/2006/main" noGrp="1"/>
          </p:cNvSpPr>
          <p:nvPr/>
        </p:nvSpPr>
        <p:spPr>
          <a:xfrm xmlns:a="http://schemas.openxmlformats.org/drawingml/2006/main">
            <a:off x="5715000" y="3095625"/>
            <a:ext cx="561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Le niveau de satisfaction exprimé sur les produits.</a:t>
            </a:r>
          </a:p>
        </p:txBody>
      </p:sp>
      <p:sp>
        <p:nvSpPr>
          <p:cNvPr id="13" name="">
            <a:extLst xmlns:a="http://schemas.openxmlformats.org/drawingml/2006/main">
              <a:ext uri="{FF2B5EF4-FFF2-40B4-BE49-F238E27FC236}">
                <a16:creationId xmlns:a16="http://schemas.microsoft.com/office/drawing/2014/main" id="{0D11FADF-BB6A-4E3F-8002-E274935949FC}"/>
              </a:ext>
            </a:extLst>
          </p:cNvPr>
          <p:cNvSpPr>
            <a:spLocks xmlns:a="http://schemas.openxmlformats.org/drawingml/2006/main" noGrp="1"/>
          </p:cNvSpPr>
          <p:nvPr/>
        </p:nvSpPr>
        <p:spPr>
          <a:xfrm xmlns:a="http://schemas.openxmlformats.org/drawingml/2006/main">
            <a:off x="619125" y="3619500"/>
            <a:ext cx="10953750" cy="609600"/>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8717993-18CD-4134-AC9F-CB43F515B969}"/>
              </a:ext>
            </a:extLst>
          </p:cNvPr>
          <p:cNvSpPr>
            <a:spLocks xmlns:a="http://schemas.openxmlformats.org/drawingml/2006/main" noGrp="1"/>
          </p:cNvSpPr>
          <p:nvPr/>
        </p:nvSpPr>
        <p:spPr>
          <a:xfrm xmlns:a="http://schemas.openxmlformats.org/drawingml/2006/main">
            <a:off x="762000" y="3733800"/>
            <a:ext cx="471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Taux de recommandation</a:t>
            </a:r>
          </a:p>
        </p:txBody>
      </p:sp>
      <p:sp>
        <p:nvSpPr>
          <p:cNvPr id="15" name="">
            <a:extLst xmlns:a="http://schemas.openxmlformats.org/drawingml/2006/main">
              <a:ext uri="{FF2B5EF4-FFF2-40B4-BE49-F238E27FC236}">
                <a16:creationId xmlns:a16="http://schemas.microsoft.com/office/drawing/2014/main" id="{CA4AD60B-DE87-4FC1-8763-98FD70EA7C25}"/>
              </a:ext>
            </a:extLst>
          </p:cNvPr>
          <p:cNvSpPr>
            <a:spLocks xmlns:a="http://schemas.openxmlformats.org/drawingml/2006/main" noGrp="1"/>
          </p:cNvSpPr>
          <p:nvPr/>
        </p:nvSpPr>
        <p:spPr>
          <a:xfrm xmlns:a="http://schemas.openxmlformats.org/drawingml/2006/main">
            <a:off x="5715000" y="3733800"/>
            <a:ext cx="561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La part des avis qui recommandent le produit.</a:t>
            </a:r>
          </a:p>
        </p:txBody>
      </p:sp>
      <p:sp>
        <p:nvSpPr>
          <p:cNvPr id="16" name="">
            <a:extLst xmlns:a="http://schemas.openxmlformats.org/drawingml/2006/main">
              <a:ext uri="{FF2B5EF4-FFF2-40B4-BE49-F238E27FC236}">
                <a16:creationId xmlns:a16="http://schemas.microsoft.com/office/drawing/2014/main" id="{1A55749D-D54C-423A-B52F-3D995A5213E9}"/>
              </a:ext>
            </a:extLst>
          </p:cNvPr>
          <p:cNvSpPr>
            <a:spLocks xmlns:a="http://schemas.openxmlformats.org/drawingml/2006/main" noGrp="1"/>
          </p:cNvSpPr>
          <p:nvPr/>
        </p:nvSpPr>
        <p:spPr>
          <a:xfrm xmlns:a="http://schemas.openxmlformats.org/drawingml/2006/main">
            <a:off x="619125" y="4257675"/>
            <a:ext cx="10953750" cy="609600"/>
          </a:xfrm>
          <a:prstGeom xmlns:a="http://schemas.openxmlformats.org/drawingml/2006/main" prst="rect">
            <a:avLst/>
          </a:prstGeom>
          <a:solidFill xmlns:a="http://schemas.openxmlformats.org/drawingml/2006/main">
            <a:srgbClr val="F3EEE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C288325-2CF5-4F8C-8163-BC8778403696}"/>
              </a:ext>
            </a:extLst>
          </p:cNvPr>
          <p:cNvSpPr>
            <a:spLocks xmlns:a="http://schemas.openxmlformats.org/drawingml/2006/main" noGrp="1"/>
          </p:cNvSpPr>
          <p:nvPr/>
        </p:nvSpPr>
        <p:spPr>
          <a:xfrm xmlns:a="http://schemas.openxmlformats.org/drawingml/2006/main">
            <a:off x="762000" y="4371975"/>
            <a:ext cx="471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Part d’avis positifs / négatifs</a:t>
            </a:r>
          </a:p>
        </p:txBody>
      </p:sp>
      <p:sp>
        <p:nvSpPr>
          <p:cNvPr id="18" name="">
            <a:extLst xmlns:a="http://schemas.openxmlformats.org/drawingml/2006/main">
              <a:ext uri="{FF2B5EF4-FFF2-40B4-BE49-F238E27FC236}">
                <a16:creationId xmlns:a16="http://schemas.microsoft.com/office/drawing/2014/main" id="{6F9EA6ED-41C4-4D59-82A8-62F4C75E2FFA}"/>
              </a:ext>
            </a:extLst>
          </p:cNvPr>
          <p:cNvSpPr>
            <a:spLocks xmlns:a="http://schemas.openxmlformats.org/drawingml/2006/main" noGrp="1"/>
          </p:cNvSpPr>
          <p:nvPr/>
        </p:nvSpPr>
        <p:spPr>
          <a:xfrm xmlns:a="http://schemas.openxmlformats.org/drawingml/2006/main">
            <a:off x="5715000" y="4371975"/>
            <a:ext cx="561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La part des notes 4–5 et celle des notes 1–2.</a:t>
            </a:r>
          </a:p>
        </p:txBody>
      </p:sp>
      <p:sp>
        <p:nvSpPr>
          <p:cNvPr id="19" name="">
            <a:extLst xmlns:a="http://schemas.openxmlformats.org/drawingml/2006/main">
              <a:ext uri="{FF2B5EF4-FFF2-40B4-BE49-F238E27FC236}">
                <a16:creationId xmlns:a16="http://schemas.microsoft.com/office/drawing/2014/main" id="{B6F2A363-310F-4D73-8B28-36F5E8616138}"/>
              </a:ext>
            </a:extLst>
          </p:cNvPr>
          <p:cNvSpPr>
            <a:spLocks xmlns:a="http://schemas.openxmlformats.org/drawingml/2006/main" noGrp="1"/>
          </p:cNvSpPr>
          <p:nvPr/>
        </p:nvSpPr>
        <p:spPr>
          <a:xfrm xmlns:a="http://schemas.openxmlformats.org/drawingml/2006/main">
            <a:off x="619125" y="4895850"/>
            <a:ext cx="10953750" cy="609600"/>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BC74A19-40A8-45CB-9D6F-C935F93376D4}"/>
              </a:ext>
            </a:extLst>
          </p:cNvPr>
          <p:cNvSpPr>
            <a:spLocks xmlns:a="http://schemas.openxmlformats.org/drawingml/2006/main" noGrp="1"/>
          </p:cNvSpPr>
          <p:nvPr/>
        </p:nvSpPr>
        <p:spPr>
          <a:xfrm xmlns:a="http://schemas.openxmlformats.org/drawingml/2006/main">
            <a:off x="762000" y="5010150"/>
            <a:ext cx="4714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Taux de problèmes par thème</a:t>
            </a:r>
          </a:p>
        </p:txBody>
      </p:sp>
      <p:sp>
        <p:nvSpPr>
          <p:cNvPr id="21" name="">
            <a:extLst xmlns:a="http://schemas.openxmlformats.org/drawingml/2006/main">
              <a:ext uri="{FF2B5EF4-FFF2-40B4-BE49-F238E27FC236}">
                <a16:creationId xmlns:a16="http://schemas.microsoft.com/office/drawing/2014/main" id="{398DA6A4-FD30-42F5-BBC6-43A28062A3EC}"/>
              </a:ext>
            </a:extLst>
          </p:cNvPr>
          <p:cNvSpPr>
            <a:spLocks xmlns:a="http://schemas.openxmlformats.org/drawingml/2006/main" noGrp="1"/>
          </p:cNvSpPr>
          <p:nvPr/>
        </p:nvSpPr>
        <p:spPr>
          <a:xfrm xmlns:a="http://schemas.openxmlformats.org/drawingml/2006/main">
            <a:off x="5715000" y="5010150"/>
            <a:ext cx="561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Les sujets évoqués dans les avis négatifs avec texte.</a:t>
            </a:r>
          </a:p>
        </p:txBody>
      </p:sp>
      <p:sp>
        <p:nvSpPr>
          <p:cNvPr id="22" name="">
            <a:extLst xmlns:a="http://schemas.openxmlformats.org/drawingml/2006/main">
              <a:ext uri="{FF2B5EF4-FFF2-40B4-BE49-F238E27FC236}">
                <a16:creationId xmlns:a16="http://schemas.microsoft.com/office/drawing/2014/main" id="{95DFB160-7F1D-443C-9243-984731038659}"/>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Lecture par famille de produits et par âge. Les taux par thème portent uniquement</a:t>
            </a:r>
          </a:p>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sur les avis négatifs avec texte et peuvent se recouper.</a:t>
            </a:r>
          </a:p>
        </p:txBody>
      </p:sp>
    </p:spTree>
    <p:extLst>
      <p:ext uri="{BB962C8B-B14F-4D97-AF65-F5344CB8AC3E}">
        <p14:creationId xmlns:p14="http://schemas.microsoft.com/office/powerpoint/2010/main" val="591920483"/>
      </p:ext>
    </p:extLst>
  </p:cSld>
</p:sld>
</file>

<file path=ppt/slides/slide6.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07AAB38C-2E34-4C56-BBED-3D67AAF17C7A}"/>
              </a:ext>
            </a:extLst>
          </p:cNvPr>
          <p:cNvPicPr>
            <a:picLocks xmlns:a="http://schemas.openxmlformats.org/drawingml/2006/main" noChangeAspect="1"/>
          </p:cNvPicPr>
          <p:nvPr/>
        </p:nvPicPr>
        <p:blipFill>
          <a:blip xmlns:r="http://schemas.openxmlformats.org/officeDocument/2006/relationships" xmlns:a="http://schemas.openxmlformats.org/drawingml/2006/main" r:embed="R7f3526b8ff1147f6"/>
          <a:stretch xmlns:a="http://schemas.openxmlformats.org/drawingml/2006/main"/>
        </p:blipFill>
        <p:spPr>
          <a:xfrm xmlns:a="http://schemas.openxmlformats.org/drawingml/2006/main" flipH="1">
            <a:off x="10548938" y="142875"/>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0942F37-C975-4666-88C4-59BBDCD34EC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DDC0FD-8C3F-4ABC-B375-317649874954}"/>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3AFF4E-5E23-4723-870B-BA190DE92980}"/>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KPI : piloter les ventes et le service</a:t>
            </a:r>
          </a:p>
        </p:txBody>
      </p:sp>
      <p:sp>
        <p:nvSpPr>
          <p:cNvPr id="5" name="">
            <a:extLst xmlns:a="http://schemas.openxmlformats.org/drawingml/2006/main">
              <a:ext uri="{FF2B5EF4-FFF2-40B4-BE49-F238E27FC236}">
                <a16:creationId xmlns:a16="http://schemas.microsoft.com/office/drawing/2014/main" id="{8BE10670-A097-4C80-9AF2-614542293717}"/>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06</a:t>
            </a:r>
          </a:p>
        </p:txBody>
      </p:sp>
      <p:sp>
        <p:nvSpPr>
          <p:cNvPr id="6" name="">
            <a:extLst xmlns:a="http://schemas.openxmlformats.org/drawingml/2006/main">
              <a:ext uri="{FF2B5EF4-FFF2-40B4-BE49-F238E27FC236}">
                <a16:creationId xmlns:a16="http://schemas.microsoft.com/office/drawing/2014/main" id="{85820D7B-6696-46A3-83A2-A442A380B475}"/>
              </a:ext>
            </a:extLst>
          </p:cNvPr>
          <p:cNvSpPr>
            <a:spLocks xmlns:a="http://schemas.openxmlformats.org/drawingml/2006/main" noGrp="1"/>
          </p:cNvSpPr>
          <p:nvPr/>
        </p:nvSpPr>
        <p:spPr>
          <a:xfrm xmlns:a="http://schemas.openxmlformats.org/drawingml/2006/main">
            <a:off x="619125" y="1714500"/>
            <a:ext cx="4810125" cy="4095750"/>
          </a:xfrm>
          <a:prstGeom xmlns:a="http://schemas.openxmlformats.org/drawingml/2006/main" prst="roundRect">
            <a:avLst>
              <a:gd name="adj" fmla="val 1860"/>
            </a:avLst>
          </a:prstGeom>
          <a:solidFill xmlns:a="http://schemas.openxmlformats.org/drawingml/2006/main">
            <a:srgbClr val="E6DACE"/>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115CC68-D653-4519-B168-DB61C947519C}"/>
              </a:ext>
            </a:extLst>
          </p:cNvPr>
          <p:cNvSpPr>
            <a:spLocks xmlns:a="http://schemas.openxmlformats.org/drawingml/2006/main" noGrp="1"/>
          </p:cNvSpPr>
          <p:nvPr/>
        </p:nvSpPr>
        <p:spPr>
          <a:xfrm xmlns:a="http://schemas.openxmlformats.org/drawingml/2006/main">
            <a:off x="5715000" y="1714500"/>
            <a:ext cx="5857875" cy="4095750"/>
          </a:xfrm>
          <a:prstGeom xmlns:a="http://schemas.openxmlformats.org/drawingml/2006/main" prst="roundRect">
            <a:avLst>
              <a:gd name="adj" fmla="val 1860"/>
            </a:avLst>
          </a:prstGeom>
          <a:solidFill xmlns:a="http://schemas.openxmlformats.org/drawingml/2006/main">
            <a:srgbClr val="DDD8D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993FA97E-D440-4A40-AFC0-643AB0B32332}"/>
              </a:ext>
            </a:extLst>
          </p:cNvPr>
          <p:cNvSpPr>
            <a:spLocks xmlns:a="http://schemas.openxmlformats.org/drawingml/2006/main" noGrp="1"/>
          </p:cNvSpPr>
          <p:nvPr/>
        </p:nvSpPr>
        <p:spPr>
          <a:xfrm xmlns:a="http://schemas.openxmlformats.org/drawingml/2006/main">
            <a:off x="857250" y="1924050"/>
            <a:ext cx="438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32" b="1">
                <a:solidFill>
                  <a:srgbClr val="242321"/>
                </a:solidFill>
                <a:latin typeface="Montserrat"/>
                <a:ea typeface="Montserrat"/>
                <a:cs typeface="Montserrat"/>
              </a:defRPr>
            </a:defPPr>
            <a:lvl1pPr>
              <a:defRPr sz="1932" b="1">
                <a:solidFill>
                  <a:srgbClr val="242321"/>
                </a:solidFill>
                <a:latin typeface="Montserrat"/>
                <a:ea typeface="Montserrat"/>
                <a:cs typeface="Montserrat"/>
              </a:defRPr>
            </a:lvl1pPr>
            <a:lvl2pPr>
              <a:defRPr sz="1932" b="1">
                <a:solidFill>
                  <a:srgbClr val="242321"/>
                </a:solidFill>
                <a:latin typeface="Montserrat"/>
                <a:ea typeface="Montserrat"/>
                <a:cs typeface="Montserrat"/>
              </a:defRPr>
            </a:lvl2pPr>
            <a:lvl3pPr>
              <a:defRPr sz="1932" b="1">
                <a:solidFill>
                  <a:srgbClr val="242321"/>
                </a:solidFill>
                <a:latin typeface="Montserrat"/>
                <a:ea typeface="Montserrat"/>
                <a:cs typeface="Montserrat"/>
              </a:defRPr>
            </a:lvl3pPr>
            <a:lvl4pPr>
              <a:defRPr sz="1932" b="1">
                <a:solidFill>
                  <a:srgbClr val="242321"/>
                </a:solidFill>
                <a:latin typeface="Montserrat"/>
                <a:ea typeface="Montserrat"/>
                <a:cs typeface="Montserrat"/>
              </a:defRPr>
            </a:lvl4pPr>
            <a:lvl5pPr>
              <a:defRPr sz="1932" b="1">
                <a:solidFill>
                  <a:srgbClr val="242321"/>
                </a:solidFill>
                <a:latin typeface="Montserrat"/>
                <a:ea typeface="Montserrat"/>
                <a:cs typeface="Montserrat"/>
              </a:defRPr>
            </a:lvl5pPr>
            <a:lvl6pPr>
              <a:defRPr sz="1932" b="1">
                <a:solidFill>
                  <a:srgbClr val="242321"/>
                </a:solidFill>
                <a:latin typeface="Montserrat"/>
                <a:ea typeface="Montserrat"/>
                <a:cs typeface="Montserrat"/>
              </a:defRPr>
            </a:lvl6pPr>
            <a:lvl7pPr>
              <a:defRPr sz="1932" b="1">
                <a:solidFill>
                  <a:srgbClr val="242321"/>
                </a:solidFill>
                <a:latin typeface="Montserrat"/>
                <a:ea typeface="Montserrat"/>
                <a:cs typeface="Montserrat"/>
              </a:defRPr>
            </a:lvl7pPr>
            <a:lvl8pPr>
              <a:defRPr sz="1932" b="1">
                <a:solidFill>
                  <a:srgbClr val="242321"/>
                </a:solidFill>
                <a:latin typeface="Montserrat"/>
                <a:ea typeface="Montserrat"/>
                <a:cs typeface="Montserrat"/>
              </a:defRPr>
            </a:lvl8pPr>
            <a:lvl9pPr>
              <a:defRPr sz="1932" b="1">
                <a:solidFill>
                  <a:srgbClr val="242321"/>
                </a:solidFill>
                <a:latin typeface="Montserrat"/>
                <a:ea typeface="Montserrat"/>
                <a:cs typeface="Montserrat"/>
              </a:defRPr>
            </a:lvl9pPr>
          </a:lstStyle>
          <a:p xmlns:a="http://schemas.openxmlformats.org/drawingml/2006/main">
            <a:pPr>
              <a:defRPr sz="1932" b="1">
                <a:solidFill>
                  <a:srgbClr val="242321"/>
                </a:solidFill>
                <a:latin typeface="Montserrat"/>
                <a:ea typeface="Montserrat"/>
                <a:cs typeface="Montserrat"/>
              </a:defRPr>
            </a:pPr>
            <a:r>
              <a:rPr sz="1932" b="1">
                <a:solidFill>
                  <a:srgbClr val="242321"/>
                </a:solidFill>
                <a:latin typeface="Montserrat"/>
                <a:ea typeface="Montserrat"/>
                <a:cs typeface="Montserrat"/>
              </a:rPr>
              <a:t>VENTES</a:t>
            </a:r>
          </a:p>
        </p:txBody>
      </p:sp>
      <p:sp>
        <p:nvSpPr>
          <p:cNvPr id="9" name="">
            <a:extLst xmlns:a="http://schemas.openxmlformats.org/drawingml/2006/main">
              <a:ext uri="{FF2B5EF4-FFF2-40B4-BE49-F238E27FC236}">
                <a16:creationId xmlns:a16="http://schemas.microsoft.com/office/drawing/2014/main" id="{1A29B5E4-1A1E-49B4-A024-F3F139647B47}"/>
              </a:ext>
            </a:extLst>
          </p:cNvPr>
          <p:cNvSpPr>
            <a:spLocks xmlns:a="http://schemas.openxmlformats.org/drawingml/2006/main" noGrp="1"/>
          </p:cNvSpPr>
          <p:nvPr/>
        </p:nvSpPr>
        <p:spPr>
          <a:xfrm xmlns:a="http://schemas.openxmlformats.org/drawingml/2006/main">
            <a:off x="5953125" y="1924050"/>
            <a:ext cx="538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32" b="1">
                <a:solidFill>
                  <a:srgbClr val="242321"/>
                </a:solidFill>
                <a:latin typeface="Montserrat"/>
                <a:ea typeface="Montserrat"/>
                <a:cs typeface="Montserrat"/>
              </a:defRPr>
            </a:defPPr>
            <a:lvl1pPr>
              <a:defRPr sz="1932" b="1">
                <a:solidFill>
                  <a:srgbClr val="242321"/>
                </a:solidFill>
                <a:latin typeface="Montserrat"/>
                <a:ea typeface="Montserrat"/>
                <a:cs typeface="Montserrat"/>
              </a:defRPr>
            </a:lvl1pPr>
            <a:lvl2pPr>
              <a:defRPr sz="1932" b="1">
                <a:solidFill>
                  <a:srgbClr val="242321"/>
                </a:solidFill>
                <a:latin typeface="Montserrat"/>
                <a:ea typeface="Montserrat"/>
                <a:cs typeface="Montserrat"/>
              </a:defRPr>
            </a:lvl2pPr>
            <a:lvl3pPr>
              <a:defRPr sz="1932" b="1">
                <a:solidFill>
                  <a:srgbClr val="242321"/>
                </a:solidFill>
                <a:latin typeface="Montserrat"/>
                <a:ea typeface="Montserrat"/>
                <a:cs typeface="Montserrat"/>
              </a:defRPr>
            </a:lvl3pPr>
            <a:lvl4pPr>
              <a:defRPr sz="1932" b="1">
                <a:solidFill>
                  <a:srgbClr val="242321"/>
                </a:solidFill>
                <a:latin typeface="Montserrat"/>
                <a:ea typeface="Montserrat"/>
                <a:cs typeface="Montserrat"/>
              </a:defRPr>
            </a:lvl4pPr>
            <a:lvl5pPr>
              <a:defRPr sz="1932" b="1">
                <a:solidFill>
                  <a:srgbClr val="242321"/>
                </a:solidFill>
                <a:latin typeface="Montserrat"/>
                <a:ea typeface="Montserrat"/>
                <a:cs typeface="Montserrat"/>
              </a:defRPr>
            </a:lvl5pPr>
            <a:lvl6pPr>
              <a:defRPr sz="1932" b="1">
                <a:solidFill>
                  <a:srgbClr val="242321"/>
                </a:solidFill>
                <a:latin typeface="Montserrat"/>
                <a:ea typeface="Montserrat"/>
                <a:cs typeface="Montserrat"/>
              </a:defRPr>
            </a:lvl6pPr>
            <a:lvl7pPr>
              <a:defRPr sz="1932" b="1">
                <a:solidFill>
                  <a:srgbClr val="242321"/>
                </a:solidFill>
                <a:latin typeface="Montserrat"/>
                <a:ea typeface="Montserrat"/>
                <a:cs typeface="Montserrat"/>
              </a:defRPr>
            </a:lvl7pPr>
            <a:lvl8pPr>
              <a:defRPr sz="1932" b="1">
                <a:solidFill>
                  <a:srgbClr val="242321"/>
                </a:solidFill>
                <a:latin typeface="Montserrat"/>
                <a:ea typeface="Montserrat"/>
                <a:cs typeface="Montserrat"/>
              </a:defRPr>
            </a:lvl8pPr>
            <a:lvl9pPr>
              <a:defRPr sz="1932" b="1">
                <a:solidFill>
                  <a:srgbClr val="242321"/>
                </a:solidFill>
                <a:latin typeface="Montserrat"/>
                <a:ea typeface="Montserrat"/>
                <a:cs typeface="Montserrat"/>
              </a:defRPr>
            </a:lvl9pPr>
          </a:lstStyle>
          <a:p xmlns:a="http://schemas.openxmlformats.org/drawingml/2006/main">
            <a:pPr>
              <a:defRPr sz="1932" b="1">
                <a:solidFill>
                  <a:srgbClr val="242321"/>
                </a:solidFill>
                <a:latin typeface="Montserrat"/>
                <a:ea typeface="Montserrat"/>
                <a:cs typeface="Montserrat"/>
              </a:defRPr>
            </a:pPr>
            <a:r>
              <a:rPr sz="1932" b="1">
                <a:solidFill>
                  <a:srgbClr val="242321"/>
                </a:solidFill>
                <a:latin typeface="Montserrat"/>
                <a:ea typeface="Montserrat"/>
                <a:cs typeface="Montserrat"/>
              </a:rPr>
              <a:t>RELATION CLIENT</a:t>
            </a:r>
          </a:p>
        </p:txBody>
      </p:sp>
      <p:sp>
        <p:nvSpPr>
          <p:cNvPr id="10" name="">
            <a:extLst xmlns:a="http://schemas.openxmlformats.org/drawingml/2006/main">
              <a:ext uri="{FF2B5EF4-FFF2-40B4-BE49-F238E27FC236}">
                <a16:creationId xmlns:a16="http://schemas.microsoft.com/office/drawing/2014/main" id="{9880ED1B-8B88-499B-92E3-AF5BE107A237}"/>
              </a:ext>
            </a:extLst>
          </p:cNvPr>
          <p:cNvSpPr>
            <a:spLocks xmlns:a="http://schemas.openxmlformats.org/drawingml/2006/main" noGrp="1"/>
          </p:cNvSpPr>
          <p:nvPr/>
        </p:nvSpPr>
        <p:spPr>
          <a:xfrm xmlns:a="http://schemas.openxmlformats.org/drawingml/2006/main">
            <a:off x="857250" y="2571750"/>
            <a:ext cx="433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Montant net des ventes</a:t>
            </a:r>
          </a:p>
        </p:txBody>
      </p:sp>
      <p:sp>
        <p:nvSpPr>
          <p:cNvPr id="11" name="">
            <a:extLst xmlns:a="http://schemas.openxmlformats.org/drawingml/2006/main">
              <a:ext uri="{FF2B5EF4-FFF2-40B4-BE49-F238E27FC236}">
                <a16:creationId xmlns:a16="http://schemas.microsoft.com/office/drawing/2014/main" id="{0B3649A0-8F66-4F16-BBA1-D2987E68FD7D}"/>
              </a:ext>
            </a:extLst>
          </p:cNvPr>
          <p:cNvSpPr>
            <a:spLocks xmlns:a="http://schemas.openxmlformats.org/drawingml/2006/main" noGrp="1"/>
          </p:cNvSpPr>
          <p:nvPr/>
        </p:nvSpPr>
        <p:spPr>
          <a:xfrm xmlns:a="http://schemas.openxmlformats.org/drawingml/2006/main">
            <a:off x="857250" y="2914650"/>
            <a:ext cx="433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242321"/>
                </a:solidFill>
                <a:latin typeface="Montserrat"/>
                <a:ea typeface="Montserrat"/>
                <a:cs typeface="Montserrat"/>
              </a:defRPr>
            </a:defPPr>
            <a:lvl1pPr>
              <a:defRPr sz="1575" b="0">
                <a:solidFill>
                  <a:srgbClr val="242321"/>
                </a:solidFill>
                <a:latin typeface="Montserrat"/>
                <a:ea typeface="Montserrat"/>
                <a:cs typeface="Montserrat"/>
              </a:defRPr>
            </a:lvl1pPr>
            <a:lvl2pPr>
              <a:defRPr sz="1575" b="0">
                <a:solidFill>
                  <a:srgbClr val="242321"/>
                </a:solidFill>
                <a:latin typeface="Montserrat"/>
                <a:ea typeface="Montserrat"/>
                <a:cs typeface="Montserrat"/>
              </a:defRPr>
            </a:lvl2pPr>
            <a:lvl3pPr>
              <a:defRPr sz="1575" b="0">
                <a:solidFill>
                  <a:srgbClr val="242321"/>
                </a:solidFill>
                <a:latin typeface="Montserrat"/>
                <a:ea typeface="Montserrat"/>
                <a:cs typeface="Montserrat"/>
              </a:defRPr>
            </a:lvl3pPr>
            <a:lvl4pPr>
              <a:defRPr sz="1575" b="0">
                <a:solidFill>
                  <a:srgbClr val="242321"/>
                </a:solidFill>
                <a:latin typeface="Montserrat"/>
                <a:ea typeface="Montserrat"/>
                <a:cs typeface="Montserrat"/>
              </a:defRPr>
            </a:lvl4pPr>
            <a:lvl5pPr>
              <a:defRPr sz="1575" b="0">
                <a:solidFill>
                  <a:srgbClr val="242321"/>
                </a:solidFill>
                <a:latin typeface="Montserrat"/>
                <a:ea typeface="Montserrat"/>
                <a:cs typeface="Montserrat"/>
              </a:defRPr>
            </a:lvl5pPr>
            <a:lvl6pPr>
              <a:defRPr sz="1575" b="0">
                <a:solidFill>
                  <a:srgbClr val="242321"/>
                </a:solidFill>
                <a:latin typeface="Montserrat"/>
                <a:ea typeface="Montserrat"/>
                <a:cs typeface="Montserrat"/>
              </a:defRPr>
            </a:lvl6pPr>
            <a:lvl7pPr>
              <a:defRPr sz="1575" b="0">
                <a:solidFill>
                  <a:srgbClr val="242321"/>
                </a:solidFill>
                <a:latin typeface="Montserrat"/>
                <a:ea typeface="Montserrat"/>
                <a:cs typeface="Montserrat"/>
              </a:defRPr>
            </a:lvl7pPr>
            <a:lvl8pPr>
              <a:defRPr sz="1575" b="0">
                <a:solidFill>
                  <a:srgbClr val="242321"/>
                </a:solidFill>
                <a:latin typeface="Montserrat"/>
                <a:ea typeface="Montserrat"/>
                <a:cs typeface="Montserrat"/>
              </a:defRPr>
            </a:lvl8pPr>
            <a:lvl9pPr>
              <a:defRPr sz="1575" b="0">
                <a:solidFill>
                  <a:srgbClr val="242321"/>
                </a:solidFill>
                <a:latin typeface="Montserrat"/>
                <a:ea typeface="Montserrat"/>
                <a:cs typeface="Montserrat"/>
              </a:defRPr>
            </a:lvl9pPr>
          </a:lstStyle>
          <a:p xmlns:a="http://schemas.openxmlformats.org/drawingml/2006/main">
            <a:pPr>
              <a:defRPr sz="1575" b="0">
                <a:solidFill>
                  <a:srgbClr val="242321"/>
                </a:solidFill>
                <a:latin typeface="Montserrat"/>
                <a:ea typeface="Montserrat"/>
                <a:cs typeface="Montserrat"/>
              </a:defRPr>
            </a:pPr>
            <a:r>
              <a:rPr sz="1575" b="0">
                <a:solidFill>
                  <a:srgbClr val="242321"/>
                </a:solidFill>
                <a:latin typeface="Montserrat"/>
                <a:ea typeface="Montserrat"/>
                <a:cs typeface="Montserrat"/>
              </a:rPr>
              <a:t>Après remises et remboursements</a:t>
            </a:r>
          </a:p>
        </p:txBody>
      </p:sp>
      <p:sp>
        <p:nvSpPr>
          <p:cNvPr id="12" name="">
            <a:extLst xmlns:a="http://schemas.openxmlformats.org/drawingml/2006/main">
              <a:ext uri="{FF2B5EF4-FFF2-40B4-BE49-F238E27FC236}">
                <a16:creationId xmlns:a16="http://schemas.microsoft.com/office/drawing/2014/main" id="{06B87437-6170-4530-9302-ACBF5BD19EA5}"/>
              </a:ext>
            </a:extLst>
          </p:cNvPr>
          <p:cNvSpPr>
            <a:spLocks xmlns:a="http://schemas.openxmlformats.org/drawingml/2006/main" noGrp="1"/>
          </p:cNvSpPr>
          <p:nvPr/>
        </p:nvSpPr>
        <p:spPr>
          <a:xfrm xmlns:a="http://schemas.openxmlformats.org/drawingml/2006/main">
            <a:off x="857250" y="3333750"/>
            <a:ext cx="433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Nombre de commandes</a:t>
            </a:r>
          </a:p>
        </p:txBody>
      </p:sp>
      <p:sp>
        <p:nvSpPr>
          <p:cNvPr id="13" name="">
            <a:extLst xmlns:a="http://schemas.openxmlformats.org/drawingml/2006/main">
              <a:ext uri="{FF2B5EF4-FFF2-40B4-BE49-F238E27FC236}">
                <a16:creationId xmlns:a16="http://schemas.microsoft.com/office/drawing/2014/main" id="{8F77FB0A-1675-41BC-8C50-4DFB4916D6BC}"/>
              </a:ext>
            </a:extLst>
          </p:cNvPr>
          <p:cNvSpPr>
            <a:spLocks xmlns:a="http://schemas.openxmlformats.org/drawingml/2006/main" noGrp="1"/>
          </p:cNvSpPr>
          <p:nvPr/>
        </p:nvSpPr>
        <p:spPr>
          <a:xfrm xmlns:a="http://schemas.openxmlformats.org/drawingml/2006/main">
            <a:off x="857250" y="3676650"/>
            <a:ext cx="433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242321"/>
                </a:solidFill>
                <a:latin typeface="Montserrat"/>
                <a:ea typeface="Montserrat"/>
                <a:cs typeface="Montserrat"/>
              </a:defRPr>
            </a:defPPr>
            <a:lvl1pPr>
              <a:defRPr sz="1575" b="0">
                <a:solidFill>
                  <a:srgbClr val="242321"/>
                </a:solidFill>
                <a:latin typeface="Montserrat"/>
                <a:ea typeface="Montserrat"/>
                <a:cs typeface="Montserrat"/>
              </a:defRPr>
            </a:lvl1pPr>
            <a:lvl2pPr>
              <a:defRPr sz="1575" b="0">
                <a:solidFill>
                  <a:srgbClr val="242321"/>
                </a:solidFill>
                <a:latin typeface="Montserrat"/>
                <a:ea typeface="Montserrat"/>
                <a:cs typeface="Montserrat"/>
              </a:defRPr>
            </a:lvl2pPr>
            <a:lvl3pPr>
              <a:defRPr sz="1575" b="0">
                <a:solidFill>
                  <a:srgbClr val="242321"/>
                </a:solidFill>
                <a:latin typeface="Montserrat"/>
                <a:ea typeface="Montserrat"/>
                <a:cs typeface="Montserrat"/>
              </a:defRPr>
            </a:lvl3pPr>
            <a:lvl4pPr>
              <a:defRPr sz="1575" b="0">
                <a:solidFill>
                  <a:srgbClr val="242321"/>
                </a:solidFill>
                <a:latin typeface="Montserrat"/>
                <a:ea typeface="Montserrat"/>
                <a:cs typeface="Montserrat"/>
              </a:defRPr>
            </a:lvl4pPr>
            <a:lvl5pPr>
              <a:defRPr sz="1575" b="0">
                <a:solidFill>
                  <a:srgbClr val="242321"/>
                </a:solidFill>
                <a:latin typeface="Montserrat"/>
                <a:ea typeface="Montserrat"/>
                <a:cs typeface="Montserrat"/>
              </a:defRPr>
            </a:lvl5pPr>
            <a:lvl6pPr>
              <a:defRPr sz="1575" b="0">
                <a:solidFill>
                  <a:srgbClr val="242321"/>
                </a:solidFill>
                <a:latin typeface="Montserrat"/>
                <a:ea typeface="Montserrat"/>
                <a:cs typeface="Montserrat"/>
              </a:defRPr>
            </a:lvl6pPr>
            <a:lvl7pPr>
              <a:defRPr sz="1575" b="0">
                <a:solidFill>
                  <a:srgbClr val="242321"/>
                </a:solidFill>
                <a:latin typeface="Montserrat"/>
                <a:ea typeface="Montserrat"/>
                <a:cs typeface="Montserrat"/>
              </a:defRPr>
            </a:lvl7pPr>
            <a:lvl8pPr>
              <a:defRPr sz="1575" b="0">
                <a:solidFill>
                  <a:srgbClr val="242321"/>
                </a:solidFill>
                <a:latin typeface="Montserrat"/>
                <a:ea typeface="Montserrat"/>
                <a:cs typeface="Montserrat"/>
              </a:defRPr>
            </a:lvl8pPr>
            <a:lvl9pPr>
              <a:defRPr sz="1575" b="0">
                <a:solidFill>
                  <a:srgbClr val="242321"/>
                </a:solidFill>
                <a:latin typeface="Montserrat"/>
                <a:ea typeface="Montserrat"/>
                <a:cs typeface="Montserrat"/>
              </a:defRPr>
            </a:lvl9pPr>
          </a:lstStyle>
          <a:p xmlns:a="http://schemas.openxmlformats.org/drawingml/2006/main">
            <a:pPr>
              <a:defRPr sz="1575" b="0">
                <a:solidFill>
                  <a:srgbClr val="242321"/>
                </a:solidFill>
                <a:latin typeface="Montserrat"/>
                <a:ea typeface="Montserrat"/>
                <a:cs typeface="Montserrat"/>
              </a:defRPr>
            </a:pPr>
            <a:r>
              <a:rPr sz="1575" b="0">
                <a:solidFill>
                  <a:srgbClr val="242321"/>
                </a:solidFill>
                <a:latin typeface="Montserrat"/>
                <a:ea typeface="Montserrat"/>
                <a:cs typeface="Montserrat"/>
              </a:rPr>
              <a:t>Commandes non annulées</a:t>
            </a:r>
          </a:p>
        </p:txBody>
      </p:sp>
      <p:sp>
        <p:nvSpPr>
          <p:cNvPr id="14" name="">
            <a:extLst xmlns:a="http://schemas.openxmlformats.org/drawingml/2006/main">
              <a:ext uri="{FF2B5EF4-FFF2-40B4-BE49-F238E27FC236}">
                <a16:creationId xmlns:a16="http://schemas.microsoft.com/office/drawing/2014/main" id="{98F6457C-0927-4304-AA92-702B30A5E713}"/>
              </a:ext>
            </a:extLst>
          </p:cNvPr>
          <p:cNvSpPr>
            <a:spLocks xmlns:a="http://schemas.openxmlformats.org/drawingml/2006/main" noGrp="1"/>
          </p:cNvSpPr>
          <p:nvPr/>
        </p:nvSpPr>
        <p:spPr>
          <a:xfrm xmlns:a="http://schemas.openxmlformats.org/drawingml/2006/main">
            <a:off x="857250" y="4095750"/>
            <a:ext cx="433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Panier moyen</a:t>
            </a:r>
          </a:p>
        </p:txBody>
      </p:sp>
      <p:sp>
        <p:nvSpPr>
          <p:cNvPr id="15" name="">
            <a:extLst xmlns:a="http://schemas.openxmlformats.org/drawingml/2006/main">
              <a:ext uri="{FF2B5EF4-FFF2-40B4-BE49-F238E27FC236}">
                <a16:creationId xmlns:a16="http://schemas.microsoft.com/office/drawing/2014/main" id="{FC8E2433-59B2-40C4-B422-AF4358A56BE9}"/>
              </a:ext>
            </a:extLst>
          </p:cNvPr>
          <p:cNvSpPr>
            <a:spLocks xmlns:a="http://schemas.openxmlformats.org/drawingml/2006/main" noGrp="1"/>
          </p:cNvSpPr>
          <p:nvPr/>
        </p:nvSpPr>
        <p:spPr>
          <a:xfrm xmlns:a="http://schemas.openxmlformats.org/drawingml/2006/main">
            <a:off x="857250" y="4438650"/>
            <a:ext cx="433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242321"/>
                </a:solidFill>
                <a:latin typeface="Montserrat"/>
                <a:ea typeface="Montserrat"/>
                <a:cs typeface="Montserrat"/>
              </a:defRPr>
            </a:defPPr>
            <a:lvl1pPr>
              <a:defRPr sz="1575" b="0">
                <a:solidFill>
                  <a:srgbClr val="242321"/>
                </a:solidFill>
                <a:latin typeface="Montserrat"/>
                <a:ea typeface="Montserrat"/>
                <a:cs typeface="Montserrat"/>
              </a:defRPr>
            </a:lvl1pPr>
            <a:lvl2pPr>
              <a:defRPr sz="1575" b="0">
                <a:solidFill>
                  <a:srgbClr val="242321"/>
                </a:solidFill>
                <a:latin typeface="Montserrat"/>
                <a:ea typeface="Montserrat"/>
                <a:cs typeface="Montserrat"/>
              </a:defRPr>
            </a:lvl2pPr>
            <a:lvl3pPr>
              <a:defRPr sz="1575" b="0">
                <a:solidFill>
                  <a:srgbClr val="242321"/>
                </a:solidFill>
                <a:latin typeface="Montserrat"/>
                <a:ea typeface="Montserrat"/>
                <a:cs typeface="Montserrat"/>
              </a:defRPr>
            </a:lvl3pPr>
            <a:lvl4pPr>
              <a:defRPr sz="1575" b="0">
                <a:solidFill>
                  <a:srgbClr val="242321"/>
                </a:solidFill>
                <a:latin typeface="Montserrat"/>
                <a:ea typeface="Montserrat"/>
                <a:cs typeface="Montserrat"/>
              </a:defRPr>
            </a:lvl4pPr>
            <a:lvl5pPr>
              <a:defRPr sz="1575" b="0">
                <a:solidFill>
                  <a:srgbClr val="242321"/>
                </a:solidFill>
                <a:latin typeface="Montserrat"/>
                <a:ea typeface="Montserrat"/>
                <a:cs typeface="Montserrat"/>
              </a:defRPr>
            </a:lvl5pPr>
            <a:lvl6pPr>
              <a:defRPr sz="1575" b="0">
                <a:solidFill>
                  <a:srgbClr val="242321"/>
                </a:solidFill>
                <a:latin typeface="Montserrat"/>
                <a:ea typeface="Montserrat"/>
                <a:cs typeface="Montserrat"/>
              </a:defRPr>
            </a:lvl6pPr>
            <a:lvl7pPr>
              <a:defRPr sz="1575" b="0">
                <a:solidFill>
                  <a:srgbClr val="242321"/>
                </a:solidFill>
                <a:latin typeface="Montserrat"/>
                <a:ea typeface="Montserrat"/>
                <a:cs typeface="Montserrat"/>
              </a:defRPr>
            </a:lvl7pPr>
            <a:lvl8pPr>
              <a:defRPr sz="1575" b="0">
                <a:solidFill>
                  <a:srgbClr val="242321"/>
                </a:solidFill>
                <a:latin typeface="Montserrat"/>
                <a:ea typeface="Montserrat"/>
                <a:cs typeface="Montserrat"/>
              </a:defRPr>
            </a:lvl8pPr>
            <a:lvl9pPr>
              <a:defRPr sz="1575" b="0">
                <a:solidFill>
                  <a:srgbClr val="242321"/>
                </a:solidFill>
                <a:latin typeface="Montserrat"/>
                <a:ea typeface="Montserrat"/>
                <a:cs typeface="Montserrat"/>
              </a:defRPr>
            </a:lvl9pPr>
          </a:lstStyle>
          <a:p xmlns:a="http://schemas.openxmlformats.org/drawingml/2006/main">
            <a:pPr>
              <a:defRPr sz="1575" b="0">
                <a:solidFill>
                  <a:srgbClr val="242321"/>
                </a:solidFill>
                <a:latin typeface="Montserrat"/>
                <a:ea typeface="Montserrat"/>
                <a:cs typeface="Montserrat"/>
              </a:defRPr>
            </a:pPr>
            <a:r>
              <a:rPr sz="1575" b="0">
                <a:solidFill>
                  <a:srgbClr val="242321"/>
                </a:solidFill>
                <a:latin typeface="Montserrat"/>
                <a:ea typeface="Montserrat"/>
                <a:cs typeface="Montserrat"/>
              </a:rPr>
              <a:t>Montant net par commande</a:t>
            </a:r>
          </a:p>
        </p:txBody>
      </p:sp>
      <p:sp>
        <p:nvSpPr>
          <p:cNvPr id="16" name="">
            <a:extLst xmlns:a="http://schemas.openxmlformats.org/drawingml/2006/main">
              <a:ext uri="{FF2B5EF4-FFF2-40B4-BE49-F238E27FC236}">
                <a16:creationId xmlns:a16="http://schemas.microsoft.com/office/drawing/2014/main" id="{7C4FBBCC-D726-4276-B0D3-BDCBAC3B630C}"/>
              </a:ext>
            </a:extLst>
          </p:cNvPr>
          <p:cNvSpPr>
            <a:spLocks xmlns:a="http://schemas.openxmlformats.org/drawingml/2006/main" noGrp="1"/>
          </p:cNvSpPr>
          <p:nvPr/>
        </p:nvSpPr>
        <p:spPr>
          <a:xfrm xmlns:a="http://schemas.openxmlformats.org/drawingml/2006/main">
            <a:off x="857250" y="4857750"/>
            <a:ext cx="433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Taux d’achat répété</a:t>
            </a:r>
          </a:p>
        </p:txBody>
      </p:sp>
      <p:sp>
        <p:nvSpPr>
          <p:cNvPr id="17" name="">
            <a:extLst xmlns:a="http://schemas.openxmlformats.org/drawingml/2006/main">
              <a:ext uri="{FF2B5EF4-FFF2-40B4-BE49-F238E27FC236}">
                <a16:creationId xmlns:a16="http://schemas.microsoft.com/office/drawing/2014/main" id="{58823D33-1723-4A39-9280-ABDD5045EF93}"/>
              </a:ext>
            </a:extLst>
          </p:cNvPr>
          <p:cNvSpPr>
            <a:spLocks xmlns:a="http://schemas.openxmlformats.org/drawingml/2006/main" noGrp="1"/>
          </p:cNvSpPr>
          <p:nvPr/>
        </p:nvSpPr>
        <p:spPr>
          <a:xfrm xmlns:a="http://schemas.openxmlformats.org/drawingml/2006/main">
            <a:off x="857250" y="5200650"/>
            <a:ext cx="433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242321"/>
                </a:solidFill>
                <a:latin typeface="Montserrat"/>
                <a:ea typeface="Montserrat"/>
                <a:cs typeface="Montserrat"/>
              </a:defRPr>
            </a:defPPr>
            <a:lvl1pPr>
              <a:defRPr sz="1575" b="0">
                <a:solidFill>
                  <a:srgbClr val="242321"/>
                </a:solidFill>
                <a:latin typeface="Montserrat"/>
                <a:ea typeface="Montserrat"/>
                <a:cs typeface="Montserrat"/>
              </a:defRPr>
            </a:lvl1pPr>
            <a:lvl2pPr>
              <a:defRPr sz="1575" b="0">
                <a:solidFill>
                  <a:srgbClr val="242321"/>
                </a:solidFill>
                <a:latin typeface="Montserrat"/>
                <a:ea typeface="Montserrat"/>
                <a:cs typeface="Montserrat"/>
              </a:defRPr>
            </a:lvl2pPr>
            <a:lvl3pPr>
              <a:defRPr sz="1575" b="0">
                <a:solidFill>
                  <a:srgbClr val="242321"/>
                </a:solidFill>
                <a:latin typeface="Montserrat"/>
                <a:ea typeface="Montserrat"/>
                <a:cs typeface="Montserrat"/>
              </a:defRPr>
            </a:lvl3pPr>
            <a:lvl4pPr>
              <a:defRPr sz="1575" b="0">
                <a:solidFill>
                  <a:srgbClr val="242321"/>
                </a:solidFill>
                <a:latin typeface="Montserrat"/>
                <a:ea typeface="Montserrat"/>
                <a:cs typeface="Montserrat"/>
              </a:defRPr>
            </a:lvl4pPr>
            <a:lvl5pPr>
              <a:defRPr sz="1575" b="0">
                <a:solidFill>
                  <a:srgbClr val="242321"/>
                </a:solidFill>
                <a:latin typeface="Montserrat"/>
                <a:ea typeface="Montserrat"/>
                <a:cs typeface="Montserrat"/>
              </a:defRPr>
            </a:lvl5pPr>
            <a:lvl6pPr>
              <a:defRPr sz="1575" b="0">
                <a:solidFill>
                  <a:srgbClr val="242321"/>
                </a:solidFill>
                <a:latin typeface="Montserrat"/>
                <a:ea typeface="Montserrat"/>
                <a:cs typeface="Montserrat"/>
              </a:defRPr>
            </a:lvl6pPr>
            <a:lvl7pPr>
              <a:defRPr sz="1575" b="0">
                <a:solidFill>
                  <a:srgbClr val="242321"/>
                </a:solidFill>
                <a:latin typeface="Montserrat"/>
                <a:ea typeface="Montserrat"/>
                <a:cs typeface="Montserrat"/>
              </a:defRPr>
            </a:lvl7pPr>
            <a:lvl8pPr>
              <a:defRPr sz="1575" b="0">
                <a:solidFill>
                  <a:srgbClr val="242321"/>
                </a:solidFill>
                <a:latin typeface="Montserrat"/>
                <a:ea typeface="Montserrat"/>
                <a:cs typeface="Montserrat"/>
              </a:defRPr>
            </a:lvl8pPr>
            <a:lvl9pPr>
              <a:defRPr sz="1575" b="0">
                <a:solidFill>
                  <a:srgbClr val="242321"/>
                </a:solidFill>
                <a:latin typeface="Montserrat"/>
                <a:ea typeface="Montserrat"/>
                <a:cs typeface="Montserrat"/>
              </a:defRPr>
            </a:lvl9pPr>
          </a:lstStyle>
          <a:p xmlns:a="http://schemas.openxmlformats.org/drawingml/2006/main">
            <a:pPr>
              <a:defRPr sz="1575" b="0">
                <a:solidFill>
                  <a:srgbClr val="242321"/>
                </a:solidFill>
                <a:latin typeface="Montserrat"/>
                <a:ea typeface="Montserrat"/>
                <a:cs typeface="Montserrat"/>
              </a:defRPr>
            </a:pPr>
            <a:r>
              <a:rPr sz="1575" b="0">
                <a:solidFill>
                  <a:srgbClr val="242321"/>
                </a:solidFill>
                <a:latin typeface="Montserrat"/>
                <a:ea typeface="Montserrat"/>
                <a:cs typeface="Montserrat"/>
              </a:rPr>
              <a:t>Acheteurs avec au moins deux commandes</a:t>
            </a:r>
          </a:p>
        </p:txBody>
      </p:sp>
      <p:sp>
        <p:nvSpPr>
          <p:cNvPr id="18" name="">
            <a:extLst xmlns:a="http://schemas.openxmlformats.org/drawingml/2006/main">
              <a:ext uri="{FF2B5EF4-FFF2-40B4-BE49-F238E27FC236}">
                <a16:creationId xmlns:a16="http://schemas.microsoft.com/office/drawing/2014/main" id="{69C6BB8D-BA59-407C-9F61-DE65EF12EA20}"/>
              </a:ext>
            </a:extLst>
          </p:cNvPr>
          <p:cNvSpPr>
            <a:spLocks xmlns:a="http://schemas.openxmlformats.org/drawingml/2006/main" noGrp="1"/>
          </p:cNvSpPr>
          <p:nvPr/>
        </p:nvSpPr>
        <p:spPr>
          <a:xfrm xmlns:a="http://schemas.openxmlformats.org/drawingml/2006/main">
            <a:off x="5953125" y="252412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Nombre de clients</a:t>
            </a:r>
          </a:p>
        </p:txBody>
      </p:sp>
      <p:sp>
        <p:nvSpPr>
          <p:cNvPr id="19" name="">
            <a:extLst xmlns:a="http://schemas.openxmlformats.org/drawingml/2006/main">
              <a:ext uri="{FF2B5EF4-FFF2-40B4-BE49-F238E27FC236}">
                <a16:creationId xmlns:a16="http://schemas.microsoft.com/office/drawing/2014/main" id="{181CA30C-5898-45C5-B847-B7F2FC94E582}"/>
              </a:ext>
            </a:extLst>
          </p:cNvPr>
          <p:cNvSpPr>
            <a:spLocks xmlns:a="http://schemas.openxmlformats.org/drawingml/2006/main" noGrp="1"/>
          </p:cNvSpPr>
          <p:nvPr/>
        </p:nvSpPr>
        <p:spPr>
          <a:xfrm xmlns:a="http://schemas.openxmlformats.org/drawingml/2006/main">
            <a:off x="5953125" y="3067050"/>
            <a:ext cx="2619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Taille de la base CRM</a:t>
            </a:r>
          </a:p>
        </p:txBody>
      </p:sp>
      <p:sp>
        <p:nvSpPr>
          <p:cNvPr id="20" name="">
            <a:extLst xmlns:a="http://schemas.openxmlformats.org/drawingml/2006/main">
              <a:ext uri="{FF2B5EF4-FFF2-40B4-BE49-F238E27FC236}">
                <a16:creationId xmlns:a16="http://schemas.microsoft.com/office/drawing/2014/main" id="{F10D530F-4481-44A0-BF15-BED0A923471D}"/>
              </a:ext>
            </a:extLst>
          </p:cNvPr>
          <p:cNvSpPr>
            <a:spLocks xmlns:a="http://schemas.openxmlformats.org/drawingml/2006/main" noGrp="1"/>
          </p:cNvSpPr>
          <p:nvPr/>
        </p:nvSpPr>
        <p:spPr>
          <a:xfrm xmlns:a="http://schemas.openxmlformats.org/drawingml/2006/main">
            <a:off x="5953125" y="357187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Volume de tickets</a:t>
            </a:r>
          </a:p>
        </p:txBody>
      </p:sp>
      <p:sp>
        <p:nvSpPr>
          <p:cNvPr id="21" name="">
            <a:extLst xmlns:a="http://schemas.openxmlformats.org/drawingml/2006/main">
              <a:ext uri="{FF2B5EF4-FFF2-40B4-BE49-F238E27FC236}">
                <a16:creationId xmlns:a16="http://schemas.microsoft.com/office/drawing/2014/main" id="{A1B6617F-7972-4578-A6F9-6F95BE35B230}"/>
              </a:ext>
            </a:extLst>
          </p:cNvPr>
          <p:cNvSpPr>
            <a:spLocks xmlns:a="http://schemas.openxmlformats.org/drawingml/2006/main" noGrp="1"/>
          </p:cNvSpPr>
          <p:nvPr/>
        </p:nvSpPr>
        <p:spPr>
          <a:xfrm xmlns:a="http://schemas.openxmlformats.org/drawingml/2006/main">
            <a:off x="5953125" y="4114800"/>
            <a:ext cx="2619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Nombre de demandes au service client</a:t>
            </a:r>
          </a:p>
        </p:txBody>
      </p:sp>
      <p:sp>
        <p:nvSpPr>
          <p:cNvPr id="22" name="">
            <a:extLst xmlns:a="http://schemas.openxmlformats.org/drawingml/2006/main">
              <a:ext uri="{FF2B5EF4-FFF2-40B4-BE49-F238E27FC236}">
                <a16:creationId xmlns:a16="http://schemas.microsoft.com/office/drawing/2014/main" id="{F05E88AB-33C5-4D8C-8427-24A56FDF366F}"/>
              </a:ext>
            </a:extLst>
          </p:cNvPr>
          <p:cNvSpPr>
            <a:spLocks xmlns:a="http://schemas.openxmlformats.org/drawingml/2006/main" noGrp="1"/>
          </p:cNvSpPr>
          <p:nvPr/>
        </p:nvSpPr>
        <p:spPr>
          <a:xfrm xmlns:a="http://schemas.openxmlformats.org/drawingml/2006/main">
            <a:off x="5953125" y="461962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CSAT</a:t>
            </a:r>
          </a:p>
        </p:txBody>
      </p:sp>
      <p:sp>
        <p:nvSpPr>
          <p:cNvPr id="23" name="">
            <a:extLst xmlns:a="http://schemas.openxmlformats.org/drawingml/2006/main">
              <a:ext uri="{FF2B5EF4-FFF2-40B4-BE49-F238E27FC236}">
                <a16:creationId xmlns:a16="http://schemas.microsoft.com/office/drawing/2014/main" id="{4C024E71-D886-4EAC-909B-7EFEAB83B671}"/>
              </a:ext>
            </a:extLst>
          </p:cNvPr>
          <p:cNvSpPr>
            <a:spLocks xmlns:a="http://schemas.openxmlformats.org/drawingml/2006/main" noGrp="1"/>
          </p:cNvSpPr>
          <p:nvPr/>
        </p:nvSpPr>
        <p:spPr>
          <a:xfrm xmlns:a="http://schemas.openxmlformats.org/drawingml/2006/main">
            <a:off x="5953125" y="5162550"/>
            <a:ext cx="2619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Part des réponses valides notées 4 ou 5</a:t>
            </a:r>
          </a:p>
        </p:txBody>
      </p:sp>
      <p:sp>
        <p:nvSpPr>
          <p:cNvPr id="24" name="">
            <a:extLst xmlns:a="http://schemas.openxmlformats.org/drawingml/2006/main">
              <a:ext uri="{FF2B5EF4-FFF2-40B4-BE49-F238E27FC236}">
                <a16:creationId xmlns:a16="http://schemas.microsoft.com/office/drawing/2014/main" id="{F57D89E2-ABFF-41DF-9F87-14656E4E86C7}"/>
              </a:ext>
            </a:extLst>
          </p:cNvPr>
          <p:cNvSpPr>
            <a:spLocks xmlns:a="http://schemas.openxmlformats.org/drawingml/2006/main" noGrp="1"/>
          </p:cNvSpPr>
          <p:nvPr/>
        </p:nvSpPr>
        <p:spPr>
          <a:xfrm xmlns:a="http://schemas.openxmlformats.org/drawingml/2006/main">
            <a:off x="8715375" y="252412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Délai moyen de première réponse</a:t>
            </a:r>
          </a:p>
        </p:txBody>
      </p:sp>
      <p:sp>
        <p:nvSpPr>
          <p:cNvPr id="25" name="">
            <a:extLst xmlns:a="http://schemas.openxmlformats.org/drawingml/2006/main">
              <a:ext uri="{FF2B5EF4-FFF2-40B4-BE49-F238E27FC236}">
                <a16:creationId xmlns:a16="http://schemas.microsoft.com/office/drawing/2014/main" id="{32D1AF1E-8037-4958-84B8-0C4277A8A5FB}"/>
              </a:ext>
            </a:extLst>
          </p:cNvPr>
          <p:cNvSpPr>
            <a:spLocks xmlns:a="http://schemas.openxmlformats.org/drawingml/2006/main" noGrp="1"/>
          </p:cNvSpPr>
          <p:nvPr/>
        </p:nvSpPr>
        <p:spPr>
          <a:xfrm xmlns:a="http://schemas.openxmlformats.org/drawingml/2006/main">
            <a:off x="8715375" y="3067050"/>
            <a:ext cx="2619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Attente avant le premier retour</a:t>
            </a:r>
          </a:p>
        </p:txBody>
      </p:sp>
      <p:sp>
        <p:nvSpPr>
          <p:cNvPr id="26" name="">
            <a:extLst xmlns:a="http://schemas.openxmlformats.org/drawingml/2006/main">
              <a:ext uri="{FF2B5EF4-FFF2-40B4-BE49-F238E27FC236}">
                <a16:creationId xmlns:a16="http://schemas.microsoft.com/office/drawing/2014/main" id="{8AD9D9DD-978A-469B-9864-8AA9D55AC4C5}"/>
              </a:ext>
            </a:extLst>
          </p:cNvPr>
          <p:cNvSpPr>
            <a:spLocks xmlns:a="http://schemas.openxmlformats.org/drawingml/2006/main" noGrp="1"/>
          </p:cNvSpPr>
          <p:nvPr/>
        </p:nvSpPr>
        <p:spPr>
          <a:xfrm xmlns:a="http://schemas.openxmlformats.org/drawingml/2006/main">
            <a:off x="8715375" y="357187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Délai moyen de résolution</a:t>
            </a:r>
          </a:p>
        </p:txBody>
      </p:sp>
      <p:sp>
        <p:nvSpPr>
          <p:cNvPr id="27" name="">
            <a:extLst xmlns:a="http://schemas.openxmlformats.org/drawingml/2006/main">
              <a:ext uri="{FF2B5EF4-FFF2-40B4-BE49-F238E27FC236}">
                <a16:creationId xmlns:a16="http://schemas.microsoft.com/office/drawing/2014/main" id="{99EF852C-F7F0-410B-BB0E-AEC06B1D4224}"/>
              </a:ext>
            </a:extLst>
          </p:cNvPr>
          <p:cNvSpPr>
            <a:spLocks xmlns:a="http://schemas.openxmlformats.org/drawingml/2006/main" noGrp="1"/>
          </p:cNvSpPr>
          <p:nvPr/>
        </p:nvSpPr>
        <p:spPr>
          <a:xfrm xmlns:a="http://schemas.openxmlformats.org/drawingml/2006/main">
            <a:off x="8715375" y="4114800"/>
            <a:ext cx="2619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Temps pour clôturer la demande</a:t>
            </a:r>
          </a:p>
        </p:txBody>
      </p:sp>
      <p:sp>
        <p:nvSpPr>
          <p:cNvPr id="28" name="">
            <a:extLst xmlns:a="http://schemas.openxmlformats.org/drawingml/2006/main">
              <a:ext uri="{FF2B5EF4-FFF2-40B4-BE49-F238E27FC236}">
                <a16:creationId xmlns:a16="http://schemas.microsoft.com/office/drawing/2014/main" id="{5B28FD21-69D4-4425-9FCE-52BE4FED267A}"/>
              </a:ext>
            </a:extLst>
          </p:cNvPr>
          <p:cNvSpPr>
            <a:spLocks xmlns:a="http://schemas.openxmlformats.org/drawingml/2006/main" noGrp="1"/>
          </p:cNvSpPr>
          <p:nvPr/>
        </p:nvSpPr>
        <p:spPr>
          <a:xfrm xmlns:a="http://schemas.openxmlformats.org/drawingml/2006/main">
            <a:off x="8715375" y="461962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Respect du SLA</a:t>
            </a:r>
          </a:p>
        </p:txBody>
      </p:sp>
      <p:sp>
        <p:nvSpPr>
          <p:cNvPr id="29" name="">
            <a:extLst xmlns:a="http://schemas.openxmlformats.org/drawingml/2006/main">
              <a:ext uri="{FF2B5EF4-FFF2-40B4-BE49-F238E27FC236}">
                <a16:creationId xmlns:a16="http://schemas.microsoft.com/office/drawing/2014/main" id="{6DA94E48-732D-4328-BB47-1EBB24ADDFFC}"/>
              </a:ext>
            </a:extLst>
          </p:cNvPr>
          <p:cNvSpPr>
            <a:spLocks xmlns:a="http://schemas.openxmlformats.org/drawingml/2006/main" noGrp="1"/>
          </p:cNvSpPr>
          <p:nvPr/>
        </p:nvSpPr>
        <p:spPr>
          <a:xfrm xmlns:a="http://schemas.openxmlformats.org/drawingml/2006/main">
            <a:off x="8715375" y="5162550"/>
            <a:ext cx="2619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Tickets respectant les délais cibles</a:t>
            </a:r>
          </a:p>
        </p:txBody>
      </p:sp>
      <p:sp>
        <p:nvSpPr>
          <p:cNvPr id="30" name="">
            <a:extLst xmlns:a="http://schemas.openxmlformats.org/drawingml/2006/main">
              <a:ext uri="{FF2B5EF4-FFF2-40B4-BE49-F238E27FC236}">
                <a16:creationId xmlns:a16="http://schemas.microsoft.com/office/drawing/2014/main" id="{9A0A7270-21C4-4669-9C13-4559AC7860D7}"/>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Activité simulée de 2025. Objectifs SLA : réponse en 12 h et résolution en 48 h.</a:t>
            </a:r>
          </a:p>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Le CSAT mesure la satisfaction envers le service parmi les répondants.</a:t>
            </a:r>
          </a:p>
        </p:txBody>
      </p:sp>
    </p:spTree>
    <p:extLst>
      <p:ext uri="{BB962C8B-B14F-4D97-AF65-F5344CB8AC3E}">
        <p14:creationId xmlns:p14="http://schemas.microsoft.com/office/powerpoint/2010/main" val="1598078833"/>
      </p:ext>
    </p:extLst>
  </p:cSld>
</p:sld>
</file>

<file path=ppt/slides/slide7.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EFB2ACD0-D928-4116-AB26-84AD7054D440}"/>
              </a:ext>
            </a:extLst>
          </p:cNvPr>
          <p:cNvPicPr>
            <a:picLocks xmlns:a="http://schemas.openxmlformats.org/drawingml/2006/main" noChangeAspect="1"/>
          </p:cNvPicPr>
          <p:nvPr/>
        </p:nvPicPr>
        <p:blipFill>
          <a:blip xmlns:r="http://schemas.openxmlformats.org/officeDocument/2006/relationships" xmlns:a="http://schemas.openxmlformats.org/drawingml/2006/main" r:embed="R4f0b6590572944ee"/>
          <a:stretch xmlns:a="http://schemas.openxmlformats.org/drawingml/2006/main"/>
        </p:blipFill>
        <p:spPr>
          <a:xfrm xmlns:a="http://schemas.openxmlformats.org/drawingml/2006/main" flipV="1">
            <a:off x="0" y="5429250"/>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9CFEC4-50C2-40FB-B6B5-F7808470D15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00DA16-AFE9-475D-9155-2CC108BA1CF5}"/>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A097B1-C673-48FC-BC3A-B715F9572C60}"/>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Cinq questions métier pour les avis clients</a:t>
            </a:r>
          </a:p>
        </p:txBody>
      </p:sp>
      <p:sp>
        <p:nvSpPr>
          <p:cNvPr id="5" name="">
            <a:extLst xmlns:a="http://schemas.openxmlformats.org/drawingml/2006/main">
              <a:ext uri="{FF2B5EF4-FFF2-40B4-BE49-F238E27FC236}">
                <a16:creationId xmlns:a16="http://schemas.microsoft.com/office/drawing/2014/main" id="{4DA155A8-F455-4E89-8BA6-31AD07C05FE7}"/>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07</a:t>
            </a:r>
          </a:p>
        </p:txBody>
      </p:sp>
      <p:sp>
        <p:nvSpPr>
          <p:cNvPr id="6" name="">
            <a:extLst xmlns:a="http://schemas.openxmlformats.org/drawingml/2006/main">
              <a:ext uri="{FF2B5EF4-FFF2-40B4-BE49-F238E27FC236}">
                <a16:creationId xmlns:a16="http://schemas.microsoft.com/office/drawing/2014/main" id="{8557E308-795C-447C-A552-6A0917F39CB5}"/>
              </a:ext>
            </a:extLst>
          </p:cNvPr>
          <p:cNvSpPr>
            <a:spLocks xmlns:a="http://schemas.openxmlformats.org/drawingml/2006/main" noGrp="1"/>
          </p:cNvSpPr>
          <p:nvPr/>
        </p:nvSpPr>
        <p:spPr>
          <a:xfrm xmlns:a="http://schemas.openxmlformats.org/drawingml/2006/main">
            <a:off x="619125" y="176212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2690A44-7B69-4BCA-A4DE-444934BFA40A}"/>
              </a:ext>
            </a:extLst>
          </p:cNvPr>
          <p:cNvSpPr>
            <a:spLocks xmlns:a="http://schemas.openxmlformats.org/drawingml/2006/main" noGrp="1"/>
          </p:cNvSpPr>
          <p:nvPr/>
        </p:nvSpPr>
        <p:spPr>
          <a:xfrm xmlns:a="http://schemas.openxmlformats.org/drawingml/2006/main">
            <a:off x="714375" y="181927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01</a:t>
            </a:r>
          </a:p>
        </p:txBody>
      </p:sp>
      <p:sp>
        <p:nvSpPr>
          <p:cNvPr id="8" name="">
            <a:extLst xmlns:a="http://schemas.openxmlformats.org/drawingml/2006/main">
              <a:ext uri="{FF2B5EF4-FFF2-40B4-BE49-F238E27FC236}">
                <a16:creationId xmlns:a16="http://schemas.microsoft.com/office/drawing/2014/main" id="{20AF85B1-8960-4F16-A308-370D8D5392A1}"/>
              </a:ext>
            </a:extLst>
          </p:cNvPr>
          <p:cNvSpPr>
            <a:spLocks xmlns:a="http://schemas.openxmlformats.org/drawingml/2006/main" noGrp="1"/>
          </p:cNvSpPr>
          <p:nvPr/>
        </p:nvSpPr>
        <p:spPr>
          <a:xfrm xmlns:a="http://schemas.openxmlformats.org/drawingml/2006/main">
            <a:off x="1476375" y="1762125"/>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1">
                <a:solidFill>
                  <a:srgbClr val="242321"/>
                </a:solidFill>
                <a:latin typeface="Montserrat"/>
                <a:ea typeface="Montserrat"/>
                <a:cs typeface="Montserrat"/>
              </a:defRPr>
            </a:defPPr>
            <a:lvl1pPr>
              <a:defRPr sz="1863" b="1">
                <a:solidFill>
                  <a:srgbClr val="242321"/>
                </a:solidFill>
                <a:latin typeface="Montserrat"/>
                <a:ea typeface="Montserrat"/>
                <a:cs typeface="Montserrat"/>
              </a:defRPr>
            </a:lvl1pPr>
            <a:lvl2pPr>
              <a:defRPr sz="1863" b="1">
                <a:solidFill>
                  <a:srgbClr val="242321"/>
                </a:solidFill>
                <a:latin typeface="Montserrat"/>
                <a:ea typeface="Montserrat"/>
                <a:cs typeface="Montserrat"/>
              </a:defRPr>
            </a:lvl2pPr>
            <a:lvl3pPr>
              <a:defRPr sz="1863" b="1">
                <a:solidFill>
                  <a:srgbClr val="242321"/>
                </a:solidFill>
                <a:latin typeface="Montserrat"/>
                <a:ea typeface="Montserrat"/>
                <a:cs typeface="Montserrat"/>
              </a:defRPr>
            </a:lvl3pPr>
            <a:lvl4pPr>
              <a:defRPr sz="1863" b="1">
                <a:solidFill>
                  <a:srgbClr val="242321"/>
                </a:solidFill>
                <a:latin typeface="Montserrat"/>
                <a:ea typeface="Montserrat"/>
                <a:cs typeface="Montserrat"/>
              </a:defRPr>
            </a:lvl4pPr>
            <a:lvl5pPr>
              <a:defRPr sz="1863" b="1">
                <a:solidFill>
                  <a:srgbClr val="242321"/>
                </a:solidFill>
                <a:latin typeface="Montserrat"/>
                <a:ea typeface="Montserrat"/>
                <a:cs typeface="Montserrat"/>
              </a:defRPr>
            </a:lvl5pPr>
            <a:lvl6pPr>
              <a:defRPr sz="1863" b="1">
                <a:solidFill>
                  <a:srgbClr val="242321"/>
                </a:solidFill>
                <a:latin typeface="Montserrat"/>
                <a:ea typeface="Montserrat"/>
                <a:cs typeface="Montserrat"/>
              </a:defRPr>
            </a:lvl6pPr>
            <a:lvl7pPr>
              <a:defRPr sz="1863" b="1">
                <a:solidFill>
                  <a:srgbClr val="242321"/>
                </a:solidFill>
                <a:latin typeface="Montserrat"/>
                <a:ea typeface="Montserrat"/>
                <a:cs typeface="Montserrat"/>
              </a:defRPr>
            </a:lvl7pPr>
            <a:lvl8pPr>
              <a:defRPr sz="1863" b="1">
                <a:solidFill>
                  <a:srgbClr val="242321"/>
                </a:solidFill>
                <a:latin typeface="Montserrat"/>
                <a:ea typeface="Montserrat"/>
                <a:cs typeface="Montserrat"/>
              </a:defRPr>
            </a:lvl8pPr>
            <a:lvl9pPr>
              <a:defRPr sz="1863" b="1">
                <a:solidFill>
                  <a:srgbClr val="242321"/>
                </a:solidFill>
                <a:latin typeface="Montserrat"/>
                <a:ea typeface="Montserrat"/>
                <a:cs typeface="Montserrat"/>
              </a:defRPr>
            </a:lvl9pPr>
          </a:lstStyle>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Quelles familles de produits obtiennent les meilleures notes ?</a:t>
            </a:r>
          </a:p>
        </p:txBody>
      </p:sp>
      <p:sp>
        <p:nvSpPr>
          <p:cNvPr id="9" name="">
            <a:extLst xmlns:a="http://schemas.openxmlformats.org/drawingml/2006/main">
              <a:ext uri="{FF2B5EF4-FFF2-40B4-BE49-F238E27FC236}">
                <a16:creationId xmlns:a16="http://schemas.microsoft.com/office/drawing/2014/main" id="{4E5D1350-3216-494F-B25E-BBBD33926E97}"/>
              </a:ext>
            </a:extLst>
          </p:cNvPr>
          <p:cNvSpPr>
            <a:spLocks xmlns:a="http://schemas.openxmlformats.org/drawingml/2006/main" noGrp="1"/>
          </p:cNvSpPr>
          <p:nvPr/>
        </p:nvSpPr>
        <p:spPr>
          <a:xfrm xmlns:a="http://schemas.openxmlformats.org/drawingml/2006/main">
            <a:off x="1476375" y="214312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Comparer la note moyenne et tenir compte du nombre d’avis.</a:t>
            </a:r>
          </a:p>
        </p:txBody>
      </p:sp>
      <p:sp>
        <p:nvSpPr>
          <p:cNvPr id="10" name="">
            <a:extLst xmlns:a="http://schemas.openxmlformats.org/drawingml/2006/main">
              <a:ext uri="{FF2B5EF4-FFF2-40B4-BE49-F238E27FC236}">
                <a16:creationId xmlns:a16="http://schemas.microsoft.com/office/drawing/2014/main" id="{79023E5F-E1C8-4138-B7B3-938E3DD01203}"/>
              </a:ext>
            </a:extLst>
          </p:cNvPr>
          <p:cNvSpPr>
            <a:spLocks xmlns:a="http://schemas.openxmlformats.org/drawingml/2006/main" noGrp="1"/>
          </p:cNvSpPr>
          <p:nvPr/>
        </p:nvSpPr>
        <p:spPr>
          <a:xfrm xmlns:a="http://schemas.openxmlformats.org/drawingml/2006/main">
            <a:off x="619125" y="254317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64734E9-D822-43D5-91C0-373BA98888A3}"/>
              </a:ext>
            </a:extLst>
          </p:cNvPr>
          <p:cNvSpPr>
            <a:spLocks xmlns:a="http://schemas.openxmlformats.org/drawingml/2006/main" noGrp="1"/>
          </p:cNvSpPr>
          <p:nvPr/>
        </p:nvSpPr>
        <p:spPr>
          <a:xfrm xmlns:a="http://schemas.openxmlformats.org/drawingml/2006/main">
            <a:off x="714375" y="26003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02</a:t>
            </a:r>
          </a:p>
        </p:txBody>
      </p:sp>
      <p:sp>
        <p:nvSpPr>
          <p:cNvPr id="12" name="">
            <a:extLst xmlns:a="http://schemas.openxmlformats.org/drawingml/2006/main">
              <a:ext uri="{FF2B5EF4-FFF2-40B4-BE49-F238E27FC236}">
                <a16:creationId xmlns:a16="http://schemas.microsoft.com/office/drawing/2014/main" id="{2A3D9024-C8B1-4E8D-8004-22654BBBC420}"/>
              </a:ext>
            </a:extLst>
          </p:cNvPr>
          <p:cNvSpPr>
            <a:spLocks xmlns:a="http://schemas.openxmlformats.org/drawingml/2006/main" noGrp="1"/>
          </p:cNvSpPr>
          <p:nvPr/>
        </p:nvSpPr>
        <p:spPr>
          <a:xfrm xmlns:a="http://schemas.openxmlformats.org/drawingml/2006/main">
            <a:off x="1476375" y="2543175"/>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1">
                <a:solidFill>
                  <a:srgbClr val="242321"/>
                </a:solidFill>
                <a:latin typeface="Montserrat"/>
                <a:ea typeface="Montserrat"/>
                <a:cs typeface="Montserrat"/>
              </a:defRPr>
            </a:defPPr>
            <a:lvl1pPr>
              <a:defRPr sz="1863" b="1">
                <a:solidFill>
                  <a:srgbClr val="242321"/>
                </a:solidFill>
                <a:latin typeface="Montserrat"/>
                <a:ea typeface="Montserrat"/>
                <a:cs typeface="Montserrat"/>
              </a:defRPr>
            </a:lvl1pPr>
            <a:lvl2pPr>
              <a:defRPr sz="1863" b="1">
                <a:solidFill>
                  <a:srgbClr val="242321"/>
                </a:solidFill>
                <a:latin typeface="Montserrat"/>
                <a:ea typeface="Montserrat"/>
                <a:cs typeface="Montserrat"/>
              </a:defRPr>
            </a:lvl2pPr>
            <a:lvl3pPr>
              <a:defRPr sz="1863" b="1">
                <a:solidFill>
                  <a:srgbClr val="242321"/>
                </a:solidFill>
                <a:latin typeface="Montserrat"/>
                <a:ea typeface="Montserrat"/>
                <a:cs typeface="Montserrat"/>
              </a:defRPr>
            </a:lvl3pPr>
            <a:lvl4pPr>
              <a:defRPr sz="1863" b="1">
                <a:solidFill>
                  <a:srgbClr val="242321"/>
                </a:solidFill>
                <a:latin typeface="Montserrat"/>
                <a:ea typeface="Montserrat"/>
                <a:cs typeface="Montserrat"/>
              </a:defRPr>
            </a:lvl4pPr>
            <a:lvl5pPr>
              <a:defRPr sz="1863" b="1">
                <a:solidFill>
                  <a:srgbClr val="242321"/>
                </a:solidFill>
                <a:latin typeface="Montserrat"/>
                <a:ea typeface="Montserrat"/>
                <a:cs typeface="Montserrat"/>
              </a:defRPr>
            </a:lvl5pPr>
            <a:lvl6pPr>
              <a:defRPr sz="1863" b="1">
                <a:solidFill>
                  <a:srgbClr val="242321"/>
                </a:solidFill>
                <a:latin typeface="Montserrat"/>
                <a:ea typeface="Montserrat"/>
                <a:cs typeface="Montserrat"/>
              </a:defRPr>
            </a:lvl6pPr>
            <a:lvl7pPr>
              <a:defRPr sz="1863" b="1">
                <a:solidFill>
                  <a:srgbClr val="242321"/>
                </a:solidFill>
                <a:latin typeface="Montserrat"/>
                <a:ea typeface="Montserrat"/>
                <a:cs typeface="Montserrat"/>
              </a:defRPr>
            </a:lvl7pPr>
            <a:lvl8pPr>
              <a:defRPr sz="1863" b="1">
                <a:solidFill>
                  <a:srgbClr val="242321"/>
                </a:solidFill>
                <a:latin typeface="Montserrat"/>
                <a:ea typeface="Montserrat"/>
                <a:cs typeface="Montserrat"/>
              </a:defRPr>
            </a:lvl8pPr>
            <a:lvl9pPr>
              <a:defRPr sz="1863" b="1">
                <a:solidFill>
                  <a:srgbClr val="242321"/>
                </a:solidFill>
                <a:latin typeface="Montserrat"/>
                <a:ea typeface="Montserrat"/>
                <a:cs typeface="Montserrat"/>
              </a:defRPr>
            </a:lvl9pPr>
          </a:lstStyle>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Quelles familles sont les plus et les moins recommandées ?</a:t>
            </a:r>
          </a:p>
        </p:txBody>
      </p:sp>
      <p:sp>
        <p:nvSpPr>
          <p:cNvPr id="13" name="">
            <a:extLst xmlns:a="http://schemas.openxmlformats.org/drawingml/2006/main">
              <a:ext uri="{FF2B5EF4-FFF2-40B4-BE49-F238E27FC236}">
                <a16:creationId xmlns:a16="http://schemas.microsoft.com/office/drawing/2014/main" id="{859DC89E-89AD-46DD-B083-62864CF8B301}"/>
              </a:ext>
            </a:extLst>
          </p:cNvPr>
          <p:cNvSpPr>
            <a:spLocks xmlns:a="http://schemas.openxmlformats.org/drawingml/2006/main" noGrp="1"/>
          </p:cNvSpPr>
          <p:nvPr/>
        </p:nvSpPr>
        <p:spPr>
          <a:xfrm xmlns:a="http://schemas.openxmlformats.org/drawingml/2006/main">
            <a:off x="1476375" y="292417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Comparer le taux de recommandation et le volume d’avis.</a:t>
            </a:r>
          </a:p>
        </p:txBody>
      </p:sp>
      <p:sp>
        <p:nvSpPr>
          <p:cNvPr id="14" name="">
            <a:extLst xmlns:a="http://schemas.openxmlformats.org/drawingml/2006/main">
              <a:ext uri="{FF2B5EF4-FFF2-40B4-BE49-F238E27FC236}">
                <a16:creationId xmlns:a16="http://schemas.microsoft.com/office/drawing/2014/main" id="{7992D416-EF9F-4744-B723-665AA2E36997}"/>
              </a:ext>
            </a:extLst>
          </p:cNvPr>
          <p:cNvSpPr>
            <a:spLocks xmlns:a="http://schemas.openxmlformats.org/drawingml/2006/main" noGrp="1"/>
          </p:cNvSpPr>
          <p:nvPr/>
        </p:nvSpPr>
        <p:spPr>
          <a:xfrm xmlns:a="http://schemas.openxmlformats.org/drawingml/2006/main">
            <a:off x="619125" y="332422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D775119-1D76-4860-B902-5ABCCFDFA80B}"/>
              </a:ext>
            </a:extLst>
          </p:cNvPr>
          <p:cNvSpPr>
            <a:spLocks xmlns:a="http://schemas.openxmlformats.org/drawingml/2006/main" noGrp="1"/>
          </p:cNvSpPr>
          <p:nvPr/>
        </p:nvSpPr>
        <p:spPr>
          <a:xfrm xmlns:a="http://schemas.openxmlformats.org/drawingml/2006/main">
            <a:off x="714375" y="338137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03</a:t>
            </a:r>
          </a:p>
        </p:txBody>
      </p:sp>
      <p:sp>
        <p:nvSpPr>
          <p:cNvPr id="16" name="">
            <a:extLst xmlns:a="http://schemas.openxmlformats.org/drawingml/2006/main">
              <a:ext uri="{FF2B5EF4-FFF2-40B4-BE49-F238E27FC236}">
                <a16:creationId xmlns:a16="http://schemas.microsoft.com/office/drawing/2014/main" id="{C5E433FA-2909-47DE-8FE5-2F27234223C3}"/>
              </a:ext>
            </a:extLst>
          </p:cNvPr>
          <p:cNvSpPr>
            <a:spLocks xmlns:a="http://schemas.openxmlformats.org/drawingml/2006/main" noGrp="1"/>
          </p:cNvSpPr>
          <p:nvPr/>
        </p:nvSpPr>
        <p:spPr>
          <a:xfrm xmlns:a="http://schemas.openxmlformats.org/drawingml/2006/main">
            <a:off x="1476375" y="3324225"/>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1">
                <a:solidFill>
                  <a:srgbClr val="242321"/>
                </a:solidFill>
                <a:latin typeface="Montserrat"/>
                <a:ea typeface="Montserrat"/>
                <a:cs typeface="Montserrat"/>
              </a:defRPr>
            </a:defPPr>
            <a:lvl1pPr>
              <a:defRPr sz="1863" b="1">
                <a:solidFill>
                  <a:srgbClr val="242321"/>
                </a:solidFill>
                <a:latin typeface="Montserrat"/>
                <a:ea typeface="Montserrat"/>
                <a:cs typeface="Montserrat"/>
              </a:defRPr>
            </a:lvl1pPr>
            <a:lvl2pPr>
              <a:defRPr sz="1863" b="1">
                <a:solidFill>
                  <a:srgbClr val="242321"/>
                </a:solidFill>
                <a:latin typeface="Montserrat"/>
                <a:ea typeface="Montserrat"/>
                <a:cs typeface="Montserrat"/>
              </a:defRPr>
            </a:lvl2pPr>
            <a:lvl3pPr>
              <a:defRPr sz="1863" b="1">
                <a:solidFill>
                  <a:srgbClr val="242321"/>
                </a:solidFill>
                <a:latin typeface="Montserrat"/>
                <a:ea typeface="Montserrat"/>
                <a:cs typeface="Montserrat"/>
              </a:defRPr>
            </a:lvl3pPr>
            <a:lvl4pPr>
              <a:defRPr sz="1863" b="1">
                <a:solidFill>
                  <a:srgbClr val="242321"/>
                </a:solidFill>
                <a:latin typeface="Montserrat"/>
                <a:ea typeface="Montserrat"/>
                <a:cs typeface="Montserrat"/>
              </a:defRPr>
            </a:lvl4pPr>
            <a:lvl5pPr>
              <a:defRPr sz="1863" b="1">
                <a:solidFill>
                  <a:srgbClr val="242321"/>
                </a:solidFill>
                <a:latin typeface="Montserrat"/>
                <a:ea typeface="Montserrat"/>
                <a:cs typeface="Montserrat"/>
              </a:defRPr>
            </a:lvl5pPr>
            <a:lvl6pPr>
              <a:defRPr sz="1863" b="1">
                <a:solidFill>
                  <a:srgbClr val="242321"/>
                </a:solidFill>
                <a:latin typeface="Montserrat"/>
                <a:ea typeface="Montserrat"/>
                <a:cs typeface="Montserrat"/>
              </a:defRPr>
            </a:lvl6pPr>
            <a:lvl7pPr>
              <a:defRPr sz="1863" b="1">
                <a:solidFill>
                  <a:srgbClr val="242321"/>
                </a:solidFill>
                <a:latin typeface="Montserrat"/>
                <a:ea typeface="Montserrat"/>
                <a:cs typeface="Montserrat"/>
              </a:defRPr>
            </a:lvl7pPr>
            <a:lvl8pPr>
              <a:defRPr sz="1863" b="1">
                <a:solidFill>
                  <a:srgbClr val="242321"/>
                </a:solidFill>
                <a:latin typeface="Montserrat"/>
                <a:ea typeface="Montserrat"/>
                <a:cs typeface="Montserrat"/>
              </a:defRPr>
            </a:lvl8pPr>
            <a:lvl9pPr>
              <a:defRPr sz="1863" b="1">
                <a:solidFill>
                  <a:srgbClr val="242321"/>
                </a:solidFill>
                <a:latin typeface="Montserrat"/>
                <a:ea typeface="Montserrat"/>
                <a:cs typeface="Montserrat"/>
              </a:defRPr>
            </a:lvl9pPr>
          </a:lstStyle>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Une bonne note s’accompagne-t-elle d’une recommandation ?</a:t>
            </a:r>
          </a:p>
        </p:txBody>
      </p:sp>
      <p:sp>
        <p:nvSpPr>
          <p:cNvPr id="17" name="">
            <a:extLst xmlns:a="http://schemas.openxmlformats.org/drawingml/2006/main">
              <a:ext uri="{FF2B5EF4-FFF2-40B4-BE49-F238E27FC236}">
                <a16:creationId xmlns:a16="http://schemas.microsoft.com/office/drawing/2014/main" id="{5F1A39AA-1499-4E01-83D4-AD5E0376EEC6}"/>
              </a:ext>
            </a:extLst>
          </p:cNvPr>
          <p:cNvSpPr>
            <a:spLocks xmlns:a="http://schemas.openxmlformats.org/drawingml/2006/main" noGrp="1"/>
          </p:cNvSpPr>
          <p:nvPr/>
        </p:nvSpPr>
        <p:spPr>
          <a:xfrm xmlns:a="http://schemas.openxmlformats.org/drawingml/2006/main">
            <a:off x="1476375" y="370522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Croiser les deux indicateurs et examiner les avis discordants.</a:t>
            </a:r>
          </a:p>
        </p:txBody>
      </p:sp>
      <p:sp>
        <p:nvSpPr>
          <p:cNvPr id="18" name="">
            <a:extLst xmlns:a="http://schemas.openxmlformats.org/drawingml/2006/main">
              <a:ext uri="{FF2B5EF4-FFF2-40B4-BE49-F238E27FC236}">
                <a16:creationId xmlns:a16="http://schemas.microsoft.com/office/drawing/2014/main" id="{431274F7-9030-4CF5-83AF-A043FF03E27E}"/>
              </a:ext>
            </a:extLst>
          </p:cNvPr>
          <p:cNvSpPr>
            <a:spLocks xmlns:a="http://schemas.openxmlformats.org/drawingml/2006/main" noGrp="1"/>
          </p:cNvSpPr>
          <p:nvPr/>
        </p:nvSpPr>
        <p:spPr>
          <a:xfrm xmlns:a="http://schemas.openxmlformats.org/drawingml/2006/main">
            <a:off x="619125" y="410527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6A1B3A4-D03A-4D8D-BB8A-706150D3A33C}"/>
              </a:ext>
            </a:extLst>
          </p:cNvPr>
          <p:cNvSpPr>
            <a:spLocks xmlns:a="http://schemas.openxmlformats.org/drawingml/2006/main" noGrp="1"/>
          </p:cNvSpPr>
          <p:nvPr/>
        </p:nvSpPr>
        <p:spPr>
          <a:xfrm xmlns:a="http://schemas.openxmlformats.org/drawingml/2006/main">
            <a:off x="714375" y="41624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04</a:t>
            </a:r>
          </a:p>
        </p:txBody>
      </p:sp>
      <p:sp>
        <p:nvSpPr>
          <p:cNvPr id="20" name="">
            <a:extLst xmlns:a="http://schemas.openxmlformats.org/drawingml/2006/main">
              <a:ext uri="{FF2B5EF4-FFF2-40B4-BE49-F238E27FC236}">
                <a16:creationId xmlns:a16="http://schemas.microsoft.com/office/drawing/2014/main" id="{5C1D71A4-3052-4FB8-B05E-E76993274BB6}"/>
              </a:ext>
            </a:extLst>
          </p:cNvPr>
          <p:cNvSpPr>
            <a:spLocks xmlns:a="http://schemas.openxmlformats.org/drawingml/2006/main" noGrp="1"/>
          </p:cNvSpPr>
          <p:nvPr/>
        </p:nvSpPr>
        <p:spPr>
          <a:xfrm xmlns:a="http://schemas.openxmlformats.org/drawingml/2006/main">
            <a:off x="1476375" y="4105275"/>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1">
                <a:solidFill>
                  <a:srgbClr val="242321"/>
                </a:solidFill>
                <a:latin typeface="Montserrat"/>
                <a:ea typeface="Montserrat"/>
                <a:cs typeface="Montserrat"/>
              </a:defRPr>
            </a:defPPr>
            <a:lvl1pPr>
              <a:defRPr sz="1863" b="1">
                <a:solidFill>
                  <a:srgbClr val="242321"/>
                </a:solidFill>
                <a:latin typeface="Montserrat"/>
                <a:ea typeface="Montserrat"/>
                <a:cs typeface="Montserrat"/>
              </a:defRPr>
            </a:lvl1pPr>
            <a:lvl2pPr>
              <a:defRPr sz="1863" b="1">
                <a:solidFill>
                  <a:srgbClr val="242321"/>
                </a:solidFill>
                <a:latin typeface="Montserrat"/>
                <a:ea typeface="Montserrat"/>
                <a:cs typeface="Montserrat"/>
              </a:defRPr>
            </a:lvl2pPr>
            <a:lvl3pPr>
              <a:defRPr sz="1863" b="1">
                <a:solidFill>
                  <a:srgbClr val="242321"/>
                </a:solidFill>
                <a:latin typeface="Montserrat"/>
                <a:ea typeface="Montserrat"/>
                <a:cs typeface="Montserrat"/>
              </a:defRPr>
            </a:lvl3pPr>
            <a:lvl4pPr>
              <a:defRPr sz="1863" b="1">
                <a:solidFill>
                  <a:srgbClr val="242321"/>
                </a:solidFill>
                <a:latin typeface="Montserrat"/>
                <a:ea typeface="Montserrat"/>
                <a:cs typeface="Montserrat"/>
              </a:defRPr>
            </a:lvl4pPr>
            <a:lvl5pPr>
              <a:defRPr sz="1863" b="1">
                <a:solidFill>
                  <a:srgbClr val="242321"/>
                </a:solidFill>
                <a:latin typeface="Montserrat"/>
                <a:ea typeface="Montserrat"/>
                <a:cs typeface="Montserrat"/>
              </a:defRPr>
            </a:lvl5pPr>
            <a:lvl6pPr>
              <a:defRPr sz="1863" b="1">
                <a:solidFill>
                  <a:srgbClr val="242321"/>
                </a:solidFill>
                <a:latin typeface="Montserrat"/>
                <a:ea typeface="Montserrat"/>
                <a:cs typeface="Montserrat"/>
              </a:defRPr>
            </a:lvl6pPr>
            <a:lvl7pPr>
              <a:defRPr sz="1863" b="1">
                <a:solidFill>
                  <a:srgbClr val="242321"/>
                </a:solidFill>
                <a:latin typeface="Montserrat"/>
                <a:ea typeface="Montserrat"/>
                <a:cs typeface="Montserrat"/>
              </a:defRPr>
            </a:lvl7pPr>
            <a:lvl8pPr>
              <a:defRPr sz="1863" b="1">
                <a:solidFill>
                  <a:srgbClr val="242321"/>
                </a:solidFill>
                <a:latin typeface="Montserrat"/>
                <a:ea typeface="Montserrat"/>
                <a:cs typeface="Montserrat"/>
              </a:defRPr>
            </a:lvl8pPr>
            <a:lvl9pPr>
              <a:defRPr sz="1863" b="1">
                <a:solidFill>
                  <a:srgbClr val="242321"/>
                </a:solidFill>
                <a:latin typeface="Montserrat"/>
                <a:ea typeface="Montserrat"/>
                <a:cs typeface="Montserrat"/>
              </a:defRPr>
            </a:lvl9pPr>
          </a:lstStyle>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La satisfaction varie-t-elle selon l’âge ?</a:t>
            </a:r>
          </a:p>
        </p:txBody>
      </p:sp>
      <p:sp>
        <p:nvSpPr>
          <p:cNvPr id="21" name="">
            <a:extLst xmlns:a="http://schemas.openxmlformats.org/drawingml/2006/main">
              <a:ext uri="{FF2B5EF4-FFF2-40B4-BE49-F238E27FC236}">
                <a16:creationId xmlns:a16="http://schemas.microsoft.com/office/drawing/2014/main" id="{A04CDD14-455E-41D3-B261-D4BC271247FA}"/>
              </a:ext>
            </a:extLst>
          </p:cNvPr>
          <p:cNvSpPr>
            <a:spLocks xmlns:a="http://schemas.openxmlformats.org/drawingml/2006/main" noGrp="1"/>
          </p:cNvSpPr>
          <p:nvPr/>
        </p:nvSpPr>
        <p:spPr>
          <a:xfrm xmlns:a="http://schemas.openxmlformats.org/drawingml/2006/main">
            <a:off x="1476375" y="448627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Comparer notes et recommandations entre tranches d’âge.</a:t>
            </a:r>
          </a:p>
        </p:txBody>
      </p:sp>
      <p:sp>
        <p:nvSpPr>
          <p:cNvPr id="22" name="">
            <a:extLst xmlns:a="http://schemas.openxmlformats.org/drawingml/2006/main">
              <a:ext uri="{FF2B5EF4-FFF2-40B4-BE49-F238E27FC236}">
                <a16:creationId xmlns:a16="http://schemas.microsoft.com/office/drawing/2014/main" id="{AAC87B32-651A-4400-B016-B20E457D06F5}"/>
              </a:ext>
            </a:extLst>
          </p:cNvPr>
          <p:cNvSpPr>
            <a:spLocks xmlns:a="http://schemas.openxmlformats.org/drawingml/2006/main" noGrp="1"/>
          </p:cNvSpPr>
          <p:nvPr/>
        </p:nvSpPr>
        <p:spPr>
          <a:xfrm xmlns:a="http://schemas.openxmlformats.org/drawingml/2006/main">
            <a:off x="619125" y="488632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ABB9725-122C-43C5-BA0F-3A4C2E05BD8B}"/>
              </a:ext>
            </a:extLst>
          </p:cNvPr>
          <p:cNvSpPr>
            <a:spLocks xmlns:a="http://schemas.openxmlformats.org/drawingml/2006/main" noGrp="1"/>
          </p:cNvSpPr>
          <p:nvPr/>
        </p:nvSpPr>
        <p:spPr>
          <a:xfrm xmlns:a="http://schemas.openxmlformats.org/drawingml/2006/main">
            <a:off x="714375" y="494347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05</a:t>
            </a:r>
          </a:p>
        </p:txBody>
      </p:sp>
      <p:sp>
        <p:nvSpPr>
          <p:cNvPr id="24" name="">
            <a:extLst xmlns:a="http://schemas.openxmlformats.org/drawingml/2006/main">
              <a:ext uri="{FF2B5EF4-FFF2-40B4-BE49-F238E27FC236}">
                <a16:creationId xmlns:a16="http://schemas.microsoft.com/office/drawing/2014/main" id="{3644DE6D-BADE-4AEC-9386-5E2A4D89E5B3}"/>
              </a:ext>
            </a:extLst>
          </p:cNvPr>
          <p:cNvSpPr>
            <a:spLocks xmlns:a="http://schemas.openxmlformats.org/drawingml/2006/main" noGrp="1"/>
          </p:cNvSpPr>
          <p:nvPr/>
        </p:nvSpPr>
        <p:spPr>
          <a:xfrm xmlns:a="http://schemas.openxmlformats.org/drawingml/2006/main">
            <a:off x="1476375" y="4886325"/>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1">
                <a:solidFill>
                  <a:srgbClr val="242321"/>
                </a:solidFill>
                <a:latin typeface="Montserrat"/>
                <a:ea typeface="Montserrat"/>
                <a:cs typeface="Montserrat"/>
              </a:defRPr>
            </a:defPPr>
            <a:lvl1pPr>
              <a:defRPr sz="1863" b="1">
                <a:solidFill>
                  <a:srgbClr val="242321"/>
                </a:solidFill>
                <a:latin typeface="Montserrat"/>
                <a:ea typeface="Montserrat"/>
                <a:cs typeface="Montserrat"/>
              </a:defRPr>
            </a:lvl1pPr>
            <a:lvl2pPr>
              <a:defRPr sz="1863" b="1">
                <a:solidFill>
                  <a:srgbClr val="242321"/>
                </a:solidFill>
                <a:latin typeface="Montserrat"/>
                <a:ea typeface="Montserrat"/>
                <a:cs typeface="Montserrat"/>
              </a:defRPr>
            </a:lvl2pPr>
            <a:lvl3pPr>
              <a:defRPr sz="1863" b="1">
                <a:solidFill>
                  <a:srgbClr val="242321"/>
                </a:solidFill>
                <a:latin typeface="Montserrat"/>
                <a:ea typeface="Montserrat"/>
                <a:cs typeface="Montserrat"/>
              </a:defRPr>
            </a:lvl3pPr>
            <a:lvl4pPr>
              <a:defRPr sz="1863" b="1">
                <a:solidFill>
                  <a:srgbClr val="242321"/>
                </a:solidFill>
                <a:latin typeface="Montserrat"/>
                <a:ea typeface="Montserrat"/>
                <a:cs typeface="Montserrat"/>
              </a:defRPr>
            </a:lvl4pPr>
            <a:lvl5pPr>
              <a:defRPr sz="1863" b="1">
                <a:solidFill>
                  <a:srgbClr val="242321"/>
                </a:solidFill>
                <a:latin typeface="Montserrat"/>
                <a:ea typeface="Montserrat"/>
                <a:cs typeface="Montserrat"/>
              </a:defRPr>
            </a:lvl5pPr>
            <a:lvl6pPr>
              <a:defRPr sz="1863" b="1">
                <a:solidFill>
                  <a:srgbClr val="242321"/>
                </a:solidFill>
                <a:latin typeface="Montserrat"/>
                <a:ea typeface="Montserrat"/>
                <a:cs typeface="Montserrat"/>
              </a:defRPr>
            </a:lvl6pPr>
            <a:lvl7pPr>
              <a:defRPr sz="1863" b="1">
                <a:solidFill>
                  <a:srgbClr val="242321"/>
                </a:solidFill>
                <a:latin typeface="Montserrat"/>
                <a:ea typeface="Montserrat"/>
                <a:cs typeface="Montserrat"/>
              </a:defRPr>
            </a:lvl7pPr>
            <a:lvl8pPr>
              <a:defRPr sz="1863" b="1">
                <a:solidFill>
                  <a:srgbClr val="242321"/>
                </a:solidFill>
                <a:latin typeface="Montserrat"/>
                <a:ea typeface="Montserrat"/>
                <a:cs typeface="Montserrat"/>
              </a:defRPr>
            </a:lvl8pPr>
            <a:lvl9pPr>
              <a:defRPr sz="1863" b="1">
                <a:solidFill>
                  <a:srgbClr val="242321"/>
                </a:solidFill>
                <a:latin typeface="Montserrat"/>
                <a:ea typeface="Montserrat"/>
                <a:cs typeface="Montserrat"/>
              </a:defRPr>
            </a:lvl9pPr>
          </a:lstStyle>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Quels problèmes reviennent dans les avis négatifs ?</a:t>
            </a:r>
          </a:p>
        </p:txBody>
      </p:sp>
      <p:sp>
        <p:nvSpPr>
          <p:cNvPr id="25" name="">
            <a:extLst xmlns:a="http://schemas.openxmlformats.org/drawingml/2006/main">
              <a:ext uri="{FF2B5EF4-FFF2-40B4-BE49-F238E27FC236}">
                <a16:creationId xmlns:a16="http://schemas.microsoft.com/office/drawing/2014/main" id="{CCE525D0-16A0-403A-AB15-312FE6AA3895}"/>
              </a:ext>
            </a:extLst>
          </p:cNvPr>
          <p:cNvSpPr>
            <a:spLocks xmlns:a="http://schemas.openxmlformats.org/drawingml/2006/main" noGrp="1"/>
          </p:cNvSpPr>
          <p:nvPr/>
        </p:nvSpPr>
        <p:spPr>
          <a:xfrm xmlns:a="http://schemas.openxmlformats.org/drawingml/2006/main">
            <a:off x="1476375" y="526732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Repérer les thèmes des commentaires et mesurer leur fréquence.</a:t>
            </a:r>
          </a:p>
        </p:txBody>
      </p:sp>
      <p:sp>
        <p:nvSpPr>
          <p:cNvPr id="26" name="">
            <a:extLst xmlns:a="http://schemas.openxmlformats.org/drawingml/2006/main">
              <a:ext uri="{FF2B5EF4-FFF2-40B4-BE49-F238E27FC236}">
                <a16:creationId xmlns:a16="http://schemas.microsoft.com/office/drawing/2014/main" id="{FA374E30-5B83-44CB-8EE0-51ABDE222A2D}"/>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Ces questions guident les résultats et les recommandations des slides suivantes.</a:t>
            </a:r>
          </a:p>
        </p:txBody>
      </p:sp>
    </p:spTree>
    <p:extLst>
      <p:ext uri="{BB962C8B-B14F-4D97-AF65-F5344CB8AC3E}">
        <p14:creationId xmlns:p14="http://schemas.microsoft.com/office/powerpoint/2010/main" val="1240674667"/>
      </p:ext>
    </p:extLst>
  </p:cSld>
</p:sld>
</file>

<file path=ppt/slides/slide8.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5A515475-C3E7-4ACC-AE53-ADBF406DC9D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DA852D-82F4-49DF-8156-C611A2D1B924}"/>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53C8DE-42C1-4B0C-A478-31CF544D1294}"/>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Q1 &amp; Q2 · Évaluations et recommandations</a:t>
            </a:r>
          </a:p>
        </p:txBody>
      </p:sp>
      <p:sp>
        <p:nvSpPr>
          <p:cNvPr id="4" name="">
            <a:extLst xmlns:a="http://schemas.openxmlformats.org/drawingml/2006/main">
              <a:ext uri="{FF2B5EF4-FFF2-40B4-BE49-F238E27FC236}">
                <a16:creationId xmlns:a16="http://schemas.microsoft.com/office/drawing/2014/main" id="{1A2D04DC-85AB-4EA7-9DAC-C0BD5D29C8C7}"/>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08</a:t>
            </a:r>
          </a:p>
        </p:txBody>
      </p:sp>
      <p:sp>
        <p:nvSpPr>
          <p:cNvPr id="5" name="">
            <a:extLst xmlns:a="http://schemas.openxmlformats.org/drawingml/2006/main">
              <a:ext uri="{FF2B5EF4-FFF2-40B4-BE49-F238E27FC236}">
                <a16:creationId xmlns:a16="http://schemas.microsoft.com/office/drawing/2014/main" id="{22F1DBC1-7710-412A-BD0D-B27C7AF0AC87}"/>
              </a:ext>
            </a:extLst>
          </p:cNvPr>
          <p:cNvSpPr>
            <a:spLocks xmlns:a="http://schemas.openxmlformats.org/drawingml/2006/main" noGrp="1"/>
          </p:cNvSpPr>
          <p:nvPr/>
        </p:nvSpPr>
        <p:spPr>
          <a:xfrm xmlns:a="http://schemas.openxmlformats.org/drawingml/2006/main">
            <a:off x="666750" y="1666875"/>
            <a:ext cx="523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6" b="1">
                <a:solidFill>
                  <a:srgbClr val="242321"/>
                </a:solidFill>
                <a:latin typeface="Montserrat"/>
                <a:ea typeface="Montserrat"/>
                <a:cs typeface="Montserrat"/>
              </a:defRPr>
            </a:defPPr>
            <a:lvl1pPr>
              <a:defRPr sz="1656" b="1">
                <a:solidFill>
                  <a:srgbClr val="242321"/>
                </a:solidFill>
                <a:latin typeface="Montserrat"/>
                <a:ea typeface="Montserrat"/>
                <a:cs typeface="Montserrat"/>
              </a:defRPr>
            </a:lvl1pPr>
            <a:lvl2pPr>
              <a:defRPr sz="1656" b="1">
                <a:solidFill>
                  <a:srgbClr val="242321"/>
                </a:solidFill>
                <a:latin typeface="Montserrat"/>
                <a:ea typeface="Montserrat"/>
                <a:cs typeface="Montserrat"/>
              </a:defRPr>
            </a:lvl2pPr>
            <a:lvl3pPr>
              <a:defRPr sz="1656" b="1">
                <a:solidFill>
                  <a:srgbClr val="242321"/>
                </a:solidFill>
                <a:latin typeface="Montserrat"/>
                <a:ea typeface="Montserrat"/>
                <a:cs typeface="Montserrat"/>
              </a:defRPr>
            </a:lvl3pPr>
            <a:lvl4pPr>
              <a:defRPr sz="1656" b="1">
                <a:solidFill>
                  <a:srgbClr val="242321"/>
                </a:solidFill>
                <a:latin typeface="Montserrat"/>
                <a:ea typeface="Montserrat"/>
                <a:cs typeface="Montserrat"/>
              </a:defRPr>
            </a:lvl4pPr>
            <a:lvl5pPr>
              <a:defRPr sz="1656" b="1">
                <a:solidFill>
                  <a:srgbClr val="242321"/>
                </a:solidFill>
                <a:latin typeface="Montserrat"/>
                <a:ea typeface="Montserrat"/>
                <a:cs typeface="Montserrat"/>
              </a:defRPr>
            </a:lvl5pPr>
            <a:lvl6pPr>
              <a:defRPr sz="1656" b="1">
                <a:solidFill>
                  <a:srgbClr val="242321"/>
                </a:solidFill>
                <a:latin typeface="Montserrat"/>
                <a:ea typeface="Montserrat"/>
                <a:cs typeface="Montserrat"/>
              </a:defRPr>
            </a:lvl6pPr>
            <a:lvl7pPr>
              <a:defRPr sz="1656" b="1">
                <a:solidFill>
                  <a:srgbClr val="242321"/>
                </a:solidFill>
                <a:latin typeface="Montserrat"/>
                <a:ea typeface="Montserrat"/>
                <a:cs typeface="Montserrat"/>
              </a:defRPr>
            </a:lvl7pPr>
            <a:lvl8pPr>
              <a:defRPr sz="1656" b="1">
                <a:solidFill>
                  <a:srgbClr val="242321"/>
                </a:solidFill>
                <a:latin typeface="Montserrat"/>
                <a:ea typeface="Montserrat"/>
                <a:cs typeface="Montserrat"/>
              </a:defRPr>
            </a:lvl8pPr>
            <a:lvl9pPr>
              <a:defRPr sz="1656" b="1">
                <a:solidFill>
                  <a:srgbClr val="242321"/>
                </a:solidFill>
                <a:latin typeface="Montserrat"/>
                <a:ea typeface="Montserrat"/>
                <a:cs typeface="Montserrat"/>
              </a:defRPr>
            </a:lvl9pPr>
          </a:lstStyle>
          <a:p xmlns:a="http://schemas.openxmlformats.org/drawingml/2006/main">
            <a:pPr>
              <a:defRPr sz="1656" b="1">
                <a:solidFill>
                  <a:srgbClr val="242321"/>
                </a:solidFill>
                <a:latin typeface="Montserrat"/>
                <a:ea typeface="Montserrat"/>
                <a:cs typeface="Montserrat"/>
              </a:defRPr>
            </a:pPr>
            <a:r>
              <a:rPr sz="1656" b="1">
                <a:solidFill>
                  <a:srgbClr val="242321"/>
                </a:solidFill>
                <a:latin typeface="Montserrat"/>
                <a:ea typeface="Montserrat"/>
                <a:cs typeface="Montserrat"/>
              </a:rPr>
              <a:t>Q1 · Quelles familles obtiennent les meilleures notes ?</a:t>
            </a:r>
          </a:p>
        </p:txBody>
      </p:sp>
      <p:sp>
        <p:nvSpPr>
          <p:cNvPr id="6" name="">
            <a:extLst xmlns:a="http://schemas.openxmlformats.org/drawingml/2006/main">
              <a:ext uri="{FF2B5EF4-FFF2-40B4-BE49-F238E27FC236}">
                <a16:creationId xmlns:a16="http://schemas.microsoft.com/office/drawing/2014/main" id="{F2220686-43C4-4E44-8931-02C4630D15FE}"/>
              </a:ext>
            </a:extLst>
          </p:cNvPr>
          <p:cNvSpPr>
            <a:spLocks xmlns:a="http://schemas.openxmlformats.org/drawingml/2006/main" noGrp="1"/>
          </p:cNvSpPr>
          <p:nvPr/>
        </p:nvSpPr>
        <p:spPr>
          <a:xfrm xmlns:a="http://schemas.openxmlformats.org/drawingml/2006/main">
            <a:off x="6238875" y="1666875"/>
            <a:ext cx="5334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Q2 · Quelles familles recommande-t-on ?</a:t>
            </a:r>
          </a:p>
        </p:txBody>
      </p:sp>
      <p:sp>
        <p:nvSpPr>
          <p:cNvPr id="7" name="">
            <a:extLst xmlns:a="http://schemas.openxmlformats.org/drawingml/2006/main">
              <a:ext uri="{FF2B5EF4-FFF2-40B4-BE49-F238E27FC236}">
                <a16:creationId xmlns:a16="http://schemas.microsoft.com/office/drawing/2014/main" id="{8323D59C-BD40-4DC9-9BDE-1009D90D33DE}"/>
              </a:ext>
            </a:extLst>
          </p:cNvPr>
          <p:cNvSpPr>
            <a:spLocks xmlns:a="http://schemas.openxmlformats.org/drawingml/2006/main" noGrp="1"/>
          </p:cNvSpPr>
          <p:nvPr/>
        </p:nvSpPr>
        <p:spPr>
          <a:xfrm xmlns:a="http://schemas.openxmlformats.org/drawingml/2006/main">
            <a:off x="762000" y="23336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18" b="1">
                <a:solidFill>
                  <a:srgbClr val="8A705B"/>
                </a:solidFill>
                <a:latin typeface="Montserrat"/>
                <a:ea typeface="Montserrat"/>
                <a:cs typeface="Montserrat"/>
              </a:defRPr>
            </a:defPPr>
            <a:lvl1pPr>
              <a:defRPr sz="1518" b="1">
                <a:solidFill>
                  <a:srgbClr val="8A705B"/>
                </a:solidFill>
                <a:latin typeface="Montserrat"/>
                <a:ea typeface="Montserrat"/>
                <a:cs typeface="Montserrat"/>
              </a:defRPr>
            </a:lvl1pPr>
            <a:lvl2pPr>
              <a:defRPr sz="1518" b="1">
                <a:solidFill>
                  <a:srgbClr val="8A705B"/>
                </a:solidFill>
                <a:latin typeface="Montserrat"/>
                <a:ea typeface="Montserrat"/>
                <a:cs typeface="Montserrat"/>
              </a:defRPr>
            </a:lvl2pPr>
            <a:lvl3pPr>
              <a:defRPr sz="1518" b="1">
                <a:solidFill>
                  <a:srgbClr val="8A705B"/>
                </a:solidFill>
                <a:latin typeface="Montserrat"/>
                <a:ea typeface="Montserrat"/>
                <a:cs typeface="Montserrat"/>
              </a:defRPr>
            </a:lvl3pPr>
            <a:lvl4pPr>
              <a:defRPr sz="1518" b="1">
                <a:solidFill>
                  <a:srgbClr val="8A705B"/>
                </a:solidFill>
                <a:latin typeface="Montserrat"/>
                <a:ea typeface="Montserrat"/>
                <a:cs typeface="Montserrat"/>
              </a:defRPr>
            </a:lvl4pPr>
            <a:lvl5pPr>
              <a:defRPr sz="1518" b="1">
                <a:solidFill>
                  <a:srgbClr val="8A705B"/>
                </a:solidFill>
                <a:latin typeface="Montserrat"/>
                <a:ea typeface="Montserrat"/>
                <a:cs typeface="Montserrat"/>
              </a:defRPr>
            </a:lvl5pPr>
            <a:lvl6pPr>
              <a:defRPr sz="1518" b="1">
                <a:solidFill>
                  <a:srgbClr val="8A705B"/>
                </a:solidFill>
                <a:latin typeface="Montserrat"/>
                <a:ea typeface="Montserrat"/>
                <a:cs typeface="Montserrat"/>
              </a:defRPr>
            </a:lvl6pPr>
            <a:lvl7pPr>
              <a:defRPr sz="1518" b="1">
                <a:solidFill>
                  <a:srgbClr val="8A705B"/>
                </a:solidFill>
                <a:latin typeface="Montserrat"/>
                <a:ea typeface="Montserrat"/>
                <a:cs typeface="Montserrat"/>
              </a:defRPr>
            </a:lvl7pPr>
            <a:lvl8pPr>
              <a:defRPr sz="1518" b="1">
                <a:solidFill>
                  <a:srgbClr val="8A705B"/>
                </a:solidFill>
                <a:latin typeface="Montserrat"/>
                <a:ea typeface="Montserrat"/>
                <a:cs typeface="Montserrat"/>
              </a:defRPr>
            </a:lvl8pPr>
            <a:lvl9pPr>
              <a:defRPr sz="1518" b="1">
                <a:solidFill>
                  <a:srgbClr val="8A705B"/>
                </a:solidFill>
                <a:latin typeface="Montserrat"/>
                <a:ea typeface="Montserrat"/>
                <a:cs typeface="Montserrat"/>
              </a:defRPr>
            </a:lvl9pPr>
          </a:lstStyle>
          <a:p xmlns:a="http://schemas.openxmlformats.org/drawingml/2006/main">
            <a:pPr>
              <a:defRPr sz="1518" b="1">
                <a:solidFill>
                  <a:srgbClr val="8A705B"/>
                </a:solidFill>
                <a:latin typeface="Montserrat"/>
                <a:ea typeface="Montserrat"/>
                <a:cs typeface="Montserrat"/>
              </a:defRPr>
            </a:pPr>
            <a:r>
              <a:rPr sz="1518" b="1">
                <a:solidFill>
                  <a:srgbClr val="8A705B"/>
                </a:solidFill>
                <a:latin typeface="Montserrat"/>
                <a:ea typeface="Montserrat"/>
                <a:cs typeface="Montserrat"/>
              </a:rPr>
              <a:t>Famille</a:t>
            </a:r>
          </a:p>
        </p:txBody>
      </p:sp>
      <p:sp>
        <p:nvSpPr>
          <p:cNvPr id="8" name="">
            <a:extLst xmlns:a="http://schemas.openxmlformats.org/drawingml/2006/main">
              <a:ext uri="{FF2B5EF4-FFF2-40B4-BE49-F238E27FC236}">
                <a16:creationId xmlns:a16="http://schemas.microsoft.com/office/drawing/2014/main" id="{E6EA882A-5319-4D38-87AF-B62E04B22C26}"/>
              </a:ext>
            </a:extLst>
          </p:cNvPr>
          <p:cNvSpPr>
            <a:spLocks xmlns:a="http://schemas.openxmlformats.org/drawingml/2006/main" noGrp="1"/>
          </p:cNvSpPr>
          <p:nvPr/>
        </p:nvSpPr>
        <p:spPr>
          <a:xfrm xmlns:a="http://schemas.openxmlformats.org/drawingml/2006/main">
            <a:off x="2857500" y="2333625"/>
            <a:ext cx="123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18" b="1">
                <a:solidFill>
                  <a:srgbClr val="8A705B"/>
                </a:solidFill>
                <a:latin typeface="Montserrat"/>
                <a:ea typeface="Montserrat"/>
                <a:cs typeface="Montserrat"/>
              </a:defRPr>
            </a:defPPr>
            <a:lvl1pPr>
              <a:defRPr sz="1518" b="1">
                <a:solidFill>
                  <a:srgbClr val="8A705B"/>
                </a:solidFill>
                <a:latin typeface="Montserrat"/>
                <a:ea typeface="Montserrat"/>
                <a:cs typeface="Montserrat"/>
              </a:defRPr>
            </a:lvl1pPr>
            <a:lvl2pPr>
              <a:defRPr sz="1518" b="1">
                <a:solidFill>
                  <a:srgbClr val="8A705B"/>
                </a:solidFill>
                <a:latin typeface="Montserrat"/>
                <a:ea typeface="Montserrat"/>
                <a:cs typeface="Montserrat"/>
              </a:defRPr>
            </a:lvl2pPr>
            <a:lvl3pPr>
              <a:defRPr sz="1518" b="1">
                <a:solidFill>
                  <a:srgbClr val="8A705B"/>
                </a:solidFill>
                <a:latin typeface="Montserrat"/>
                <a:ea typeface="Montserrat"/>
                <a:cs typeface="Montserrat"/>
              </a:defRPr>
            </a:lvl3pPr>
            <a:lvl4pPr>
              <a:defRPr sz="1518" b="1">
                <a:solidFill>
                  <a:srgbClr val="8A705B"/>
                </a:solidFill>
                <a:latin typeface="Montserrat"/>
                <a:ea typeface="Montserrat"/>
                <a:cs typeface="Montserrat"/>
              </a:defRPr>
            </a:lvl4pPr>
            <a:lvl5pPr>
              <a:defRPr sz="1518" b="1">
                <a:solidFill>
                  <a:srgbClr val="8A705B"/>
                </a:solidFill>
                <a:latin typeface="Montserrat"/>
                <a:ea typeface="Montserrat"/>
                <a:cs typeface="Montserrat"/>
              </a:defRPr>
            </a:lvl5pPr>
            <a:lvl6pPr>
              <a:defRPr sz="1518" b="1">
                <a:solidFill>
                  <a:srgbClr val="8A705B"/>
                </a:solidFill>
                <a:latin typeface="Montserrat"/>
                <a:ea typeface="Montserrat"/>
                <a:cs typeface="Montserrat"/>
              </a:defRPr>
            </a:lvl6pPr>
            <a:lvl7pPr>
              <a:defRPr sz="1518" b="1">
                <a:solidFill>
                  <a:srgbClr val="8A705B"/>
                </a:solidFill>
                <a:latin typeface="Montserrat"/>
                <a:ea typeface="Montserrat"/>
                <a:cs typeface="Montserrat"/>
              </a:defRPr>
            </a:lvl7pPr>
            <a:lvl8pPr>
              <a:defRPr sz="1518" b="1">
                <a:solidFill>
                  <a:srgbClr val="8A705B"/>
                </a:solidFill>
                <a:latin typeface="Montserrat"/>
                <a:ea typeface="Montserrat"/>
                <a:cs typeface="Montserrat"/>
              </a:defRPr>
            </a:lvl8pPr>
            <a:lvl9pPr>
              <a:defRPr sz="1518" b="1">
                <a:solidFill>
                  <a:srgbClr val="8A705B"/>
                </a:solidFill>
                <a:latin typeface="Montserrat"/>
                <a:ea typeface="Montserrat"/>
                <a:cs typeface="Montserrat"/>
              </a:defRPr>
            </a:lvl9pPr>
          </a:lstStyle>
          <a:p xmlns:a="http://schemas.openxmlformats.org/drawingml/2006/main">
            <a:pPr>
              <a:defRPr sz="1518" b="1">
                <a:solidFill>
                  <a:srgbClr val="8A705B"/>
                </a:solidFill>
                <a:latin typeface="Montserrat"/>
                <a:ea typeface="Montserrat"/>
                <a:cs typeface="Montserrat"/>
              </a:defRPr>
            </a:pPr>
            <a:r>
              <a:rPr sz="1518" b="1">
                <a:solidFill>
                  <a:srgbClr val="8A705B"/>
                </a:solidFill>
                <a:latin typeface="Montserrat"/>
                <a:ea typeface="Montserrat"/>
                <a:cs typeface="Montserrat"/>
              </a:rPr>
              <a:t>Note / 5</a:t>
            </a:r>
          </a:p>
        </p:txBody>
      </p:sp>
      <p:sp>
        <p:nvSpPr>
          <p:cNvPr id="9" name="">
            <a:extLst xmlns:a="http://schemas.openxmlformats.org/drawingml/2006/main">
              <a:ext uri="{FF2B5EF4-FFF2-40B4-BE49-F238E27FC236}">
                <a16:creationId xmlns:a16="http://schemas.microsoft.com/office/drawing/2014/main" id="{5C6C4750-4F7C-4717-BEDA-383733CE858B}"/>
              </a:ext>
            </a:extLst>
          </p:cNvPr>
          <p:cNvSpPr>
            <a:spLocks xmlns:a="http://schemas.openxmlformats.org/drawingml/2006/main" noGrp="1"/>
          </p:cNvSpPr>
          <p:nvPr/>
        </p:nvSpPr>
        <p:spPr>
          <a:xfrm xmlns:a="http://schemas.openxmlformats.org/drawingml/2006/main">
            <a:off x="4476750" y="2333625"/>
            <a:ext cx="123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18" b="1">
                <a:solidFill>
                  <a:srgbClr val="8A705B"/>
                </a:solidFill>
                <a:latin typeface="Montserrat"/>
                <a:ea typeface="Montserrat"/>
                <a:cs typeface="Montserrat"/>
              </a:defRPr>
            </a:defPPr>
            <a:lvl1pPr>
              <a:defRPr sz="1518" b="1">
                <a:solidFill>
                  <a:srgbClr val="8A705B"/>
                </a:solidFill>
                <a:latin typeface="Montserrat"/>
                <a:ea typeface="Montserrat"/>
                <a:cs typeface="Montserrat"/>
              </a:defRPr>
            </a:lvl1pPr>
            <a:lvl2pPr>
              <a:defRPr sz="1518" b="1">
                <a:solidFill>
                  <a:srgbClr val="8A705B"/>
                </a:solidFill>
                <a:latin typeface="Montserrat"/>
                <a:ea typeface="Montserrat"/>
                <a:cs typeface="Montserrat"/>
              </a:defRPr>
            </a:lvl2pPr>
            <a:lvl3pPr>
              <a:defRPr sz="1518" b="1">
                <a:solidFill>
                  <a:srgbClr val="8A705B"/>
                </a:solidFill>
                <a:latin typeface="Montserrat"/>
                <a:ea typeface="Montserrat"/>
                <a:cs typeface="Montserrat"/>
              </a:defRPr>
            </a:lvl3pPr>
            <a:lvl4pPr>
              <a:defRPr sz="1518" b="1">
                <a:solidFill>
                  <a:srgbClr val="8A705B"/>
                </a:solidFill>
                <a:latin typeface="Montserrat"/>
                <a:ea typeface="Montserrat"/>
                <a:cs typeface="Montserrat"/>
              </a:defRPr>
            </a:lvl4pPr>
            <a:lvl5pPr>
              <a:defRPr sz="1518" b="1">
                <a:solidFill>
                  <a:srgbClr val="8A705B"/>
                </a:solidFill>
                <a:latin typeface="Montserrat"/>
                <a:ea typeface="Montserrat"/>
                <a:cs typeface="Montserrat"/>
              </a:defRPr>
            </a:lvl5pPr>
            <a:lvl6pPr>
              <a:defRPr sz="1518" b="1">
                <a:solidFill>
                  <a:srgbClr val="8A705B"/>
                </a:solidFill>
                <a:latin typeface="Montserrat"/>
                <a:ea typeface="Montserrat"/>
                <a:cs typeface="Montserrat"/>
              </a:defRPr>
            </a:lvl6pPr>
            <a:lvl7pPr>
              <a:defRPr sz="1518" b="1">
                <a:solidFill>
                  <a:srgbClr val="8A705B"/>
                </a:solidFill>
                <a:latin typeface="Montserrat"/>
                <a:ea typeface="Montserrat"/>
                <a:cs typeface="Montserrat"/>
              </a:defRPr>
            </a:lvl7pPr>
            <a:lvl8pPr>
              <a:defRPr sz="1518" b="1">
                <a:solidFill>
                  <a:srgbClr val="8A705B"/>
                </a:solidFill>
                <a:latin typeface="Montserrat"/>
                <a:ea typeface="Montserrat"/>
                <a:cs typeface="Montserrat"/>
              </a:defRPr>
            </a:lvl8pPr>
            <a:lvl9pPr>
              <a:defRPr sz="1518" b="1">
                <a:solidFill>
                  <a:srgbClr val="8A705B"/>
                </a:solidFill>
                <a:latin typeface="Montserrat"/>
                <a:ea typeface="Montserrat"/>
                <a:cs typeface="Montserrat"/>
              </a:defRPr>
            </a:lvl9pPr>
          </a:lstStyle>
          <a:p xmlns:a="http://schemas.openxmlformats.org/drawingml/2006/main">
            <a:pPr>
              <a:defRPr sz="1518" b="1">
                <a:solidFill>
                  <a:srgbClr val="8A705B"/>
                </a:solidFill>
                <a:latin typeface="Montserrat"/>
                <a:ea typeface="Montserrat"/>
                <a:cs typeface="Montserrat"/>
              </a:defRPr>
            </a:pPr>
            <a:r>
              <a:rPr sz="1518" b="1">
                <a:solidFill>
                  <a:srgbClr val="8A705B"/>
                </a:solidFill>
                <a:latin typeface="Montserrat"/>
                <a:ea typeface="Montserrat"/>
                <a:cs typeface="Montserrat"/>
              </a:rPr>
              <a:t>Avis</a:t>
            </a:r>
          </a:p>
        </p:txBody>
      </p:sp>
      <p:sp>
        <p:nvSpPr>
          <p:cNvPr id="10" name="">
            <a:extLst xmlns:a="http://schemas.openxmlformats.org/drawingml/2006/main">
              <a:ext uri="{FF2B5EF4-FFF2-40B4-BE49-F238E27FC236}">
                <a16:creationId xmlns:a16="http://schemas.microsoft.com/office/drawing/2014/main" id="{9DEFD247-475D-4EEA-BD70-0C78A5DBB57C}"/>
              </a:ext>
            </a:extLst>
          </p:cNvPr>
          <p:cNvSpPr>
            <a:spLocks xmlns:a="http://schemas.openxmlformats.org/drawingml/2006/main" noGrp="1"/>
          </p:cNvSpPr>
          <p:nvPr/>
        </p:nvSpPr>
        <p:spPr>
          <a:xfrm xmlns:a="http://schemas.openxmlformats.org/drawingml/2006/main">
            <a:off x="666750" y="2714625"/>
            <a:ext cx="5095875" cy="352425"/>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D1C919-B5C0-4AA8-B22C-7A6DC98D58BE}"/>
              </a:ext>
            </a:extLst>
          </p:cNvPr>
          <p:cNvSpPr>
            <a:spLocks xmlns:a="http://schemas.openxmlformats.org/drawingml/2006/main" noGrp="1"/>
          </p:cNvSpPr>
          <p:nvPr/>
        </p:nvSpPr>
        <p:spPr>
          <a:xfrm xmlns:a="http://schemas.openxmlformats.org/drawingml/2006/main">
            <a:off x="762000" y="27432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Bas</a:t>
            </a:r>
          </a:p>
        </p:txBody>
      </p:sp>
      <p:sp>
        <p:nvSpPr>
          <p:cNvPr id="12" name="">
            <a:extLst xmlns:a="http://schemas.openxmlformats.org/drawingml/2006/main">
              <a:ext uri="{FF2B5EF4-FFF2-40B4-BE49-F238E27FC236}">
                <a16:creationId xmlns:a16="http://schemas.microsoft.com/office/drawing/2014/main" id="{17432038-D8BD-4E06-864B-3B38983F8427}"/>
              </a:ext>
            </a:extLst>
          </p:cNvPr>
          <p:cNvSpPr>
            <a:spLocks xmlns:a="http://schemas.openxmlformats.org/drawingml/2006/main" noGrp="1"/>
          </p:cNvSpPr>
          <p:nvPr/>
        </p:nvSpPr>
        <p:spPr>
          <a:xfrm xmlns:a="http://schemas.openxmlformats.org/drawingml/2006/main">
            <a:off x="2857500" y="27432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4,29</a:t>
            </a:r>
          </a:p>
        </p:txBody>
      </p:sp>
      <p:sp>
        <p:nvSpPr>
          <p:cNvPr id="13" name="">
            <a:extLst xmlns:a="http://schemas.openxmlformats.org/drawingml/2006/main">
              <a:ext uri="{FF2B5EF4-FFF2-40B4-BE49-F238E27FC236}">
                <a16:creationId xmlns:a16="http://schemas.microsoft.com/office/drawing/2014/main" id="{C7E577A4-5285-4D0C-8C9F-4C859F891EC4}"/>
              </a:ext>
            </a:extLst>
          </p:cNvPr>
          <p:cNvSpPr>
            <a:spLocks xmlns:a="http://schemas.openxmlformats.org/drawingml/2006/main" noGrp="1"/>
          </p:cNvSpPr>
          <p:nvPr/>
        </p:nvSpPr>
        <p:spPr>
          <a:xfrm xmlns:a="http://schemas.openxmlformats.org/drawingml/2006/main">
            <a:off x="4476750" y="27432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3 798</a:t>
            </a:r>
          </a:p>
        </p:txBody>
      </p:sp>
      <p:sp>
        <p:nvSpPr>
          <p:cNvPr id="14" name="">
            <a:extLst xmlns:a="http://schemas.openxmlformats.org/drawingml/2006/main">
              <a:ext uri="{FF2B5EF4-FFF2-40B4-BE49-F238E27FC236}">
                <a16:creationId xmlns:a16="http://schemas.microsoft.com/office/drawing/2014/main" id="{D4552D8C-1A7E-4BD8-9882-F706774D4955}"/>
              </a:ext>
            </a:extLst>
          </p:cNvPr>
          <p:cNvSpPr>
            <a:spLocks xmlns:a="http://schemas.openxmlformats.org/drawingml/2006/main" noGrp="1"/>
          </p:cNvSpPr>
          <p:nvPr/>
        </p:nvSpPr>
        <p:spPr>
          <a:xfrm xmlns:a="http://schemas.openxmlformats.org/drawingml/2006/main">
            <a:off x="666750" y="3076575"/>
            <a:ext cx="5095875" cy="352425"/>
          </a:xfrm>
          <a:prstGeom xmlns:a="http://schemas.openxmlformats.org/drawingml/2006/main" prst="rect">
            <a:avLst/>
          </a:prstGeom>
          <a:solidFill xmlns:a="http://schemas.openxmlformats.org/drawingml/2006/main">
            <a:srgbClr val="F3EE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D4FA1E7-12D3-4F5F-978D-A5CABB68DD0B}"/>
              </a:ext>
            </a:extLst>
          </p:cNvPr>
          <p:cNvSpPr>
            <a:spLocks xmlns:a="http://schemas.openxmlformats.org/drawingml/2006/main" noGrp="1"/>
          </p:cNvSpPr>
          <p:nvPr/>
        </p:nvSpPr>
        <p:spPr>
          <a:xfrm xmlns:a="http://schemas.openxmlformats.org/drawingml/2006/main">
            <a:off x="762000" y="31051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Lingerie</a:t>
            </a:r>
          </a:p>
        </p:txBody>
      </p:sp>
      <p:sp>
        <p:nvSpPr>
          <p:cNvPr id="16" name="">
            <a:extLst xmlns:a="http://schemas.openxmlformats.org/drawingml/2006/main">
              <a:ext uri="{FF2B5EF4-FFF2-40B4-BE49-F238E27FC236}">
                <a16:creationId xmlns:a16="http://schemas.microsoft.com/office/drawing/2014/main" id="{FCA62D61-1888-49DF-A745-010A7C151ACC}"/>
              </a:ext>
            </a:extLst>
          </p:cNvPr>
          <p:cNvSpPr>
            <a:spLocks xmlns:a="http://schemas.openxmlformats.org/drawingml/2006/main" noGrp="1"/>
          </p:cNvSpPr>
          <p:nvPr/>
        </p:nvSpPr>
        <p:spPr>
          <a:xfrm xmlns:a="http://schemas.openxmlformats.org/drawingml/2006/main">
            <a:off x="2857500" y="3105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4,28</a:t>
            </a:r>
          </a:p>
        </p:txBody>
      </p:sp>
      <p:sp>
        <p:nvSpPr>
          <p:cNvPr id="17" name="">
            <a:extLst xmlns:a="http://schemas.openxmlformats.org/drawingml/2006/main">
              <a:ext uri="{FF2B5EF4-FFF2-40B4-BE49-F238E27FC236}">
                <a16:creationId xmlns:a16="http://schemas.microsoft.com/office/drawing/2014/main" id="{F7F729A5-8657-4D06-8CB5-46546035527B}"/>
              </a:ext>
            </a:extLst>
          </p:cNvPr>
          <p:cNvSpPr>
            <a:spLocks xmlns:a="http://schemas.openxmlformats.org/drawingml/2006/main" noGrp="1"/>
          </p:cNvSpPr>
          <p:nvPr/>
        </p:nvSpPr>
        <p:spPr>
          <a:xfrm xmlns:a="http://schemas.openxmlformats.org/drawingml/2006/main">
            <a:off x="4476750" y="3105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1 735</a:t>
            </a:r>
          </a:p>
        </p:txBody>
      </p:sp>
      <p:sp>
        <p:nvSpPr>
          <p:cNvPr id="18" name="">
            <a:extLst xmlns:a="http://schemas.openxmlformats.org/drawingml/2006/main">
              <a:ext uri="{FF2B5EF4-FFF2-40B4-BE49-F238E27FC236}">
                <a16:creationId xmlns:a16="http://schemas.microsoft.com/office/drawing/2014/main" id="{9CF274B8-D948-4729-A135-9B3B241C7FDB}"/>
              </a:ext>
            </a:extLst>
          </p:cNvPr>
          <p:cNvSpPr>
            <a:spLocks xmlns:a="http://schemas.openxmlformats.org/drawingml/2006/main" noGrp="1"/>
          </p:cNvSpPr>
          <p:nvPr/>
        </p:nvSpPr>
        <p:spPr>
          <a:xfrm xmlns:a="http://schemas.openxmlformats.org/drawingml/2006/main">
            <a:off x="666750" y="3438525"/>
            <a:ext cx="5095875" cy="352425"/>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60F260C-14DC-4E27-BDE3-633213142A65}"/>
              </a:ext>
            </a:extLst>
          </p:cNvPr>
          <p:cNvSpPr>
            <a:spLocks xmlns:a="http://schemas.openxmlformats.org/drawingml/2006/main" noGrp="1"/>
          </p:cNvSpPr>
          <p:nvPr/>
        </p:nvSpPr>
        <p:spPr>
          <a:xfrm xmlns:a="http://schemas.openxmlformats.org/drawingml/2006/main">
            <a:off x="762000" y="34671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Vestes</a:t>
            </a:r>
          </a:p>
        </p:txBody>
      </p:sp>
      <p:sp>
        <p:nvSpPr>
          <p:cNvPr id="20" name="">
            <a:extLst xmlns:a="http://schemas.openxmlformats.org/drawingml/2006/main">
              <a:ext uri="{FF2B5EF4-FFF2-40B4-BE49-F238E27FC236}">
                <a16:creationId xmlns:a16="http://schemas.microsoft.com/office/drawing/2014/main" id="{65495AA3-7B19-4B94-AB99-7283A50B1616}"/>
              </a:ext>
            </a:extLst>
          </p:cNvPr>
          <p:cNvSpPr>
            <a:spLocks xmlns:a="http://schemas.openxmlformats.org/drawingml/2006/main" noGrp="1"/>
          </p:cNvSpPr>
          <p:nvPr/>
        </p:nvSpPr>
        <p:spPr>
          <a:xfrm xmlns:a="http://schemas.openxmlformats.org/drawingml/2006/main">
            <a:off x="2857500" y="34671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4,26</a:t>
            </a:r>
          </a:p>
        </p:txBody>
      </p:sp>
      <p:sp>
        <p:nvSpPr>
          <p:cNvPr id="21" name="">
            <a:extLst xmlns:a="http://schemas.openxmlformats.org/drawingml/2006/main">
              <a:ext uri="{FF2B5EF4-FFF2-40B4-BE49-F238E27FC236}">
                <a16:creationId xmlns:a16="http://schemas.microsoft.com/office/drawing/2014/main" id="{37637138-51DA-4FC1-9609-E60C2D45069A}"/>
              </a:ext>
            </a:extLst>
          </p:cNvPr>
          <p:cNvSpPr>
            <a:spLocks xmlns:a="http://schemas.openxmlformats.org/drawingml/2006/main" noGrp="1"/>
          </p:cNvSpPr>
          <p:nvPr/>
        </p:nvSpPr>
        <p:spPr>
          <a:xfrm xmlns:a="http://schemas.openxmlformats.org/drawingml/2006/main">
            <a:off x="4476750" y="34671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1 032</a:t>
            </a:r>
          </a:p>
        </p:txBody>
      </p:sp>
      <p:sp>
        <p:nvSpPr>
          <p:cNvPr id="22" name="">
            <a:extLst xmlns:a="http://schemas.openxmlformats.org/drawingml/2006/main">
              <a:ext uri="{FF2B5EF4-FFF2-40B4-BE49-F238E27FC236}">
                <a16:creationId xmlns:a16="http://schemas.microsoft.com/office/drawing/2014/main" id="{18637E4D-A993-49C3-A21B-922C51175AD5}"/>
              </a:ext>
            </a:extLst>
          </p:cNvPr>
          <p:cNvSpPr>
            <a:spLocks xmlns:a="http://schemas.openxmlformats.org/drawingml/2006/main" noGrp="1"/>
          </p:cNvSpPr>
          <p:nvPr/>
        </p:nvSpPr>
        <p:spPr>
          <a:xfrm xmlns:a="http://schemas.openxmlformats.org/drawingml/2006/main">
            <a:off x="666750" y="3800475"/>
            <a:ext cx="5095875" cy="352425"/>
          </a:xfrm>
          <a:prstGeom xmlns:a="http://schemas.openxmlformats.org/drawingml/2006/main" prst="rect">
            <a:avLst/>
          </a:prstGeom>
          <a:solidFill xmlns:a="http://schemas.openxmlformats.org/drawingml/2006/main">
            <a:srgbClr val="F3EEE6"/>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99122EE-C8AA-4D9A-9194-4307FB872986}"/>
              </a:ext>
            </a:extLst>
          </p:cNvPr>
          <p:cNvSpPr>
            <a:spLocks xmlns:a="http://schemas.openxmlformats.org/drawingml/2006/main" noGrp="1"/>
          </p:cNvSpPr>
          <p:nvPr/>
        </p:nvSpPr>
        <p:spPr>
          <a:xfrm xmlns:a="http://schemas.openxmlformats.org/drawingml/2006/main">
            <a:off x="762000" y="38290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Hauts</a:t>
            </a:r>
          </a:p>
        </p:txBody>
      </p:sp>
      <p:sp>
        <p:nvSpPr>
          <p:cNvPr id="24" name="">
            <a:extLst xmlns:a="http://schemas.openxmlformats.org/drawingml/2006/main">
              <a:ext uri="{FF2B5EF4-FFF2-40B4-BE49-F238E27FC236}">
                <a16:creationId xmlns:a16="http://schemas.microsoft.com/office/drawing/2014/main" id="{D3FAB719-ED4F-4B70-AB54-CD7FCD7FB8BF}"/>
              </a:ext>
            </a:extLst>
          </p:cNvPr>
          <p:cNvSpPr>
            <a:spLocks xmlns:a="http://schemas.openxmlformats.org/drawingml/2006/main" noGrp="1"/>
          </p:cNvSpPr>
          <p:nvPr/>
        </p:nvSpPr>
        <p:spPr>
          <a:xfrm xmlns:a="http://schemas.openxmlformats.org/drawingml/2006/main">
            <a:off x="2857500" y="38290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4,17</a:t>
            </a:r>
          </a:p>
        </p:txBody>
      </p:sp>
      <p:sp>
        <p:nvSpPr>
          <p:cNvPr id="25" name="">
            <a:extLst xmlns:a="http://schemas.openxmlformats.org/drawingml/2006/main">
              <a:ext uri="{FF2B5EF4-FFF2-40B4-BE49-F238E27FC236}">
                <a16:creationId xmlns:a16="http://schemas.microsoft.com/office/drawing/2014/main" id="{6DC8063D-3ED9-4BA3-BD10-7C2B585AAF41}"/>
              </a:ext>
            </a:extLst>
          </p:cNvPr>
          <p:cNvSpPr>
            <a:spLocks xmlns:a="http://schemas.openxmlformats.org/drawingml/2006/main" noGrp="1"/>
          </p:cNvSpPr>
          <p:nvPr/>
        </p:nvSpPr>
        <p:spPr>
          <a:xfrm xmlns:a="http://schemas.openxmlformats.org/drawingml/2006/main">
            <a:off x="4476750" y="38290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10 468</a:t>
            </a:r>
          </a:p>
        </p:txBody>
      </p:sp>
      <p:sp>
        <p:nvSpPr>
          <p:cNvPr id="26" name="">
            <a:extLst xmlns:a="http://schemas.openxmlformats.org/drawingml/2006/main">
              <a:ext uri="{FF2B5EF4-FFF2-40B4-BE49-F238E27FC236}">
                <a16:creationId xmlns:a16="http://schemas.microsoft.com/office/drawing/2014/main" id="{D5A0E8F9-5FF4-44C2-BED4-0D120FF99C87}"/>
              </a:ext>
            </a:extLst>
          </p:cNvPr>
          <p:cNvSpPr>
            <a:spLocks xmlns:a="http://schemas.openxmlformats.org/drawingml/2006/main" noGrp="1"/>
          </p:cNvSpPr>
          <p:nvPr/>
        </p:nvSpPr>
        <p:spPr>
          <a:xfrm xmlns:a="http://schemas.openxmlformats.org/drawingml/2006/main">
            <a:off x="666750" y="4162425"/>
            <a:ext cx="5095875" cy="352425"/>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73354FB-E1E7-417A-80F1-578154F18ED5}"/>
              </a:ext>
            </a:extLst>
          </p:cNvPr>
          <p:cNvSpPr>
            <a:spLocks xmlns:a="http://schemas.openxmlformats.org/drawingml/2006/main" noGrp="1"/>
          </p:cNvSpPr>
          <p:nvPr/>
        </p:nvSpPr>
        <p:spPr>
          <a:xfrm xmlns:a="http://schemas.openxmlformats.org/drawingml/2006/main">
            <a:off x="762000"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Robes</a:t>
            </a:r>
          </a:p>
        </p:txBody>
      </p:sp>
      <p:sp>
        <p:nvSpPr>
          <p:cNvPr id="28" name="">
            <a:extLst xmlns:a="http://schemas.openxmlformats.org/drawingml/2006/main">
              <a:ext uri="{FF2B5EF4-FFF2-40B4-BE49-F238E27FC236}">
                <a16:creationId xmlns:a16="http://schemas.microsoft.com/office/drawing/2014/main" id="{EA309636-0CD8-4A17-B0C3-CE752D55DE7A}"/>
              </a:ext>
            </a:extLst>
          </p:cNvPr>
          <p:cNvSpPr>
            <a:spLocks xmlns:a="http://schemas.openxmlformats.org/drawingml/2006/main" noGrp="1"/>
          </p:cNvSpPr>
          <p:nvPr/>
        </p:nvSpPr>
        <p:spPr>
          <a:xfrm xmlns:a="http://schemas.openxmlformats.org/drawingml/2006/main">
            <a:off x="2857500" y="41910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4,15</a:t>
            </a:r>
          </a:p>
        </p:txBody>
      </p:sp>
      <p:sp>
        <p:nvSpPr>
          <p:cNvPr id="29" name="">
            <a:extLst xmlns:a="http://schemas.openxmlformats.org/drawingml/2006/main">
              <a:ext uri="{FF2B5EF4-FFF2-40B4-BE49-F238E27FC236}">
                <a16:creationId xmlns:a16="http://schemas.microsoft.com/office/drawing/2014/main" id="{E44BB254-F3B1-4697-8CE5-B8F1D2A09E9D}"/>
              </a:ext>
            </a:extLst>
          </p:cNvPr>
          <p:cNvSpPr>
            <a:spLocks xmlns:a="http://schemas.openxmlformats.org/drawingml/2006/main" noGrp="1"/>
          </p:cNvSpPr>
          <p:nvPr/>
        </p:nvSpPr>
        <p:spPr>
          <a:xfrm xmlns:a="http://schemas.openxmlformats.org/drawingml/2006/main">
            <a:off x="4476750" y="41910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6 319</a:t>
            </a:r>
          </a:p>
        </p:txBody>
      </p:sp>
      <p:sp>
        <p:nvSpPr>
          <p:cNvPr id="30" name="">
            <a:extLst xmlns:a="http://schemas.openxmlformats.org/drawingml/2006/main">
              <a:ext uri="{FF2B5EF4-FFF2-40B4-BE49-F238E27FC236}">
                <a16:creationId xmlns:a16="http://schemas.microsoft.com/office/drawing/2014/main" id="{B6CFBA3C-8718-4968-88C4-94A2403823A7}"/>
              </a:ext>
            </a:extLst>
          </p:cNvPr>
          <p:cNvSpPr>
            <a:spLocks xmlns:a="http://schemas.openxmlformats.org/drawingml/2006/main" noGrp="1"/>
          </p:cNvSpPr>
          <p:nvPr/>
        </p:nvSpPr>
        <p:spPr>
          <a:xfrm xmlns:a="http://schemas.openxmlformats.org/drawingml/2006/main">
            <a:off x="666750" y="4524375"/>
            <a:ext cx="5095875" cy="352425"/>
          </a:xfrm>
          <a:prstGeom xmlns:a="http://schemas.openxmlformats.org/drawingml/2006/main" prst="rect">
            <a:avLst/>
          </a:prstGeom>
          <a:solidFill xmlns:a="http://schemas.openxmlformats.org/drawingml/2006/main">
            <a:srgbClr val="F3EEE6"/>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A6E4A7F-8B9A-456A-87F6-40245B193307}"/>
              </a:ext>
            </a:extLst>
          </p:cNvPr>
          <p:cNvSpPr>
            <a:spLocks xmlns:a="http://schemas.openxmlformats.org/drawingml/2006/main" noGrp="1"/>
          </p:cNvSpPr>
          <p:nvPr/>
        </p:nvSpPr>
        <p:spPr>
          <a:xfrm xmlns:a="http://schemas.openxmlformats.org/drawingml/2006/main">
            <a:off x="762000" y="45529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Tendance</a:t>
            </a:r>
          </a:p>
        </p:txBody>
      </p:sp>
      <p:sp>
        <p:nvSpPr>
          <p:cNvPr id="32" name="">
            <a:extLst xmlns:a="http://schemas.openxmlformats.org/drawingml/2006/main">
              <a:ext uri="{FF2B5EF4-FFF2-40B4-BE49-F238E27FC236}">
                <a16:creationId xmlns:a16="http://schemas.microsoft.com/office/drawing/2014/main" id="{72CD5C71-25F2-4FCD-976E-09D9D1FA0B10}"/>
              </a:ext>
            </a:extLst>
          </p:cNvPr>
          <p:cNvSpPr>
            <a:spLocks xmlns:a="http://schemas.openxmlformats.org/drawingml/2006/main" noGrp="1"/>
          </p:cNvSpPr>
          <p:nvPr/>
        </p:nvSpPr>
        <p:spPr>
          <a:xfrm xmlns:a="http://schemas.openxmlformats.org/drawingml/2006/main">
            <a:off x="2857500" y="45529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3,82</a:t>
            </a:r>
          </a:p>
        </p:txBody>
      </p:sp>
      <p:sp>
        <p:nvSpPr>
          <p:cNvPr id="33" name="">
            <a:extLst xmlns:a="http://schemas.openxmlformats.org/drawingml/2006/main">
              <a:ext uri="{FF2B5EF4-FFF2-40B4-BE49-F238E27FC236}">
                <a16:creationId xmlns:a16="http://schemas.microsoft.com/office/drawing/2014/main" id="{BD690B62-ED2B-4117-A40E-AC69611816F1}"/>
              </a:ext>
            </a:extLst>
          </p:cNvPr>
          <p:cNvSpPr>
            <a:spLocks xmlns:a="http://schemas.openxmlformats.org/drawingml/2006/main" noGrp="1"/>
          </p:cNvSpPr>
          <p:nvPr/>
        </p:nvSpPr>
        <p:spPr>
          <a:xfrm xmlns:a="http://schemas.openxmlformats.org/drawingml/2006/main">
            <a:off x="4476750" y="45529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119</a:t>
            </a:r>
          </a:p>
        </p:txBody>
      </p:sp>
      <p:graphicFrame>
        <p:nvGraphicFramePr>
          <p:cNvPr id="34" name="Chart">
            <a:extLst xmlns:a="http://schemas.openxmlformats.org/drawingml/2006/main">
              <a:ext uri="{FF2B5EF4-FFF2-40B4-BE49-F238E27FC236}">
                <a16:creationId xmlns:a16="http://schemas.microsoft.com/office/drawing/2014/main" id="{9FFAE5FC-D2C4-4846-8AB0-52A7EE53D6C7}"/>
              </a:ext>
            </a:extLst>
          </p:cNvPr>
          <p:cNvGraphicFramePr/>
          <p:nvPr/>
        </p:nvGraphicFramePr>
        <p:xfrm>
          <a:off xmlns:a="http://schemas.openxmlformats.org/drawingml/2006/main" x="6096000" y="2428875"/>
          <a:ext xmlns:a="http://schemas.openxmlformats.org/drawingml/2006/main" cx="5524500" cy="2476500"/>
        </p:xfrm>
        <a:graphic xmlns:a="http://schemas.openxmlformats.org/drawingml/2006/main">
          <a:graphicData uri="http://schemas.openxmlformats.org/drawingml/2006/chart">
            <c:chart xmlns:r="http://schemas.openxmlformats.org/officeDocument/2006/relationships" xmlns:c="http://schemas.openxmlformats.org/drawingml/2006/chart" r:id="Rca02e547f7f14603"/>
          </a:graphicData>
        </a:graphic>
      </p:graphicFrame>
      <p:sp>
        <p:nvSpPr>
          <p:cNvPr id="35" name="">
            <a:extLst xmlns:a="http://schemas.openxmlformats.org/drawingml/2006/main">
              <a:ext uri="{FF2B5EF4-FFF2-40B4-BE49-F238E27FC236}">
                <a16:creationId xmlns:a16="http://schemas.microsoft.com/office/drawing/2014/main" id="{6E00F632-5FBA-402D-AB7A-67A6551F4024}"/>
              </a:ext>
            </a:extLst>
          </p:cNvPr>
          <p:cNvSpPr>
            <a:spLocks xmlns:a="http://schemas.openxmlformats.org/drawingml/2006/main" noGrp="1"/>
          </p:cNvSpPr>
          <p:nvPr/>
        </p:nvSpPr>
        <p:spPr>
          <a:xfrm xmlns:a="http://schemas.openxmlformats.org/drawingml/2006/main">
            <a:off x="6238875" y="2190750"/>
            <a:ext cx="523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18" b="0">
                <a:solidFill>
                  <a:srgbClr val="242321"/>
                </a:solidFill>
                <a:latin typeface="Montserrat"/>
                <a:ea typeface="Montserrat"/>
                <a:cs typeface="Montserrat"/>
              </a:defRPr>
            </a:defPPr>
            <a:lvl1pPr>
              <a:defRPr sz="1518" b="0">
                <a:solidFill>
                  <a:srgbClr val="242321"/>
                </a:solidFill>
                <a:latin typeface="Montserrat"/>
                <a:ea typeface="Montserrat"/>
                <a:cs typeface="Montserrat"/>
              </a:defRPr>
            </a:lvl1pPr>
            <a:lvl2pPr>
              <a:defRPr sz="1518" b="0">
                <a:solidFill>
                  <a:srgbClr val="242321"/>
                </a:solidFill>
                <a:latin typeface="Montserrat"/>
                <a:ea typeface="Montserrat"/>
                <a:cs typeface="Montserrat"/>
              </a:defRPr>
            </a:lvl2pPr>
            <a:lvl3pPr>
              <a:defRPr sz="1518" b="0">
                <a:solidFill>
                  <a:srgbClr val="242321"/>
                </a:solidFill>
                <a:latin typeface="Montserrat"/>
                <a:ea typeface="Montserrat"/>
                <a:cs typeface="Montserrat"/>
              </a:defRPr>
            </a:lvl3pPr>
            <a:lvl4pPr>
              <a:defRPr sz="1518" b="0">
                <a:solidFill>
                  <a:srgbClr val="242321"/>
                </a:solidFill>
                <a:latin typeface="Montserrat"/>
                <a:ea typeface="Montserrat"/>
                <a:cs typeface="Montserrat"/>
              </a:defRPr>
            </a:lvl4pPr>
            <a:lvl5pPr>
              <a:defRPr sz="1518" b="0">
                <a:solidFill>
                  <a:srgbClr val="242321"/>
                </a:solidFill>
                <a:latin typeface="Montserrat"/>
                <a:ea typeface="Montserrat"/>
                <a:cs typeface="Montserrat"/>
              </a:defRPr>
            </a:lvl5pPr>
            <a:lvl6pPr>
              <a:defRPr sz="1518" b="0">
                <a:solidFill>
                  <a:srgbClr val="242321"/>
                </a:solidFill>
                <a:latin typeface="Montserrat"/>
                <a:ea typeface="Montserrat"/>
                <a:cs typeface="Montserrat"/>
              </a:defRPr>
            </a:lvl6pPr>
            <a:lvl7pPr>
              <a:defRPr sz="1518" b="0">
                <a:solidFill>
                  <a:srgbClr val="242321"/>
                </a:solidFill>
                <a:latin typeface="Montserrat"/>
                <a:ea typeface="Montserrat"/>
                <a:cs typeface="Montserrat"/>
              </a:defRPr>
            </a:lvl7pPr>
            <a:lvl8pPr>
              <a:defRPr sz="1518" b="0">
                <a:solidFill>
                  <a:srgbClr val="242321"/>
                </a:solidFill>
                <a:latin typeface="Montserrat"/>
                <a:ea typeface="Montserrat"/>
                <a:cs typeface="Montserrat"/>
              </a:defRPr>
            </a:lvl8pPr>
            <a:lvl9pPr>
              <a:defRPr sz="1518" b="0">
                <a:solidFill>
                  <a:srgbClr val="242321"/>
                </a:solidFill>
                <a:latin typeface="Montserrat"/>
                <a:ea typeface="Montserrat"/>
                <a:cs typeface="Montserrat"/>
              </a:defRPr>
            </a:lvl9pPr>
          </a:lstStyle>
          <a:p xmlns:a="http://schemas.openxmlformats.org/drawingml/2006/main">
            <a:pPr>
              <a:defRPr sz="1518" b="0">
                <a:solidFill>
                  <a:srgbClr val="242321"/>
                </a:solidFill>
                <a:latin typeface="Montserrat"/>
                <a:ea typeface="Montserrat"/>
                <a:cs typeface="Montserrat"/>
              </a:defRPr>
            </a:pPr>
            <a:r>
              <a:rPr sz="1518" b="0">
                <a:solidFill>
                  <a:srgbClr val="242321"/>
                </a:solidFill>
                <a:latin typeface="Montserrat"/>
                <a:ea typeface="Montserrat"/>
                <a:cs typeface="Montserrat"/>
              </a:rPr>
              <a:t>Taux de recommandation (%)</a:t>
            </a:r>
          </a:p>
        </p:txBody>
      </p:sp>
      <p:sp>
        <p:nvSpPr>
          <p:cNvPr id="36" name="">
            <a:extLst xmlns:a="http://schemas.openxmlformats.org/drawingml/2006/main">
              <a:ext uri="{FF2B5EF4-FFF2-40B4-BE49-F238E27FC236}">
                <a16:creationId xmlns:a16="http://schemas.microsoft.com/office/drawing/2014/main" id="{E74EB911-CFEC-4752-9AFC-75D5639ED5A2}"/>
              </a:ext>
            </a:extLst>
          </p:cNvPr>
          <p:cNvSpPr>
            <a:spLocks xmlns:a="http://schemas.openxmlformats.org/drawingml/2006/main" noGrp="1"/>
          </p:cNvSpPr>
          <p:nvPr/>
        </p:nvSpPr>
        <p:spPr>
          <a:xfrm xmlns:a="http://schemas.openxmlformats.org/drawingml/2006/main">
            <a:off x="552450" y="5143500"/>
            <a:ext cx="11049000" cy="647700"/>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ECBC28C-DF52-4455-9614-AF8AAF500388}"/>
              </a:ext>
            </a:extLst>
          </p:cNvPr>
          <p:cNvSpPr>
            <a:spLocks xmlns:a="http://schemas.openxmlformats.org/drawingml/2006/main" noGrp="1"/>
          </p:cNvSpPr>
          <p:nvPr/>
        </p:nvSpPr>
        <p:spPr>
          <a:xfrm xmlns:a="http://schemas.openxmlformats.org/drawingml/2006/main">
            <a:off x="552450" y="5143500"/>
            <a:ext cx="47625" cy="6477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C99B758-C40B-4311-9385-4BC5D2FD71E5}"/>
              </a:ext>
            </a:extLst>
          </p:cNvPr>
          <p:cNvSpPr>
            <a:spLocks xmlns:a="http://schemas.openxmlformats.org/drawingml/2006/main" noGrp="1"/>
          </p:cNvSpPr>
          <p:nvPr/>
        </p:nvSpPr>
        <p:spPr>
          <a:xfrm xmlns:a="http://schemas.openxmlformats.org/drawingml/2006/main">
            <a:off x="714375" y="52292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Bas : meilleurs résultats. Tendance : résultats les plus faibles, mais 119 avis.</a:t>
            </a:r>
          </a:p>
        </p:txBody>
      </p:sp>
      <p:sp>
        <p:nvSpPr>
          <p:cNvPr id="39" name="">
            <a:extLst xmlns:a="http://schemas.openxmlformats.org/drawingml/2006/main">
              <a:ext uri="{FF2B5EF4-FFF2-40B4-BE49-F238E27FC236}">
                <a16:creationId xmlns:a16="http://schemas.microsoft.com/office/drawing/2014/main" id="{C941E3C4-CD59-4D5A-A033-3521BFD97F24}"/>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Robes : 6 319 avis, une base importante à explorer. Familles traduites depuis</a:t>
            </a:r>
          </a:p>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Department Name. Recommandation = avis recommandant le produit ÷ avis de la famille.</a:t>
            </a:r>
          </a:p>
        </p:txBody>
      </p:sp>
    </p:spTree>
    <p:extLst>
      <p:ext uri="{BB962C8B-B14F-4D97-AF65-F5344CB8AC3E}">
        <p14:creationId xmlns:p14="http://schemas.microsoft.com/office/powerpoint/2010/main" val="1956914627"/>
      </p:ext>
    </p:extLst>
  </p:cSld>
</p:sld>
</file>

<file path=ppt/slides/slide9.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DAE0BFE-49F6-4DFB-ADEE-2953DBFD72D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BA0A46-19B4-4715-8D47-DD7D7C65AB70}"/>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A53C2C-E2CB-410B-A245-3D379F97A44F}"/>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Q3 &amp; Q4 · Deux lectures de la satisfaction</a:t>
            </a:r>
          </a:p>
        </p:txBody>
      </p:sp>
      <p:sp>
        <p:nvSpPr>
          <p:cNvPr id="4" name="">
            <a:extLst xmlns:a="http://schemas.openxmlformats.org/drawingml/2006/main">
              <a:ext uri="{FF2B5EF4-FFF2-40B4-BE49-F238E27FC236}">
                <a16:creationId xmlns:a16="http://schemas.microsoft.com/office/drawing/2014/main" id="{E544EC33-EB0C-4DE4-9C8A-B90C08D53B62}"/>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09</a:t>
            </a:r>
          </a:p>
        </p:txBody>
      </p:sp>
      <p:sp>
        <p:nvSpPr>
          <p:cNvPr id="5" name="">
            <a:extLst xmlns:a="http://schemas.openxmlformats.org/drawingml/2006/main">
              <a:ext uri="{FF2B5EF4-FFF2-40B4-BE49-F238E27FC236}">
                <a16:creationId xmlns:a16="http://schemas.microsoft.com/office/drawing/2014/main" id="{3355AD00-3C9F-4121-8E7D-83F179EA932D}"/>
              </a:ext>
            </a:extLst>
          </p:cNvPr>
          <p:cNvSpPr>
            <a:spLocks xmlns:a="http://schemas.openxmlformats.org/drawingml/2006/main" noGrp="1"/>
          </p:cNvSpPr>
          <p:nvPr/>
        </p:nvSpPr>
        <p:spPr>
          <a:xfrm xmlns:a="http://schemas.openxmlformats.org/drawingml/2006/main">
            <a:off x="619125" y="1809750"/>
            <a:ext cx="5238750" cy="3524250"/>
          </a:xfrm>
          <a:prstGeom xmlns:a="http://schemas.openxmlformats.org/drawingml/2006/main" prst="roundRect">
            <a:avLst>
              <a:gd name="adj" fmla="val 2162"/>
            </a:avLst>
          </a:prstGeom>
          <a:solidFill xmlns:a="http://schemas.openxmlformats.org/drawingml/2006/main">
            <a:srgbClr val="E6DACE"/>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09D1EB6-19D0-4EFF-AC07-DBA90C23B311}"/>
              </a:ext>
            </a:extLst>
          </p:cNvPr>
          <p:cNvSpPr>
            <a:spLocks xmlns:a="http://schemas.openxmlformats.org/drawingml/2006/main" noGrp="1"/>
          </p:cNvSpPr>
          <p:nvPr/>
        </p:nvSpPr>
        <p:spPr>
          <a:xfrm xmlns:a="http://schemas.openxmlformats.org/drawingml/2006/main">
            <a:off x="6143625" y="1809750"/>
            <a:ext cx="5429250" cy="3524250"/>
          </a:xfrm>
          <a:prstGeom xmlns:a="http://schemas.openxmlformats.org/drawingml/2006/main" prst="roundRect">
            <a:avLst>
              <a:gd name="adj" fmla="val 2162"/>
            </a:avLst>
          </a:prstGeom>
          <a:solidFill xmlns:a="http://schemas.openxmlformats.org/drawingml/2006/main">
            <a:srgbClr val="DDD8D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6772F5A-DAE3-41C8-B65E-1C22BCFB6AA5}"/>
              </a:ext>
            </a:extLst>
          </p:cNvPr>
          <p:cNvSpPr>
            <a:spLocks xmlns:a="http://schemas.openxmlformats.org/drawingml/2006/main" noGrp="1"/>
          </p:cNvSpPr>
          <p:nvPr/>
        </p:nvSpPr>
        <p:spPr>
          <a:xfrm xmlns:a="http://schemas.openxmlformats.org/drawingml/2006/main">
            <a:off x="857250" y="204787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1">
                <a:solidFill>
                  <a:srgbClr val="242321"/>
                </a:solidFill>
                <a:latin typeface="Montserrat"/>
                <a:ea typeface="Montserrat"/>
                <a:cs typeface="Montserrat"/>
              </a:defRPr>
            </a:defPPr>
            <a:lvl1pPr>
              <a:defRPr sz="1863" b="1">
                <a:solidFill>
                  <a:srgbClr val="242321"/>
                </a:solidFill>
                <a:latin typeface="Montserrat"/>
                <a:ea typeface="Montserrat"/>
                <a:cs typeface="Montserrat"/>
              </a:defRPr>
            </a:lvl1pPr>
            <a:lvl2pPr>
              <a:defRPr sz="1863" b="1">
                <a:solidFill>
                  <a:srgbClr val="242321"/>
                </a:solidFill>
                <a:latin typeface="Montserrat"/>
                <a:ea typeface="Montserrat"/>
                <a:cs typeface="Montserrat"/>
              </a:defRPr>
            </a:lvl2pPr>
            <a:lvl3pPr>
              <a:defRPr sz="1863" b="1">
                <a:solidFill>
                  <a:srgbClr val="242321"/>
                </a:solidFill>
                <a:latin typeface="Montserrat"/>
                <a:ea typeface="Montserrat"/>
                <a:cs typeface="Montserrat"/>
              </a:defRPr>
            </a:lvl3pPr>
            <a:lvl4pPr>
              <a:defRPr sz="1863" b="1">
                <a:solidFill>
                  <a:srgbClr val="242321"/>
                </a:solidFill>
                <a:latin typeface="Montserrat"/>
                <a:ea typeface="Montserrat"/>
                <a:cs typeface="Montserrat"/>
              </a:defRPr>
            </a:lvl4pPr>
            <a:lvl5pPr>
              <a:defRPr sz="1863" b="1">
                <a:solidFill>
                  <a:srgbClr val="242321"/>
                </a:solidFill>
                <a:latin typeface="Montserrat"/>
                <a:ea typeface="Montserrat"/>
                <a:cs typeface="Montserrat"/>
              </a:defRPr>
            </a:lvl5pPr>
            <a:lvl6pPr>
              <a:defRPr sz="1863" b="1">
                <a:solidFill>
                  <a:srgbClr val="242321"/>
                </a:solidFill>
                <a:latin typeface="Montserrat"/>
                <a:ea typeface="Montserrat"/>
                <a:cs typeface="Montserrat"/>
              </a:defRPr>
            </a:lvl6pPr>
            <a:lvl7pPr>
              <a:defRPr sz="1863" b="1">
                <a:solidFill>
                  <a:srgbClr val="242321"/>
                </a:solidFill>
                <a:latin typeface="Montserrat"/>
                <a:ea typeface="Montserrat"/>
                <a:cs typeface="Montserrat"/>
              </a:defRPr>
            </a:lvl7pPr>
            <a:lvl8pPr>
              <a:defRPr sz="1863" b="1">
                <a:solidFill>
                  <a:srgbClr val="242321"/>
                </a:solidFill>
                <a:latin typeface="Montserrat"/>
                <a:ea typeface="Montserrat"/>
                <a:cs typeface="Montserrat"/>
              </a:defRPr>
            </a:lvl8pPr>
            <a:lvl9pPr>
              <a:defRPr sz="1863" b="1">
                <a:solidFill>
                  <a:srgbClr val="242321"/>
                </a:solidFill>
                <a:latin typeface="Montserrat"/>
                <a:ea typeface="Montserrat"/>
                <a:cs typeface="Montserrat"/>
              </a:defRPr>
            </a:lvl9pPr>
          </a:lstStyle>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Q3 · Note et recommandation</a:t>
            </a:r>
          </a:p>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vont-elles toujours ensemble ?</a:t>
            </a:r>
          </a:p>
        </p:txBody>
      </p:sp>
      <p:sp>
        <p:nvSpPr>
          <p:cNvPr id="8" name="">
            <a:extLst xmlns:a="http://schemas.openxmlformats.org/drawingml/2006/main">
              <a:ext uri="{FF2B5EF4-FFF2-40B4-BE49-F238E27FC236}">
                <a16:creationId xmlns:a16="http://schemas.microsoft.com/office/drawing/2014/main" id="{9B6A9510-F0B2-4D8B-8DA5-7DE15CE6A855}"/>
              </a:ext>
            </a:extLst>
          </p:cNvPr>
          <p:cNvSpPr>
            <a:spLocks xmlns:a="http://schemas.openxmlformats.org/drawingml/2006/main" noGrp="1"/>
          </p:cNvSpPr>
          <p:nvPr/>
        </p:nvSpPr>
        <p:spPr>
          <a:xfrm xmlns:a="http://schemas.openxmlformats.org/drawingml/2006/main">
            <a:off x="857250" y="304800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84" b="1">
                <a:solidFill>
                  <a:srgbClr val="242321"/>
                </a:solidFill>
                <a:latin typeface="Montserrat"/>
                <a:ea typeface="Montserrat"/>
                <a:cs typeface="Montserrat"/>
              </a:defRPr>
            </a:defPPr>
            <a:lvl1pPr>
              <a:defRPr sz="2484" b="1">
                <a:solidFill>
                  <a:srgbClr val="242321"/>
                </a:solidFill>
                <a:latin typeface="Montserrat"/>
                <a:ea typeface="Montserrat"/>
                <a:cs typeface="Montserrat"/>
              </a:defRPr>
            </a:lvl1pPr>
            <a:lvl2pPr>
              <a:defRPr sz="2484" b="1">
                <a:solidFill>
                  <a:srgbClr val="242321"/>
                </a:solidFill>
                <a:latin typeface="Montserrat"/>
                <a:ea typeface="Montserrat"/>
                <a:cs typeface="Montserrat"/>
              </a:defRPr>
            </a:lvl2pPr>
            <a:lvl3pPr>
              <a:defRPr sz="2484" b="1">
                <a:solidFill>
                  <a:srgbClr val="242321"/>
                </a:solidFill>
                <a:latin typeface="Montserrat"/>
                <a:ea typeface="Montserrat"/>
                <a:cs typeface="Montserrat"/>
              </a:defRPr>
            </a:lvl3pPr>
            <a:lvl4pPr>
              <a:defRPr sz="2484" b="1">
                <a:solidFill>
                  <a:srgbClr val="242321"/>
                </a:solidFill>
                <a:latin typeface="Montserrat"/>
                <a:ea typeface="Montserrat"/>
                <a:cs typeface="Montserrat"/>
              </a:defRPr>
            </a:lvl4pPr>
            <a:lvl5pPr>
              <a:defRPr sz="2484" b="1">
                <a:solidFill>
                  <a:srgbClr val="242321"/>
                </a:solidFill>
                <a:latin typeface="Montserrat"/>
                <a:ea typeface="Montserrat"/>
                <a:cs typeface="Montserrat"/>
              </a:defRPr>
            </a:lvl5pPr>
            <a:lvl6pPr>
              <a:defRPr sz="2484" b="1">
                <a:solidFill>
                  <a:srgbClr val="242321"/>
                </a:solidFill>
                <a:latin typeface="Montserrat"/>
                <a:ea typeface="Montserrat"/>
                <a:cs typeface="Montserrat"/>
              </a:defRPr>
            </a:lvl6pPr>
            <a:lvl7pPr>
              <a:defRPr sz="2484" b="1">
                <a:solidFill>
                  <a:srgbClr val="242321"/>
                </a:solidFill>
                <a:latin typeface="Montserrat"/>
                <a:ea typeface="Montserrat"/>
                <a:cs typeface="Montserrat"/>
              </a:defRPr>
            </a:lvl7pPr>
            <a:lvl8pPr>
              <a:defRPr sz="2484" b="1">
                <a:solidFill>
                  <a:srgbClr val="242321"/>
                </a:solidFill>
                <a:latin typeface="Montserrat"/>
                <a:ea typeface="Montserrat"/>
                <a:cs typeface="Montserrat"/>
              </a:defRPr>
            </a:lvl8pPr>
            <a:lvl9pPr>
              <a:defRPr sz="2484" b="1">
                <a:solidFill>
                  <a:srgbClr val="242321"/>
                </a:solidFill>
                <a:latin typeface="Montserrat"/>
                <a:ea typeface="Montserrat"/>
                <a:cs typeface="Montserrat"/>
              </a:defRPr>
            </a:lvl9pPr>
          </a:lstStyle>
          <a:p xmlns:a="http://schemas.openxmlformats.org/drawingml/2006/main">
            <a:pPr>
              <a:defRPr sz="2484" b="1">
                <a:solidFill>
                  <a:srgbClr val="242321"/>
                </a:solidFill>
                <a:latin typeface="Montserrat"/>
                <a:ea typeface="Montserrat"/>
                <a:cs typeface="Montserrat"/>
              </a:defRPr>
            </a:pPr>
            <a:r>
              <a:rPr sz="2484" b="1">
                <a:solidFill>
                  <a:srgbClr val="242321"/>
                </a:solidFill>
                <a:latin typeface="Montserrat"/>
                <a:ea typeface="Montserrat"/>
                <a:cs typeface="Montserrat"/>
              </a:rPr>
              <a:t>303 avis · 1,29 %</a:t>
            </a:r>
          </a:p>
        </p:txBody>
      </p:sp>
      <p:sp>
        <p:nvSpPr>
          <p:cNvPr id="9" name="">
            <a:extLst xmlns:a="http://schemas.openxmlformats.org/drawingml/2006/main">
              <a:ext uri="{FF2B5EF4-FFF2-40B4-BE49-F238E27FC236}">
                <a16:creationId xmlns:a16="http://schemas.microsoft.com/office/drawing/2014/main" id="{E5EECE4F-DCBE-4831-915B-6E7144DBE370}"/>
              </a:ext>
            </a:extLst>
          </p:cNvPr>
          <p:cNvSpPr>
            <a:spLocks xmlns:a="http://schemas.openxmlformats.org/drawingml/2006/main" noGrp="1"/>
          </p:cNvSpPr>
          <p:nvPr/>
        </p:nvSpPr>
        <p:spPr>
          <a:xfrm xmlns:a="http://schemas.openxmlformats.org/drawingml/2006/main">
            <a:off x="857250" y="37623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242321"/>
                </a:solidFill>
                <a:latin typeface="Montserrat"/>
                <a:ea typeface="Montserrat"/>
                <a:cs typeface="Montserrat"/>
              </a:defRPr>
            </a:defPPr>
            <a:lvl1pPr>
              <a:defRPr sz="1725" b="0">
                <a:solidFill>
                  <a:srgbClr val="242321"/>
                </a:solidFill>
                <a:latin typeface="Montserrat"/>
                <a:ea typeface="Montserrat"/>
                <a:cs typeface="Montserrat"/>
              </a:defRPr>
            </a:lvl1pPr>
            <a:lvl2pPr>
              <a:defRPr sz="1725" b="0">
                <a:solidFill>
                  <a:srgbClr val="242321"/>
                </a:solidFill>
                <a:latin typeface="Montserrat"/>
                <a:ea typeface="Montserrat"/>
                <a:cs typeface="Montserrat"/>
              </a:defRPr>
            </a:lvl2pPr>
            <a:lvl3pPr>
              <a:defRPr sz="1725" b="0">
                <a:solidFill>
                  <a:srgbClr val="242321"/>
                </a:solidFill>
                <a:latin typeface="Montserrat"/>
                <a:ea typeface="Montserrat"/>
                <a:cs typeface="Montserrat"/>
              </a:defRPr>
            </a:lvl3pPr>
            <a:lvl4pPr>
              <a:defRPr sz="1725" b="0">
                <a:solidFill>
                  <a:srgbClr val="242321"/>
                </a:solidFill>
                <a:latin typeface="Montserrat"/>
                <a:ea typeface="Montserrat"/>
                <a:cs typeface="Montserrat"/>
              </a:defRPr>
            </a:lvl4pPr>
            <a:lvl5pPr>
              <a:defRPr sz="1725" b="0">
                <a:solidFill>
                  <a:srgbClr val="242321"/>
                </a:solidFill>
                <a:latin typeface="Montserrat"/>
                <a:ea typeface="Montserrat"/>
                <a:cs typeface="Montserrat"/>
              </a:defRPr>
            </a:lvl5pPr>
            <a:lvl6pPr>
              <a:defRPr sz="1725" b="0">
                <a:solidFill>
                  <a:srgbClr val="242321"/>
                </a:solidFill>
                <a:latin typeface="Montserrat"/>
                <a:ea typeface="Montserrat"/>
                <a:cs typeface="Montserrat"/>
              </a:defRPr>
            </a:lvl6pPr>
            <a:lvl7pPr>
              <a:defRPr sz="1725" b="0">
                <a:solidFill>
                  <a:srgbClr val="242321"/>
                </a:solidFill>
                <a:latin typeface="Montserrat"/>
                <a:ea typeface="Montserrat"/>
                <a:cs typeface="Montserrat"/>
              </a:defRPr>
            </a:lvl7pPr>
            <a:lvl8pPr>
              <a:defRPr sz="1725" b="0">
                <a:solidFill>
                  <a:srgbClr val="242321"/>
                </a:solidFill>
                <a:latin typeface="Montserrat"/>
                <a:ea typeface="Montserrat"/>
                <a:cs typeface="Montserrat"/>
              </a:defRPr>
            </a:lvl8pPr>
            <a:lvl9pPr>
              <a:defRPr sz="1725" b="0">
                <a:solidFill>
                  <a:srgbClr val="242321"/>
                </a:solidFill>
                <a:latin typeface="Montserrat"/>
                <a:ea typeface="Montserrat"/>
                <a:cs typeface="Montserrat"/>
              </a:defRPr>
            </a:lvl9pPr>
          </a:lstStyle>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110 avis : note 1–2, mais recommandation.</a:t>
            </a:r>
          </a:p>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193 avis : note 4–5, sans recommandation.</a:t>
            </a:r>
          </a:p>
        </p:txBody>
      </p:sp>
      <p:sp>
        <p:nvSpPr>
          <p:cNvPr id="10" name="">
            <a:extLst xmlns:a="http://schemas.openxmlformats.org/drawingml/2006/main">
              <a:ext uri="{FF2B5EF4-FFF2-40B4-BE49-F238E27FC236}">
                <a16:creationId xmlns:a16="http://schemas.microsoft.com/office/drawing/2014/main" id="{A19FFB4A-E47C-4AEC-A9DD-E7AAA74AEABC}"/>
              </a:ext>
            </a:extLst>
          </p:cNvPr>
          <p:cNvSpPr>
            <a:spLocks xmlns:a="http://schemas.openxmlformats.org/drawingml/2006/main" noGrp="1"/>
          </p:cNvSpPr>
          <p:nvPr/>
        </p:nvSpPr>
        <p:spPr>
          <a:xfrm xmlns:a="http://schemas.openxmlformats.org/drawingml/2006/main">
            <a:off x="857250" y="48577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1">
                <a:solidFill>
                  <a:srgbClr val="242321"/>
                </a:solidFill>
                <a:latin typeface="Montserrat"/>
                <a:ea typeface="Montserrat"/>
                <a:cs typeface="Montserrat"/>
              </a:defRPr>
            </a:defPPr>
            <a:lvl1pPr>
              <a:defRPr sz="1587" b="1">
                <a:solidFill>
                  <a:srgbClr val="242321"/>
                </a:solidFill>
                <a:latin typeface="Montserrat"/>
                <a:ea typeface="Montserrat"/>
                <a:cs typeface="Montserrat"/>
              </a:defRPr>
            </a:lvl1pPr>
            <a:lvl2pPr>
              <a:defRPr sz="1587" b="1">
                <a:solidFill>
                  <a:srgbClr val="242321"/>
                </a:solidFill>
                <a:latin typeface="Montserrat"/>
                <a:ea typeface="Montserrat"/>
                <a:cs typeface="Montserrat"/>
              </a:defRPr>
            </a:lvl2pPr>
            <a:lvl3pPr>
              <a:defRPr sz="1587" b="1">
                <a:solidFill>
                  <a:srgbClr val="242321"/>
                </a:solidFill>
                <a:latin typeface="Montserrat"/>
                <a:ea typeface="Montserrat"/>
                <a:cs typeface="Montserrat"/>
              </a:defRPr>
            </a:lvl3pPr>
            <a:lvl4pPr>
              <a:defRPr sz="1587" b="1">
                <a:solidFill>
                  <a:srgbClr val="242321"/>
                </a:solidFill>
                <a:latin typeface="Montserrat"/>
                <a:ea typeface="Montserrat"/>
                <a:cs typeface="Montserrat"/>
              </a:defRPr>
            </a:lvl4pPr>
            <a:lvl5pPr>
              <a:defRPr sz="1587" b="1">
                <a:solidFill>
                  <a:srgbClr val="242321"/>
                </a:solidFill>
                <a:latin typeface="Montserrat"/>
                <a:ea typeface="Montserrat"/>
                <a:cs typeface="Montserrat"/>
              </a:defRPr>
            </a:lvl5pPr>
            <a:lvl6pPr>
              <a:defRPr sz="1587" b="1">
                <a:solidFill>
                  <a:srgbClr val="242321"/>
                </a:solidFill>
                <a:latin typeface="Montserrat"/>
                <a:ea typeface="Montserrat"/>
                <a:cs typeface="Montserrat"/>
              </a:defRPr>
            </a:lvl6pPr>
            <a:lvl7pPr>
              <a:defRPr sz="1587" b="1">
                <a:solidFill>
                  <a:srgbClr val="242321"/>
                </a:solidFill>
                <a:latin typeface="Montserrat"/>
                <a:ea typeface="Montserrat"/>
                <a:cs typeface="Montserrat"/>
              </a:defRPr>
            </a:lvl7pPr>
            <a:lvl8pPr>
              <a:defRPr sz="1587" b="1">
                <a:solidFill>
                  <a:srgbClr val="242321"/>
                </a:solidFill>
                <a:latin typeface="Montserrat"/>
                <a:ea typeface="Montserrat"/>
                <a:cs typeface="Montserrat"/>
              </a:defRPr>
            </a:lvl8pPr>
            <a:lvl9pPr>
              <a:defRPr sz="1587" b="1">
                <a:solidFill>
                  <a:srgbClr val="242321"/>
                </a:solidFill>
                <a:latin typeface="Montserrat"/>
                <a:ea typeface="Montserrat"/>
                <a:cs typeface="Montserrat"/>
              </a:defRPr>
            </a:lvl9pPr>
          </a:lstStyle>
          <a:p xmlns:a="http://schemas.openxmlformats.org/drawingml/2006/main">
            <a:pPr>
              <a:defRPr sz="1587" b="1">
                <a:solidFill>
                  <a:srgbClr val="242321"/>
                </a:solidFill>
                <a:latin typeface="Montserrat"/>
                <a:ea typeface="Montserrat"/>
                <a:cs typeface="Montserrat"/>
              </a:defRPr>
            </a:pPr>
            <a:r>
              <a:rPr sz="1587" b="1">
                <a:solidFill>
                  <a:srgbClr val="242321"/>
                </a:solidFill>
                <a:latin typeface="Montserrat"/>
                <a:ea typeface="Montserrat"/>
                <a:cs typeface="Montserrat"/>
              </a:rPr>
              <a:t>Lire le texte pour comprendre ces nuances.</a:t>
            </a:r>
          </a:p>
        </p:txBody>
      </p:sp>
      <p:sp>
        <p:nvSpPr>
          <p:cNvPr id="11" name="">
            <a:extLst xmlns:a="http://schemas.openxmlformats.org/drawingml/2006/main">
              <a:ext uri="{FF2B5EF4-FFF2-40B4-BE49-F238E27FC236}">
                <a16:creationId xmlns:a16="http://schemas.microsoft.com/office/drawing/2014/main" id="{786BD407-5784-405A-885C-55883CEA64D5}"/>
              </a:ext>
            </a:extLst>
          </p:cNvPr>
          <p:cNvSpPr>
            <a:spLocks xmlns:a="http://schemas.openxmlformats.org/drawingml/2006/main" noGrp="1"/>
          </p:cNvSpPr>
          <p:nvPr/>
        </p:nvSpPr>
        <p:spPr>
          <a:xfrm xmlns:a="http://schemas.openxmlformats.org/drawingml/2006/main">
            <a:off x="6381750" y="2047875"/>
            <a:ext cx="4905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1">
                <a:solidFill>
                  <a:srgbClr val="242321"/>
                </a:solidFill>
                <a:latin typeface="Montserrat"/>
                <a:ea typeface="Montserrat"/>
                <a:cs typeface="Montserrat"/>
              </a:defRPr>
            </a:defPPr>
            <a:lvl1pPr>
              <a:defRPr sz="1863" b="1">
                <a:solidFill>
                  <a:srgbClr val="242321"/>
                </a:solidFill>
                <a:latin typeface="Montserrat"/>
                <a:ea typeface="Montserrat"/>
                <a:cs typeface="Montserrat"/>
              </a:defRPr>
            </a:lvl1pPr>
            <a:lvl2pPr>
              <a:defRPr sz="1863" b="1">
                <a:solidFill>
                  <a:srgbClr val="242321"/>
                </a:solidFill>
                <a:latin typeface="Montserrat"/>
                <a:ea typeface="Montserrat"/>
                <a:cs typeface="Montserrat"/>
              </a:defRPr>
            </a:lvl2pPr>
            <a:lvl3pPr>
              <a:defRPr sz="1863" b="1">
                <a:solidFill>
                  <a:srgbClr val="242321"/>
                </a:solidFill>
                <a:latin typeface="Montserrat"/>
                <a:ea typeface="Montserrat"/>
                <a:cs typeface="Montserrat"/>
              </a:defRPr>
            </a:lvl3pPr>
            <a:lvl4pPr>
              <a:defRPr sz="1863" b="1">
                <a:solidFill>
                  <a:srgbClr val="242321"/>
                </a:solidFill>
                <a:latin typeface="Montserrat"/>
                <a:ea typeface="Montserrat"/>
                <a:cs typeface="Montserrat"/>
              </a:defRPr>
            </a:lvl4pPr>
            <a:lvl5pPr>
              <a:defRPr sz="1863" b="1">
                <a:solidFill>
                  <a:srgbClr val="242321"/>
                </a:solidFill>
                <a:latin typeface="Montserrat"/>
                <a:ea typeface="Montserrat"/>
                <a:cs typeface="Montserrat"/>
              </a:defRPr>
            </a:lvl5pPr>
            <a:lvl6pPr>
              <a:defRPr sz="1863" b="1">
                <a:solidFill>
                  <a:srgbClr val="242321"/>
                </a:solidFill>
                <a:latin typeface="Montserrat"/>
                <a:ea typeface="Montserrat"/>
                <a:cs typeface="Montserrat"/>
              </a:defRPr>
            </a:lvl6pPr>
            <a:lvl7pPr>
              <a:defRPr sz="1863" b="1">
                <a:solidFill>
                  <a:srgbClr val="242321"/>
                </a:solidFill>
                <a:latin typeface="Montserrat"/>
                <a:ea typeface="Montserrat"/>
                <a:cs typeface="Montserrat"/>
              </a:defRPr>
            </a:lvl7pPr>
            <a:lvl8pPr>
              <a:defRPr sz="1863" b="1">
                <a:solidFill>
                  <a:srgbClr val="242321"/>
                </a:solidFill>
                <a:latin typeface="Montserrat"/>
                <a:ea typeface="Montserrat"/>
                <a:cs typeface="Montserrat"/>
              </a:defRPr>
            </a:lvl8pPr>
            <a:lvl9pPr>
              <a:defRPr sz="1863" b="1">
                <a:solidFill>
                  <a:srgbClr val="242321"/>
                </a:solidFill>
                <a:latin typeface="Montserrat"/>
                <a:ea typeface="Montserrat"/>
                <a:cs typeface="Montserrat"/>
              </a:defRPr>
            </a:lvl9pPr>
          </a:lstStyle>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Q4 · La satisfaction varie-t-elle</a:t>
            </a:r>
          </a:p>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selon l’âge ?</a:t>
            </a:r>
          </a:p>
        </p:txBody>
      </p:sp>
      <p:sp>
        <p:nvSpPr>
          <p:cNvPr id="12" name="">
            <a:extLst xmlns:a="http://schemas.openxmlformats.org/drawingml/2006/main">
              <a:ext uri="{FF2B5EF4-FFF2-40B4-BE49-F238E27FC236}">
                <a16:creationId xmlns:a16="http://schemas.microsoft.com/office/drawing/2014/main" id="{D484D654-4261-442A-BF36-4F7F3F24DEC3}"/>
              </a:ext>
            </a:extLst>
          </p:cNvPr>
          <p:cNvSpPr>
            <a:spLocks xmlns:a="http://schemas.openxmlformats.org/drawingml/2006/main" noGrp="1"/>
          </p:cNvSpPr>
          <p:nvPr/>
        </p:nvSpPr>
        <p:spPr>
          <a:xfrm xmlns:a="http://schemas.openxmlformats.org/drawingml/2006/main">
            <a:off x="6381750" y="3048000"/>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1">
                <a:solidFill>
                  <a:srgbClr val="242321"/>
                </a:solidFill>
                <a:latin typeface="Montserrat"/>
                <a:ea typeface="Montserrat"/>
                <a:cs typeface="Montserrat"/>
              </a:defRPr>
            </a:defPPr>
            <a:lvl1pPr>
              <a:defRPr sz="1863" b="1">
                <a:solidFill>
                  <a:srgbClr val="242321"/>
                </a:solidFill>
                <a:latin typeface="Montserrat"/>
                <a:ea typeface="Montserrat"/>
                <a:cs typeface="Montserrat"/>
              </a:defRPr>
            </a:lvl1pPr>
            <a:lvl2pPr>
              <a:defRPr sz="1863" b="1">
                <a:solidFill>
                  <a:srgbClr val="242321"/>
                </a:solidFill>
                <a:latin typeface="Montserrat"/>
                <a:ea typeface="Montserrat"/>
                <a:cs typeface="Montserrat"/>
              </a:defRPr>
            </a:lvl2pPr>
            <a:lvl3pPr>
              <a:defRPr sz="1863" b="1">
                <a:solidFill>
                  <a:srgbClr val="242321"/>
                </a:solidFill>
                <a:latin typeface="Montserrat"/>
                <a:ea typeface="Montserrat"/>
                <a:cs typeface="Montserrat"/>
              </a:defRPr>
            </a:lvl3pPr>
            <a:lvl4pPr>
              <a:defRPr sz="1863" b="1">
                <a:solidFill>
                  <a:srgbClr val="242321"/>
                </a:solidFill>
                <a:latin typeface="Montserrat"/>
                <a:ea typeface="Montserrat"/>
                <a:cs typeface="Montserrat"/>
              </a:defRPr>
            </a:lvl4pPr>
            <a:lvl5pPr>
              <a:defRPr sz="1863" b="1">
                <a:solidFill>
                  <a:srgbClr val="242321"/>
                </a:solidFill>
                <a:latin typeface="Montserrat"/>
                <a:ea typeface="Montserrat"/>
                <a:cs typeface="Montserrat"/>
              </a:defRPr>
            </a:lvl5pPr>
            <a:lvl6pPr>
              <a:defRPr sz="1863" b="1">
                <a:solidFill>
                  <a:srgbClr val="242321"/>
                </a:solidFill>
                <a:latin typeface="Montserrat"/>
                <a:ea typeface="Montserrat"/>
                <a:cs typeface="Montserrat"/>
              </a:defRPr>
            </a:lvl6pPr>
            <a:lvl7pPr>
              <a:defRPr sz="1863" b="1">
                <a:solidFill>
                  <a:srgbClr val="242321"/>
                </a:solidFill>
                <a:latin typeface="Montserrat"/>
                <a:ea typeface="Montserrat"/>
                <a:cs typeface="Montserrat"/>
              </a:defRPr>
            </a:lvl7pPr>
            <a:lvl8pPr>
              <a:defRPr sz="1863" b="1">
                <a:solidFill>
                  <a:srgbClr val="242321"/>
                </a:solidFill>
                <a:latin typeface="Montserrat"/>
                <a:ea typeface="Montserrat"/>
                <a:cs typeface="Montserrat"/>
              </a:defRPr>
            </a:lvl8pPr>
            <a:lvl9pPr>
              <a:defRPr sz="1863" b="1">
                <a:solidFill>
                  <a:srgbClr val="242321"/>
                </a:solidFill>
                <a:latin typeface="Montserrat"/>
                <a:ea typeface="Montserrat"/>
                <a:cs typeface="Montserrat"/>
              </a:defRPr>
            </a:lvl9pPr>
          </a:lstStyle>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18–24 ans</a:t>
            </a:r>
          </a:p>
        </p:txBody>
      </p:sp>
      <p:sp>
        <p:nvSpPr>
          <p:cNvPr id="13" name="">
            <a:extLst xmlns:a="http://schemas.openxmlformats.org/drawingml/2006/main">
              <a:ext uri="{FF2B5EF4-FFF2-40B4-BE49-F238E27FC236}">
                <a16:creationId xmlns:a16="http://schemas.microsoft.com/office/drawing/2014/main" id="{B952C889-3318-4FB5-BA38-44E1D9DD0850}"/>
              </a:ext>
            </a:extLst>
          </p:cNvPr>
          <p:cNvSpPr>
            <a:spLocks xmlns:a="http://schemas.openxmlformats.org/drawingml/2006/main" noGrp="1"/>
          </p:cNvSpPr>
          <p:nvPr/>
        </p:nvSpPr>
        <p:spPr>
          <a:xfrm xmlns:a="http://schemas.openxmlformats.org/drawingml/2006/main">
            <a:off x="8905875" y="3048000"/>
            <a:ext cx="2333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1">
                <a:solidFill>
                  <a:srgbClr val="242321"/>
                </a:solidFill>
                <a:latin typeface="Montserrat"/>
                <a:ea typeface="Montserrat"/>
                <a:cs typeface="Montserrat"/>
              </a:defRPr>
            </a:defPPr>
            <a:lvl1pPr>
              <a:defRPr sz="1863" b="1">
                <a:solidFill>
                  <a:srgbClr val="242321"/>
                </a:solidFill>
                <a:latin typeface="Montserrat"/>
                <a:ea typeface="Montserrat"/>
                <a:cs typeface="Montserrat"/>
              </a:defRPr>
            </a:lvl1pPr>
            <a:lvl2pPr>
              <a:defRPr sz="1863" b="1">
                <a:solidFill>
                  <a:srgbClr val="242321"/>
                </a:solidFill>
                <a:latin typeface="Montserrat"/>
                <a:ea typeface="Montserrat"/>
                <a:cs typeface="Montserrat"/>
              </a:defRPr>
            </a:lvl2pPr>
            <a:lvl3pPr>
              <a:defRPr sz="1863" b="1">
                <a:solidFill>
                  <a:srgbClr val="242321"/>
                </a:solidFill>
                <a:latin typeface="Montserrat"/>
                <a:ea typeface="Montserrat"/>
                <a:cs typeface="Montserrat"/>
              </a:defRPr>
            </a:lvl3pPr>
            <a:lvl4pPr>
              <a:defRPr sz="1863" b="1">
                <a:solidFill>
                  <a:srgbClr val="242321"/>
                </a:solidFill>
                <a:latin typeface="Montserrat"/>
                <a:ea typeface="Montserrat"/>
                <a:cs typeface="Montserrat"/>
              </a:defRPr>
            </a:lvl4pPr>
            <a:lvl5pPr>
              <a:defRPr sz="1863" b="1">
                <a:solidFill>
                  <a:srgbClr val="242321"/>
                </a:solidFill>
                <a:latin typeface="Montserrat"/>
                <a:ea typeface="Montserrat"/>
                <a:cs typeface="Montserrat"/>
              </a:defRPr>
            </a:lvl5pPr>
            <a:lvl6pPr>
              <a:defRPr sz="1863" b="1">
                <a:solidFill>
                  <a:srgbClr val="242321"/>
                </a:solidFill>
                <a:latin typeface="Montserrat"/>
                <a:ea typeface="Montserrat"/>
                <a:cs typeface="Montserrat"/>
              </a:defRPr>
            </a:lvl6pPr>
            <a:lvl7pPr>
              <a:defRPr sz="1863" b="1">
                <a:solidFill>
                  <a:srgbClr val="242321"/>
                </a:solidFill>
                <a:latin typeface="Montserrat"/>
                <a:ea typeface="Montserrat"/>
                <a:cs typeface="Montserrat"/>
              </a:defRPr>
            </a:lvl7pPr>
            <a:lvl8pPr>
              <a:defRPr sz="1863" b="1">
                <a:solidFill>
                  <a:srgbClr val="242321"/>
                </a:solidFill>
                <a:latin typeface="Montserrat"/>
                <a:ea typeface="Montserrat"/>
                <a:cs typeface="Montserrat"/>
              </a:defRPr>
            </a:lvl8pPr>
            <a:lvl9pPr>
              <a:defRPr sz="1863" b="1">
                <a:solidFill>
                  <a:srgbClr val="242321"/>
                </a:solidFill>
                <a:latin typeface="Montserrat"/>
                <a:ea typeface="Montserrat"/>
                <a:cs typeface="Montserrat"/>
              </a:defRPr>
            </a:lvl9pPr>
          </a:lstStyle>
          <a:p xmlns:a="http://schemas.openxmlformats.org/drawingml/2006/main">
            <a:pPr>
              <a:defRPr sz="1863" b="1">
                <a:solidFill>
                  <a:srgbClr val="242321"/>
                </a:solidFill>
                <a:latin typeface="Montserrat"/>
                <a:ea typeface="Montserrat"/>
                <a:cs typeface="Montserrat"/>
              </a:defRPr>
            </a:pPr>
            <a:r>
              <a:rPr sz="1863" b="1">
                <a:solidFill>
                  <a:srgbClr val="242321"/>
                </a:solidFill>
                <a:latin typeface="Montserrat"/>
                <a:ea typeface="Montserrat"/>
                <a:cs typeface="Montserrat"/>
              </a:rPr>
              <a:t>25–34 ans</a:t>
            </a:r>
          </a:p>
        </p:txBody>
      </p:sp>
      <p:sp>
        <p:nvSpPr>
          <p:cNvPr id="14" name="">
            <a:extLst xmlns:a="http://schemas.openxmlformats.org/drawingml/2006/main">
              <a:ext uri="{FF2B5EF4-FFF2-40B4-BE49-F238E27FC236}">
                <a16:creationId xmlns:a16="http://schemas.microsoft.com/office/drawing/2014/main" id="{78724513-495A-4DAA-8BCC-E44FD4F5D57A}"/>
              </a:ext>
            </a:extLst>
          </p:cNvPr>
          <p:cNvSpPr>
            <a:spLocks xmlns:a="http://schemas.openxmlformats.org/drawingml/2006/main" noGrp="1"/>
          </p:cNvSpPr>
          <p:nvPr/>
        </p:nvSpPr>
        <p:spPr>
          <a:xfrm xmlns:a="http://schemas.openxmlformats.org/drawingml/2006/main">
            <a:off x="6381750" y="3571875"/>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15" b="1">
                <a:solidFill>
                  <a:srgbClr val="242321"/>
                </a:solidFill>
                <a:latin typeface="Montserrat"/>
                <a:ea typeface="Montserrat"/>
                <a:cs typeface="Montserrat"/>
              </a:defRPr>
            </a:defPPr>
            <a:lvl1pPr>
              <a:defRPr sz="2415" b="1">
                <a:solidFill>
                  <a:srgbClr val="242321"/>
                </a:solidFill>
                <a:latin typeface="Montserrat"/>
                <a:ea typeface="Montserrat"/>
                <a:cs typeface="Montserrat"/>
              </a:defRPr>
            </a:lvl1pPr>
            <a:lvl2pPr>
              <a:defRPr sz="2415" b="1">
                <a:solidFill>
                  <a:srgbClr val="242321"/>
                </a:solidFill>
                <a:latin typeface="Montserrat"/>
                <a:ea typeface="Montserrat"/>
                <a:cs typeface="Montserrat"/>
              </a:defRPr>
            </a:lvl2pPr>
            <a:lvl3pPr>
              <a:defRPr sz="2415" b="1">
                <a:solidFill>
                  <a:srgbClr val="242321"/>
                </a:solidFill>
                <a:latin typeface="Montserrat"/>
                <a:ea typeface="Montserrat"/>
                <a:cs typeface="Montserrat"/>
              </a:defRPr>
            </a:lvl3pPr>
            <a:lvl4pPr>
              <a:defRPr sz="2415" b="1">
                <a:solidFill>
                  <a:srgbClr val="242321"/>
                </a:solidFill>
                <a:latin typeface="Montserrat"/>
                <a:ea typeface="Montserrat"/>
                <a:cs typeface="Montserrat"/>
              </a:defRPr>
            </a:lvl4pPr>
            <a:lvl5pPr>
              <a:defRPr sz="2415" b="1">
                <a:solidFill>
                  <a:srgbClr val="242321"/>
                </a:solidFill>
                <a:latin typeface="Montserrat"/>
                <a:ea typeface="Montserrat"/>
                <a:cs typeface="Montserrat"/>
              </a:defRPr>
            </a:lvl5pPr>
            <a:lvl6pPr>
              <a:defRPr sz="2415" b="1">
                <a:solidFill>
                  <a:srgbClr val="242321"/>
                </a:solidFill>
                <a:latin typeface="Montserrat"/>
                <a:ea typeface="Montserrat"/>
                <a:cs typeface="Montserrat"/>
              </a:defRPr>
            </a:lvl6pPr>
            <a:lvl7pPr>
              <a:defRPr sz="2415" b="1">
                <a:solidFill>
                  <a:srgbClr val="242321"/>
                </a:solidFill>
                <a:latin typeface="Montserrat"/>
                <a:ea typeface="Montserrat"/>
                <a:cs typeface="Montserrat"/>
              </a:defRPr>
            </a:lvl7pPr>
            <a:lvl8pPr>
              <a:defRPr sz="2415" b="1">
                <a:solidFill>
                  <a:srgbClr val="242321"/>
                </a:solidFill>
                <a:latin typeface="Montserrat"/>
                <a:ea typeface="Montserrat"/>
                <a:cs typeface="Montserrat"/>
              </a:defRPr>
            </a:lvl8pPr>
            <a:lvl9pPr>
              <a:defRPr sz="2415" b="1">
                <a:solidFill>
                  <a:srgbClr val="242321"/>
                </a:solidFill>
                <a:latin typeface="Montserrat"/>
                <a:ea typeface="Montserrat"/>
                <a:cs typeface="Montserrat"/>
              </a:defRPr>
            </a:lvl9pPr>
          </a:lstStyle>
          <a:p xmlns:a="http://schemas.openxmlformats.org/drawingml/2006/main">
            <a:pPr>
              <a:defRPr sz="2415" b="1">
                <a:solidFill>
                  <a:srgbClr val="242321"/>
                </a:solidFill>
                <a:latin typeface="Montserrat"/>
                <a:ea typeface="Montserrat"/>
                <a:cs typeface="Montserrat"/>
              </a:defRPr>
            </a:pPr>
            <a:r>
              <a:rPr sz="2415" b="1">
                <a:solidFill>
                  <a:srgbClr val="242321"/>
                </a:solidFill>
                <a:latin typeface="Montserrat"/>
                <a:ea typeface="Montserrat"/>
                <a:cs typeface="Montserrat"/>
              </a:rPr>
              <a:t>86,66 %</a:t>
            </a:r>
          </a:p>
        </p:txBody>
      </p:sp>
      <p:sp>
        <p:nvSpPr>
          <p:cNvPr id="15" name="">
            <a:extLst xmlns:a="http://schemas.openxmlformats.org/drawingml/2006/main">
              <a:ext uri="{FF2B5EF4-FFF2-40B4-BE49-F238E27FC236}">
                <a16:creationId xmlns:a16="http://schemas.microsoft.com/office/drawing/2014/main" id="{8E2B44AD-954F-49FD-9C00-E4E0747D0A85}"/>
              </a:ext>
            </a:extLst>
          </p:cNvPr>
          <p:cNvSpPr>
            <a:spLocks xmlns:a="http://schemas.openxmlformats.org/drawingml/2006/main" noGrp="1"/>
          </p:cNvSpPr>
          <p:nvPr/>
        </p:nvSpPr>
        <p:spPr>
          <a:xfrm xmlns:a="http://schemas.openxmlformats.org/drawingml/2006/main">
            <a:off x="8905875" y="3571875"/>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15" b="1">
                <a:solidFill>
                  <a:srgbClr val="242321"/>
                </a:solidFill>
                <a:latin typeface="Montserrat"/>
                <a:ea typeface="Montserrat"/>
                <a:cs typeface="Montserrat"/>
              </a:defRPr>
            </a:defPPr>
            <a:lvl1pPr>
              <a:defRPr sz="2415" b="1">
                <a:solidFill>
                  <a:srgbClr val="242321"/>
                </a:solidFill>
                <a:latin typeface="Montserrat"/>
                <a:ea typeface="Montserrat"/>
                <a:cs typeface="Montserrat"/>
              </a:defRPr>
            </a:lvl1pPr>
            <a:lvl2pPr>
              <a:defRPr sz="2415" b="1">
                <a:solidFill>
                  <a:srgbClr val="242321"/>
                </a:solidFill>
                <a:latin typeface="Montserrat"/>
                <a:ea typeface="Montserrat"/>
                <a:cs typeface="Montserrat"/>
              </a:defRPr>
            </a:lvl2pPr>
            <a:lvl3pPr>
              <a:defRPr sz="2415" b="1">
                <a:solidFill>
                  <a:srgbClr val="242321"/>
                </a:solidFill>
                <a:latin typeface="Montserrat"/>
                <a:ea typeface="Montserrat"/>
                <a:cs typeface="Montserrat"/>
              </a:defRPr>
            </a:lvl3pPr>
            <a:lvl4pPr>
              <a:defRPr sz="2415" b="1">
                <a:solidFill>
                  <a:srgbClr val="242321"/>
                </a:solidFill>
                <a:latin typeface="Montserrat"/>
                <a:ea typeface="Montserrat"/>
                <a:cs typeface="Montserrat"/>
              </a:defRPr>
            </a:lvl4pPr>
            <a:lvl5pPr>
              <a:defRPr sz="2415" b="1">
                <a:solidFill>
                  <a:srgbClr val="242321"/>
                </a:solidFill>
                <a:latin typeface="Montserrat"/>
                <a:ea typeface="Montserrat"/>
                <a:cs typeface="Montserrat"/>
              </a:defRPr>
            </a:lvl5pPr>
            <a:lvl6pPr>
              <a:defRPr sz="2415" b="1">
                <a:solidFill>
                  <a:srgbClr val="242321"/>
                </a:solidFill>
                <a:latin typeface="Montserrat"/>
                <a:ea typeface="Montserrat"/>
                <a:cs typeface="Montserrat"/>
              </a:defRPr>
            </a:lvl6pPr>
            <a:lvl7pPr>
              <a:defRPr sz="2415" b="1">
                <a:solidFill>
                  <a:srgbClr val="242321"/>
                </a:solidFill>
                <a:latin typeface="Montserrat"/>
                <a:ea typeface="Montserrat"/>
                <a:cs typeface="Montserrat"/>
              </a:defRPr>
            </a:lvl7pPr>
            <a:lvl8pPr>
              <a:defRPr sz="2415" b="1">
                <a:solidFill>
                  <a:srgbClr val="242321"/>
                </a:solidFill>
                <a:latin typeface="Montserrat"/>
                <a:ea typeface="Montserrat"/>
                <a:cs typeface="Montserrat"/>
              </a:defRPr>
            </a:lvl8pPr>
            <a:lvl9pPr>
              <a:defRPr sz="2415" b="1">
                <a:solidFill>
                  <a:srgbClr val="242321"/>
                </a:solidFill>
                <a:latin typeface="Montserrat"/>
                <a:ea typeface="Montserrat"/>
                <a:cs typeface="Montserrat"/>
              </a:defRPr>
            </a:lvl9pPr>
          </a:lstStyle>
          <a:p xmlns:a="http://schemas.openxmlformats.org/drawingml/2006/main">
            <a:pPr>
              <a:defRPr sz="2415" b="1">
                <a:solidFill>
                  <a:srgbClr val="242321"/>
                </a:solidFill>
                <a:latin typeface="Montserrat"/>
                <a:ea typeface="Montserrat"/>
                <a:cs typeface="Montserrat"/>
              </a:defRPr>
            </a:pPr>
            <a:r>
              <a:rPr sz="2415" b="1">
                <a:solidFill>
                  <a:srgbClr val="242321"/>
                </a:solidFill>
                <a:latin typeface="Montserrat"/>
                <a:ea typeface="Montserrat"/>
                <a:cs typeface="Montserrat"/>
              </a:rPr>
              <a:t>80,02 %</a:t>
            </a:r>
          </a:p>
        </p:txBody>
      </p:sp>
      <p:sp>
        <p:nvSpPr>
          <p:cNvPr id="16" name="">
            <a:extLst xmlns:a="http://schemas.openxmlformats.org/drawingml/2006/main">
              <a:ext uri="{FF2B5EF4-FFF2-40B4-BE49-F238E27FC236}">
                <a16:creationId xmlns:a16="http://schemas.microsoft.com/office/drawing/2014/main" id="{2E236F08-140D-4D33-9697-FB4A142B37CC}"/>
              </a:ext>
            </a:extLst>
          </p:cNvPr>
          <p:cNvSpPr>
            <a:spLocks xmlns:a="http://schemas.openxmlformats.org/drawingml/2006/main" noGrp="1"/>
          </p:cNvSpPr>
          <p:nvPr/>
        </p:nvSpPr>
        <p:spPr>
          <a:xfrm xmlns:a="http://schemas.openxmlformats.org/drawingml/2006/main">
            <a:off x="6381750" y="40767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recommandent</a:t>
            </a:r>
          </a:p>
        </p:txBody>
      </p:sp>
      <p:sp>
        <p:nvSpPr>
          <p:cNvPr id="17" name="">
            <a:extLst xmlns:a="http://schemas.openxmlformats.org/drawingml/2006/main">
              <a:ext uri="{FF2B5EF4-FFF2-40B4-BE49-F238E27FC236}">
                <a16:creationId xmlns:a16="http://schemas.microsoft.com/office/drawing/2014/main" id="{9620D138-8CD4-49E6-BB2A-8373F948404A}"/>
              </a:ext>
            </a:extLst>
          </p:cNvPr>
          <p:cNvSpPr>
            <a:spLocks xmlns:a="http://schemas.openxmlformats.org/drawingml/2006/main" noGrp="1"/>
          </p:cNvSpPr>
          <p:nvPr/>
        </p:nvSpPr>
        <p:spPr>
          <a:xfrm xmlns:a="http://schemas.openxmlformats.org/drawingml/2006/main">
            <a:off x="8905875" y="40767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recommandent</a:t>
            </a:r>
          </a:p>
        </p:txBody>
      </p:sp>
      <p:sp>
        <p:nvSpPr>
          <p:cNvPr id="18" name="">
            <a:extLst xmlns:a="http://schemas.openxmlformats.org/drawingml/2006/main">
              <a:ext uri="{FF2B5EF4-FFF2-40B4-BE49-F238E27FC236}">
                <a16:creationId xmlns:a16="http://schemas.microsoft.com/office/drawing/2014/main" id="{94C83E3A-29E0-4737-AD13-D8791D373428}"/>
              </a:ext>
            </a:extLst>
          </p:cNvPr>
          <p:cNvSpPr>
            <a:spLocks xmlns:a="http://schemas.openxmlformats.org/drawingml/2006/main" noGrp="1"/>
          </p:cNvSpPr>
          <p:nvPr/>
        </p:nvSpPr>
        <p:spPr>
          <a:xfrm xmlns:a="http://schemas.openxmlformats.org/drawingml/2006/main">
            <a:off x="6381750" y="4638675"/>
            <a:ext cx="2333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Note : 4,33 / 5</a:t>
            </a:r>
          </a:p>
        </p:txBody>
      </p:sp>
      <p:sp>
        <p:nvSpPr>
          <p:cNvPr id="19" name="">
            <a:extLst xmlns:a="http://schemas.openxmlformats.org/drawingml/2006/main">
              <a:ext uri="{FF2B5EF4-FFF2-40B4-BE49-F238E27FC236}">
                <a16:creationId xmlns:a16="http://schemas.microsoft.com/office/drawing/2014/main" id="{C8342AA5-BC8D-46C8-AFE8-07CA85947114}"/>
              </a:ext>
            </a:extLst>
          </p:cNvPr>
          <p:cNvSpPr>
            <a:spLocks xmlns:a="http://schemas.openxmlformats.org/drawingml/2006/main" noGrp="1"/>
          </p:cNvSpPr>
          <p:nvPr/>
        </p:nvSpPr>
        <p:spPr>
          <a:xfrm xmlns:a="http://schemas.openxmlformats.org/drawingml/2006/main">
            <a:off x="8905875" y="4638675"/>
            <a:ext cx="2333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Note : 4,14 / 5</a:t>
            </a:r>
          </a:p>
        </p:txBody>
      </p:sp>
      <p:sp>
        <p:nvSpPr>
          <p:cNvPr id="20" name="">
            <a:extLst xmlns:a="http://schemas.openxmlformats.org/drawingml/2006/main">
              <a:ext uri="{FF2B5EF4-FFF2-40B4-BE49-F238E27FC236}">
                <a16:creationId xmlns:a16="http://schemas.microsoft.com/office/drawing/2014/main" id="{E392D19E-DD6E-4FDF-BF64-3717E40A428E}"/>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Q3 : 303 avis sur 23 485. Q4 : deux groupes aux résultats contrastés.</a:t>
            </a:r>
          </a:p>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Les produits commentés varient selon l’âge : l’écart ne prouve pas un effet de l’âge seul.</a:t>
            </a:r>
          </a:p>
        </p:txBody>
      </p:sp>
    </p:spTree>
    <p:extLst>
      <p:ext uri="{BB962C8B-B14F-4D97-AF65-F5344CB8AC3E}">
        <p14:creationId xmlns:p14="http://schemas.microsoft.com/office/powerpoint/2010/main" val="1016726787"/>
      </p:ext>
    </p:extLst>
  </p:cSld>
</p:sld>
</file>

<file path=ppt/slides/slide10.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B4D2400-BD72-4D8B-ABD6-EF98CDA779E3}"/>
              </a:ext>
            </a:extLst>
          </p:cNvPr>
          <p:cNvPicPr>
            <a:picLocks xmlns:a="http://schemas.openxmlformats.org/drawingml/2006/main" noChangeAspect="1"/>
          </p:cNvPicPr>
          <p:nvPr/>
        </p:nvPicPr>
        <p:blipFill>
          <a:blip xmlns:r="http://schemas.openxmlformats.org/officeDocument/2006/relationships" xmlns:a="http://schemas.openxmlformats.org/drawingml/2006/main" r:embed="R181cd141e48d47cc"/>
          <a:stretch xmlns:a="http://schemas.openxmlformats.org/drawingml/2006/main"/>
        </p:blipFill>
        <p:spPr>
          <a:xfrm xmlns:a="http://schemas.openxmlformats.org/drawingml/2006/main" flipV="1">
            <a:off x="0" y="5429250"/>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0FCBD8-F649-4E97-B24A-7E4BD48A3D1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120944-7D0B-4CF4-AE78-494EC59FEB46}"/>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AFEAF7-19C9-4BC2-98E5-2F0D633D8860}"/>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Q5 · La taille et la coupe ressortent des avis</a:t>
            </a:r>
          </a:p>
        </p:txBody>
      </p:sp>
      <p:sp>
        <p:nvSpPr>
          <p:cNvPr id="5" name="">
            <a:extLst xmlns:a="http://schemas.openxmlformats.org/drawingml/2006/main">
              <a:ext uri="{FF2B5EF4-FFF2-40B4-BE49-F238E27FC236}">
                <a16:creationId xmlns:a16="http://schemas.microsoft.com/office/drawing/2014/main" id="{1FDD8B3E-1946-4661-B933-206367F5B502}"/>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10</a:t>
            </a:r>
          </a:p>
        </p:txBody>
      </p:sp>
      <p:sp>
        <p:nvSpPr>
          <p:cNvPr id="6" name="">
            <a:extLst xmlns:a="http://schemas.openxmlformats.org/drawingml/2006/main">
              <a:ext uri="{FF2B5EF4-FFF2-40B4-BE49-F238E27FC236}">
                <a16:creationId xmlns:a16="http://schemas.microsoft.com/office/drawing/2014/main" id="{E3C48040-8D32-4C4E-8FF5-4298BCEBE11E}"/>
              </a:ext>
            </a:extLst>
          </p:cNvPr>
          <p:cNvSpPr>
            <a:spLocks xmlns:a="http://schemas.openxmlformats.org/drawingml/2006/main" noGrp="1"/>
          </p:cNvSpPr>
          <p:nvPr/>
        </p:nvSpPr>
        <p:spPr>
          <a:xfrm xmlns:a="http://schemas.openxmlformats.org/drawingml/2006/main">
            <a:off x="666750" y="15716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Part des 2 370 avis négatifs avec texte mentionnant chaque thème (%)</a:t>
            </a:r>
          </a:p>
        </p:txBody>
      </p:sp>
      <p:graphicFrame>
        <p:nvGraphicFramePr>
          <p:cNvPr id="7" name="Chart">
            <a:extLst xmlns:a="http://schemas.openxmlformats.org/drawingml/2006/main">
              <a:ext uri="{FF2B5EF4-FFF2-40B4-BE49-F238E27FC236}">
                <a16:creationId xmlns:a16="http://schemas.microsoft.com/office/drawing/2014/main" id="{0D9536F9-7444-4576-9AAD-61BEF441D413}"/>
              </a:ext>
            </a:extLst>
          </p:cNvPr>
          <p:cNvGraphicFramePr/>
          <p:nvPr/>
        </p:nvGraphicFramePr>
        <p:xfrm>
          <a:off xmlns:a="http://schemas.openxmlformats.org/drawingml/2006/main" x="619125" y="2190750"/>
          <a:ext xmlns:a="http://schemas.openxmlformats.org/drawingml/2006/main" cx="7524750" cy="2667000"/>
        </p:xfrm>
        <a:graphic xmlns:a="http://schemas.openxmlformats.org/drawingml/2006/main">
          <a:graphicData uri="http://schemas.openxmlformats.org/drawingml/2006/chart">
            <c:chart xmlns:r="http://schemas.openxmlformats.org/officeDocument/2006/relationships" xmlns:c="http://schemas.openxmlformats.org/drawingml/2006/chart" r:id="Rbcb434fa29c54a80"/>
          </a:graphicData>
        </a:graphic>
      </p:graphicFrame>
      <p:sp>
        <p:nvSpPr>
          <p:cNvPr id="8" name="">
            <a:extLst xmlns:a="http://schemas.openxmlformats.org/drawingml/2006/main">
              <a:ext uri="{FF2B5EF4-FFF2-40B4-BE49-F238E27FC236}">
                <a16:creationId xmlns:a16="http://schemas.microsoft.com/office/drawing/2014/main" id="{FF378E98-7744-4259-9989-1159165DAE5F}"/>
              </a:ext>
            </a:extLst>
          </p:cNvPr>
          <p:cNvSpPr>
            <a:spLocks xmlns:a="http://schemas.openxmlformats.org/drawingml/2006/main" noGrp="1"/>
          </p:cNvSpPr>
          <p:nvPr/>
        </p:nvSpPr>
        <p:spPr>
          <a:xfrm xmlns:a="http://schemas.openxmlformats.org/drawingml/2006/main">
            <a:off x="8572500" y="2143125"/>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242321"/>
                </a:solidFill>
                <a:latin typeface="Montserrat"/>
                <a:ea typeface="Montserrat"/>
                <a:cs typeface="Montserrat"/>
              </a:defRPr>
            </a:defPPr>
            <a:lvl1pPr>
              <a:defRPr sz="3900" b="1">
                <a:solidFill>
                  <a:srgbClr val="242321"/>
                </a:solidFill>
                <a:latin typeface="Montserrat"/>
                <a:ea typeface="Montserrat"/>
                <a:cs typeface="Montserrat"/>
              </a:defRPr>
            </a:lvl1pPr>
            <a:lvl2pPr>
              <a:defRPr sz="3900" b="1">
                <a:solidFill>
                  <a:srgbClr val="242321"/>
                </a:solidFill>
                <a:latin typeface="Montserrat"/>
                <a:ea typeface="Montserrat"/>
                <a:cs typeface="Montserrat"/>
              </a:defRPr>
            </a:lvl2pPr>
            <a:lvl3pPr>
              <a:defRPr sz="3900" b="1">
                <a:solidFill>
                  <a:srgbClr val="242321"/>
                </a:solidFill>
                <a:latin typeface="Montserrat"/>
                <a:ea typeface="Montserrat"/>
                <a:cs typeface="Montserrat"/>
              </a:defRPr>
            </a:lvl3pPr>
            <a:lvl4pPr>
              <a:defRPr sz="3900" b="1">
                <a:solidFill>
                  <a:srgbClr val="242321"/>
                </a:solidFill>
                <a:latin typeface="Montserrat"/>
                <a:ea typeface="Montserrat"/>
                <a:cs typeface="Montserrat"/>
              </a:defRPr>
            </a:lvl4pPr>
            <a:lvl5pPr>
              <a:defRPr sz="3900" b="1">
                <a:solidFill>
                  <a:srgbClr val="242321"/>
                </a:solidFill>
                <a:latin typeface="Montserrat"/>
                <a:ea typeface="Montserrat"/>
                <a:cs typeface="Montserrat"/>
              </a:defRPr>
            </a:lvl5pPr>
            <a:lvl6pPr>
              <a:defRPr sz="3900" b="1">
                <a:solidFill>
                  <a:srgbClr val="242321"/>
                </a:solidFill>
                <a:latin typeface="Montserrat"/>
                <a:ea typeface="Montserrat"/>
                <a:cs typeface="Montserrat"/>
              </a:defRPr>
            </a:lvl6pPr>
            <a:lvl7pPr>
              <a:defRPr sz="3900" b="1">
                <a:solidFill>
                  <a:srgbClr val="242321"/>
                </a:solidFill>
                <a:latin typeface="Montserrat"/>
                <a:ea typeface="Montserrat"/>
                <a:cs typeface="Montserrat"/>
              </a:defRPr>
            </a:lvl7pPr>
            <a:lvl8pPr>
              <a:defRPr sz="3900" b="1">
                <a:solidFill>
                  <a:srgbClr val="242321"/>
                </a:solidFill>
                <a:latin typeface="Montserrat"/>
                <a:ea typeface="Montserrat"/>
                <a:cs typeface="Montserrat"/>
              </a:defRPr>
            </a:lvl8pPr>
            <a:lvl9pPr>
              <a:defRPr sz="3900" b="1">
                <a:solidFill>
                  <a:srgbClr val="242321"/>
                </a:solidFill>
                <a:latin typeface="Montserrat"/>
                <a:ea typeface="Montserrat"/>
                <a:cs typeface="Montserrat"/>
              </a:defRPr>
            </a:lvl9pPr>
          </a:lstStyle>
          <a:p xmlns:a="http://schemas.openxmlformats.org/drawingml/2006/main">
            <a:pPr>
              <a:defRPr sz="3900" b="1">
                <a:solidFill>
                  <a:srgbClr val="242321"/>
                </a:solidFill>
                <a:latin typeface="Montserrat"/>
                <a:ea typeface="Montserrat"/>
                <a:cs typeface="Montserrat"/>
              </a:defRPr>
            </a:pPr>
            <a:r>
              <a:rPr sz="3900" b="1">
                <a:solidFill>
                  <a:srgbClr val="242321"/>
                </a:solidFill>
                <a:latin typeface="Montserrat"/>
                <a:ea typeface="Montserrat"/>
                <a:cs typeface="Montserrat"/>
              </a:rPr>
              <a:t>596 avis</a:t>
            </a:r>
          </a:p>
        </p:txBody>
      </p:sp>
      <p:sp>
        <p:nvSpPr>
          <p:cNvPr id="9" name="">
            <a:extLst xmlns:a="http://schemas.openxmlformats.org/drawingml/2006/main">
              <a:ext uri="{FF2B5EF4-FFF2-40B4-BE49-F238E27FC236}">
                <a16:creationId xmlns:a16="http://schemas.microsoft.com/office/drawing/2014/main" id="{EBD6A9F7-1A98-4246-84E9-131627D9F8AB}"/>
              </a:ext>
            </a:extLst>
          </p:cNvPr>
          <p:cNvSpPr>
            <a:spLocks xmlns:a="http://schemas.openxmlformats.org/drawingml/2006/main" noGrp="1"/>
          </p:cNvSpPr>
          <p:nvPr/>
        </p:nvSpPr>
        <p:spPr>
          <a:xfrm xmlns:a="http://schemas.openxmlformats.org/drawingml/2006/main">
            <a:off x="8572500" y="2857500"/>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625B53"/>
                </a:solidFill>
                <a:latin typeface="Montserrat"/>
                <a:ea typeface="Montserrat"/>
                <a:cs typeface="Montserrat"/>
              </a:defRPr>
            </a:defPPr>
            <a:lvl1pPr>
              <a:defRPr sz="1587" b="0">
                <a:solidFill>
                  <a:srgbClr val="625B53"/>
                </a:solidFill>
                <a:latin typeface="Montserrat"/>
                <a:ea typeface="Montserrat"/>
                <a:cs typeface="Montserrat"/>
              </a:defRPr>
            </a:lvl1pPr>
            <a:lvl2pPr>
              <a:defRPr sz="1587" b="0">
                <a:solidFill>
                  <a:srgbClr val="625B53"/>
                </a:solidFill>
                <a:latin typeface="Montserrat"/>
                <a:ea typeface="Montserrat"/>
                <a:cs typeface="Montserrat"/>
              </a:defRPr>
            </a:lvl2pPr>
            <a:lvl3pPr>
              <a:defRPr sz="1587" b="0">
                <a:solidFill>
                  <a:srgbClr val="625B53"/>
                </a:solidFill>
                <a:latin typeface="Montserrat"/>
                <a:ea typeface="Montserrat"/>
                <a:cs typeface="Montserrat"/>
              </a:defRPr>
            </a:lvl3pPr>
            <a:lvl4pPr>
              <a:defRPr sz="1587" b="0">
                <a:solidFill>
                  <a:srgbClr val="625B53"/>
                </a:solidFill>
                <a:latin typeface="Montserrat"/>
                <a:ea typeface="Montserrat"/>
                <a:cs typeface="Montserrat"/>
              </a:defRPr>
            </a:lvl4pPr>
            <a:lvl5pPr>
              <a:defRPr sz="1587" b="0">
                <a:solidFill>
                  <a:srgbClr val="625B53"/>
                </a:solidFill>
                <a:latin typeface="Montserrat"/>
                <a:ea typeface="Montserrat"/>
                <a:cs typeface="Montserrat"/>
              </a:defRPr>
            </a:lvl5pPr>
            <a:lvl6pPr>
              <a:defRPr sz="1587" b="0">
                <a:solidFill>
                  <a:srgbClr val="625B53"/>
                </a:solidFill>
                <a:latin typeface="Montserrat"/>
                <a:ea typeface="Montserrat"/>
                <a:cs typeface="Montserrat"/>
              </a:defRPr>
            </a:lvl6pPr>
            <a:lvl7pPr>
              <a:defRPr sz="1587" b="0">
                <a:solidFill>
                  <a:srgbClr val="625B53"/>
                </a:solidFill>
                <a:latin typeface="Montserrat"/>
                <a:ea typeface="Montserrat"/>
                <a:cs typeface="Montserrat"/>
              </a:defRPr>
            </a:lvl7pPr>
            <a:lvl8pPr>
              <a:defRPr sz="1587" b="0">
                <a:solidFill>
                  <a:srgbClr val="625B53"/>
                </a:solidFill>
                <a:latin typeface="Montserrat"/>
                <a:ea typeface="Montserrat"/>
                <a:cs typeface="Montserrat"/>
              </a:defRPr>
            </a:lvl8pPr>
            <a:lvl9pPr>
              <a:defRPr sz="1587" b="0">
                <a:solidFill>
                  <a:srgbClr val="625B53"/>
                </a:solidFill>
                <a:latin typeface="Montserrat"/>
                <a:ea typeface="Montserrat"/>
                <a:cs typeface="Montserrat"/>
              </a:defRPr>
            </a:lvl9pPr>
          </a:lstStyle>
          <a:p xmlns:a="http://schemas.openxmlformats.org/drawingml/2006/main">
            <a:pPr>
              <a:defRPr sz="1587" b="0">
                <a:solidFill>
                  <a:srgbClr val="625B53"/>
                </a:solidFill>
                <a:latin typeface="Montserrat"/>
                <a:ea typeface="Montserrat"/>
                <a:cs typeface="Montserrat"/>
              </a:defRPr>
            </a:pPr>
            <a:r>
              <a:rPr sz="1587" b="0">
                <a:solidFill>
                  <a:srgbClr val="625B53"/>
                </a:solidFill>
                <a:latin typeface="Montserrat"/>
                <a:ea typeface="Montserrat"/>
                <a:cs typeface="Montserrat"/>
              </a:rPr>
              <a:t>mentionnent la taille ou la coupe,</a:t>
            </a:r>
          </a:p>
          <a:p xmlns:a="http://schemas.openxmlformats.org/drawingml/2006/main">
            <a:pPr>
              <a:defRPr sz="1587" b="0">
                <a:solidFill>
                  <a:srgbClr val="625B53"/>
                </a:solidFill>
                <a:latin typeface="Montserrat"/>
                <a:ea typeface="Montserrat"/>
                <a:cs typeface="Montserrat"/>
              </a:defRPr>
            </a:pPr>
            <a:r>
              <a:rPr sz="1587" b="0">
                <a:solidFill>
                  <a:srgbClr val="625B53"/>
                </a:solidFill>
                <a:latin typeface="Montserrat"/>
                <a:ea typeface="Montserrat"/>
                <a:cs typeface="Montserrat"/>
              </a:rPr>
              <a:t>soit 25,15 % des avis négatifs.</a:t>
            </a:r>
          </a:p>
        </p:txBody>
      </p:sp>
      <p:sp>
        <p:nvSpPr>
          <p:cNvPr id="10" name="">
            <a:extLst xmlns:a="http://schemas.openxmlformats.org/drawingml/2006/main">
              <a:ext uri="{FF2B5EF4-FFF2-40B4-BE49-F238E27FC236}">
                <a16:creationId xmlns:a16="http://schemas.microsoft.com/office/drawing/2014/main" id="{842D5118-48D5-47FC-8A8F-F44ED233767C}"/>
              </a:ext>
            </a:extLst>
          </p:cNvPr>
          <p:cNvSpPr>
            <a:spLocks xmlns:a="http://schemas.openxmlformats.org/drawingml/2006/main" noGrp="1"/>
          </p:cNvSpPr>
          <p:nvPr/>
        </p:nvSpPr>
        <p:spPr>
          <a:xfrm xmlns:a="http://schemas.openxmlformats.org/drawingml/2006/main">
            <a:off x="552450" y="5143500"/>
            <a:ext cx="11049000" cy="647700"/>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6F3931C-8E8A-48BB-9B88-AADC21121435}"/>
              </a:ext>
            </a:extLst>
          </p:cNvPr>
          <p:cNvSpPr>
            <a:spLocks xmlns:a="http://schemas.openxmlformats.org/drawingml/2006/main" noGrp="1"/>
          </p:cNvSpPr>
          <p:nvPr/>
        </p:nvSpPr>
        <p:spPr>
          <a:xfrm xmlns:a="http://schemas.openxmlformats.org/drawingml/2006/main">
            <a:off x="552450" y="5143500"/>
            <a:ext cx="47625" cy="6477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60A0A3A-DFCA-4050-BC76-3DA53486E100}"/>
              </a:ext>
            </a:extLst>
          </p:cNvPr>
          <p:cNvSpPr>
            <a:spLocks xmlns:a="http://schemas.openxmlformats.org/drawingml/2006/main" noGrp="1"/>
          </p:cNvSpPr>
          <p:nvPr/>
        </p:nvSpPr>
        <p:spPr>
          <a:xfrm xmlns:a="http://schemas.openxmlformats.org/drawingml/2006/main">
            <a:off x="714375" y="52292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Première piste : aider à choisir la bonne taille et expliquer la coupe.</a:t>
            </a:r>
          </a:p>
        </p:txBody>
      </p:sp>
      <p:sp>
        <p:nvSpPr>
          <p:cNvPr id="13" name="">
            <a:extLst xmlns:a="http://schemas.openxmlformats.org/drawingml/2006/main">
              <a:ext uri="{FF2B5EF4-FFF2-40B4-BE49-F238E27FC236}">
                <a16:creationId xmlns:a16="http://schemas.microsoft.com/office/drawing/2014/main" id="{5F0BE41C-36FC-4144-91F7-B587AE6151EF}"/>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Repérage d’expressions dans les commentaires, puis vérification d’exemples.</a:t>
            </a:r>
          </a:p>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Au moins un thème détecté dans 33,42 % des avis négatifs. Plusieurs thèmes possibles.</a:t>
            </a:r>
          </a:p>
        </p:txBody>
      </p:sp>
    </p:spTree>
    <p:extLst>
      <p:ext uri="{BB962C8B-B14F-4D97-AF65-F5344CB8AC3E}">
        <p14:creationId xmlns:p14="http://schemas.microsoft.com/office/powerpoint/2010/main" val="1180220956"/>
      </p:ext>
    </p:extLst>
  </p:cSld>
</p:sld>
</file>

<file path=ppt/slides/slide11.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7FCF7F3-0209-4941-9A17-AD958ACAF1D0}"/>
              </a:ext>
            </a:extLst>
          </p:cNvPr>
          <p:cNvPicPr>
            <a:picLocks xmlns:a="http://schemas.openxmlformats.org/drawingml/2006/main" noChangeAspect="1"/>
          </p:cNvPicPr>
          <p:nvPr/>
        </p:nvPicPr>
        <p:blipFill>
          <a:blip xmlns:r="http://schemas.openxmlformats.org/officeDocument/2006/relationships" xmlns:a="http://schemas.openxmlformats.org/drawingml/2006/main" r:embed="R83d39822fdf14f8d"/>
          <a:stretch xmlns:a="http://schemas.openxmlformats.org/drawingml/2006/main"/>
        </p:blipFill>
        <p:spPr>
          <a:xfrm xmlns:a="http://schemas.openxmlformats.org/drawingml/2006/main" flipH="1">
            <a:off x="10548938" y="142875"/>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E82BF54-F463-45B7-AEB5-43C20CF8DF8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998DB2-F10C-4D52-9F13-1E225A818975}"/>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AAA46A-222E-421F-ACF3-DBDCDD977FC2}"/>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Des résultats aux recommandations</a:t>
            </a:r>
          </a:p>
        </p:txBody>
      </p:sp>
      <p:sp>
        <p:nvSpPr>
          <p:cNvPr id="5" name="">
            <a:extLst xmlns:a="http://schemas.openxmlformats.org/drawingml/2006/main">
              <a:ext uri="{FF2B5EF4-FFF2-40B4-BE49-F238E27FC236}">
                <a16:creationId xmlns:a16="http://schemas.microsoft.com/office/drawing/2014/main" id="{777C13D5-D687-4E9E-A943-0C7D8937DEDD}"/>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11</a:t>
            </a:r>
          </a:p>
        </p:txBody>
      </p:sp>
      <p:sp>
        <p:nvSpPr>
          <p:cNvPr id="6" name="">
            <a:extLst xmlns:a="http://schemas.openxmlformats.org/drawingml/2006/main">
              <a:ext uri="{FF2B5EF4-FFF2-40B4-BE49-F238E27FC236}">
                <a16:creationId xmlns:a16="http://schemas.microsoft.com/office/drawing/2014/main" id="{D3FCA126-6C89-4797-B412-74A8C0FAF75D}"/>
              </a:ext>
            </a:extLst>
          </p:cNvPr>
          <p:cNvSpPr>
            <a:spLocks xmlns:a="http://schemas.openxmlformats.org/drawingml/2006/main" noGrp="1"/>
          </p:cNvSpPr>
          <p:nvPr/>
        </p:nvSpPr>
        <p:spPr>
          <a:xfrm xmlns:a="http://schemas.openxmlformats.org/drawingml/2006/main">
            <a:off x="619125" y="166687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3482F7-6DAE-4444-868B-B0672BF1B22F}"/>
              </a:ext>
            </a:extLst>
          </p:cNvPr>
          <p:cNvSpPr>
            <a:spLocks xmlns:a="http://schemas.openxmlformats.org/drawingml/2006/main" noGrp="1"/>
          </p:cNvSpPr>
          <p:nvPr/>
        </p:nvSpPr>
        <p:spPr>
          <a:xfrm xmlns:a="http://schemas.openxmlformats.org/drawingml/2006/main">
            <a:off x="714375" y="17240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01</a:t>
            </a:r>
          </a:p>
        </p:txBody>
      </p:sp>
      <p:sp>
        <p:nvSpPr>
          <p:cNvPr id="8" name="">
            <a:extLst xmlns:a="http://schemas.openxmlformats.org/drawingml/2006/main">
              <a:ext uri="{FF2B5EF4-FFF2-40B4-BE49-F238E27FC236}">
                <a16:creationId xmlns:a16="http://schemas.microsoft.com/office/drawing/2014/main" id="{3BD0ABD7-3BA8-4749-8037-C59640D5C855}"/>
              </a:ext>
            </a:extLst>
          </p:cNvPr>
          <p:cNvSpPr>
            <a:spLocks xmlns:a="http://schemas.openxmlformats.org/drawingml/2006/main" noGrp="1"/>
          </p:cNvSpPr>
          <p:nvPr/>
        </p:nvSpPr>
        <p:spPr>
          <a:xfrm xmlns:a="http://schemas.openxmlformats.org/drawingml/2006/main">
            <a:off x="1476375" y="166687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Explorer les réserves sur les robes</a:t>
            </a:r>
          </a:p>
        </p:txBody>
      </p:sp>
      <p:sp>
        <p:nvSpPr>
          <p:cNvPr id="9" name="">
            <a:extLst xmlns:a="http://schemas.openxmlformats.org/drawingml/2006/main">
              <a:ext uri="{FF2B5EF4-FFF2-40B4-BE49-F238E27FC236}">
                <a16:creationId xmlns:a16="http://schemas.microsoft.com/office/drawing/2014/main" id="{933CE9D1-A860-4E26-919D-96023A651549}"/>
              </a:ext>
            </a:extLst>
          </p:cNvPr>
          <p:cNvSpPr>
            <a:spLocks xmlns:a="http://schemas.openxmlformats.org/drawingml/2006/main" noGrp="1"/>
          </p:cNvSpPr>
          <p:nvPr/>
        </p:nvSpPr>
        <p:spPr>
          <a:xfrm xmlns:a="http://schemas.openxmlformats.org/drawingml/2006/main">
            <a:off x="1476375" y="2105025"/>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Lire les avis négatifs de Dresses. Nuancer le résultat de Trend, fondé sur 119 avis.</a:t>
            </a:r>
          </a:p>
        </p:txBody>
      </p:sp>
      <p:sp>
        <p:nvSpPr>
          <p:cNvPr id="10" name="">
            <a:extLst xmlns:a="http://schemas.openxmlformats.org/drawingml/2006/main">
              <a:ext uri="{FF2B5EF4-FFF2-40B4-BE49-F238E27FC236}">
                <a16:creationId xmlns:a16="http://schemas.microsoft.com/office/drawing/2014/main" id="{47DA0993-62F8-4B34-8B7F-21E9802287B5}"/>
              </a:ext>
            </a:extLst>
          </p:cNvPr>
          <p:cNvSpPr>
            <a:spLocks xmlns:a="http://schemas.openxmlformats.org/drawingml/2006/main" noGrp="1"/>
          </p:cNvSpPr>
          <p:nvPr/>
        </p:nvSpPr>
        <p:spPr>
          <a:xfrm xmlns:a="http://schemas.openxmlformats.org/drawingml/2006/main">
            <a:off x="619125" y="300037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C17E3DA-8F0F-40DB-8DF9-D4414D7F0569}"/>
              </a:ext>
            </a:extLst>
          </p:cNvPr>
          <p:cNvSpPr>
            <a:spLocks xmlns:a="http://schemas.openxmlformats.org/drawingml/2006/main" noGrp="1"/>
          </p:cNvSpPr>
          <p:nvPr/>
        </p:nvSpPr>
        <p:spPr>
          <a:xfrm xmlns:a="http://schemas.openxmlformats.org/drawingml/2006/main">
            <a:off x="714375" y="30575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02</a:t>
            </a:r>
          </a:p>
        </p:txBody>
      </p:sp>
      <p:sp>
        <p:nvSpPr>
          <p:cNvPr id="12" name="">
            <a:extLst xmlns:a="http://schemas.openxmlformats.org/drawingml/2006/main">
              <a:ext uri="{FF2B5EF4-FFF2-40B4-BE49-F238E27FC236}">
                <a16:creationId xmlns:a16="http://schemas.microsoft.com/office/drawing/2014/main" id="{CF79E7D4-9DCA-4AFC-82BA-96332A4E61A7}"/>
              </a:ext>
            </a:extLst>
          </p:cNvPr>
          <p:cNvSpPr>
            <a:spLocks xmlns:a="http://schemas.openxmlformats.org/drawingml/2006/main" noGrp="1"/>
          </p:cNvSpPr>
          <p:nvPr/>
        </p:nvSpPr>
        <p:spPr>
          <a:xfrm xmlns:a="http://schemas.openxmlformats.org/drawingml/2006/main">
            <a:off x="1476375" y="300037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Suivre la note et la recommandation ensemble</a:t>
            </a:r>
          </a:p>
        </p:txBody>
      </p:sp>
      <p:sp>
        <p:nvSpPr>
          <p:cNvPr id="13" name="">
            <a:extLst xmlns:a="http://schemas.openxmlformats.org/drawingml/2006/main">
              <a:ext uri="{FF2B5EF4-FFF2-40B4-BE49-F238E27FC236}">
                <a16:creationId xmlns:a16="http://schemas.microsoft.com/office/drawing/2014/main" id="{E3932820-2A87-447E-B7A4-CFE8D5564E8F}"/>
              </a:ext>
            </a:extLst>
          </p:cNvPr>
          <p:cNvSpPr>
            <a:spLocks xmlns:a="http://schemas.openxmlformats.org/drawingml/2006/main" noGrp="1"/>
          </p:cNvSpPr>
          <p:nvPr/>
        </p:nvSpPr>
        <p:spPr>
          <a:xfrm xmlns:a="http://schemas.openxmlformats.org/drawingml/2006/main">
            <a:off x="1476375" y="3438525"/>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Examiner les 303 avis discordants avant de conclure sur leur expérience.</a:t>
            </a:r>
          </a:p>
        </p:txBody>
      </p:sp>
      <p:sp>
        <p:nvSpPr>
          <p:cNvPr id="14" name="">
            <a:extLst xmlns:a="http://schemas.openxmlformats.org/drawingml/2006/main">
              <a:ext uri="{FF2B5EF4-FFF2-40B4-BE49-F238E27FC236}">
                <a16:creationId xmlns:a16="http://schemas.microsoft.com/office/drawing/2014/main" id="{B8C2AACA-7D7B-4890-AD7B-6D0CEBA59A40}"/>
              </a:ext>
            </a:extLst>
          </p:cNvPr>
          <p:cNvSpPr>
            <a:spLocks xmlns:a="http://schemas.openxmlformats.org/drawingml/2006/main" noGrp="1"/>
          </p:cNvSpPr>
          <p:nvPr/>
        </p:nvSpPr>
        <p:spPr>
          <a:xfrm xmlns:a="http://schemas.openxmlformats.org/drawingml/2006/main">
            <a:off x="619125" y="433387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A62A89A-2D34-4CD1-9871-6EA2FB28A229}"/>
              </a:ext>
            </a:extLst>
          </p:cNvPr>
          <p:cNvSpPr>
            <a:spLocks xmlns:a="http://schemas.openxmlformats.org/drawingml/2006/main" noGrp="1"/>
          </p:cNvSpPr>
          <p:nvPr/>
        </p:nvSpPr>
        <p:spPr>
          <a:xfrm xmlns:a="http://schemas.openxmlformats.org/drawingml/2006/main">
            <a:off x="714375" y="43910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03</a:t>
            </a:r>
          </a:p>
        </p:txBody>
      </p:sp>
      <p:sp>
        <p:nvSpPr>
          <p:cNvPr id="16" name="">
            <a:extLst xmlns:a="http://schemas.openxmlformats.org/drawingml/2006/main">
              <a:ext uri="{FF2B5EF4-FFF2-40B4-BE49-F238E27FC236}">
                <a16:creationId xmlns:a16="http://schemas.microsoft.com/office/drawing/2014/main" id="{7093F4F1-79E4-4CF2-99E6-0DDEF1DA4996}"/>
              </a:ext>
            </a:extLst>
          </p:cNvPr>
          <p:cNvSpPr>
            <a:spLocks xmlns:a="http://schemas.openxmlformats.org/drawingml/2006/main" noGrp="1"/>
          </p:cNvSpPr>
          <p:nvPr/>
        </p:nvSpPr>
        <p:spPr>
          <a:xfrm xmlns:a="http://schemas.openxmlformats.org/drawingml/2006/main">
            <a:off x="1476375" y="433387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Mieux guider le choix du produit</a:t>
            </a:r>
          </a:p>
        </p:txBody>
      </p:sp>
      <p:sp>
        <p:nvSpPr>
          <p:cNvPr id="17" name="">
            <a:extLst xmlns:a="http://schemas.openxmlformats.org/drawingml/2006/main">
              <a:ext uri="{FF2B5EF4-FFF2-40B4-BE49-F238E27FC236}">
                <a16:creationId xmlns:a16="http://schemas.microsoft.com/office/drawing/2014/main" id="{718F4285-8991-4C3E-8237-90A996915F26}"/>
              </a:ext>
            </a:extLst>
          </p:cNvPr>
          <p:cNvSpPr>
            <a:spLocks xmlns:a="http://schemas.openxmlformats.org/drawingml/2006/main" noGrp="1"/>
          </p:cNvSpPr>
          <p:nvPr/>
        </p:nvSpPr>
        <p:spPr>
          <a:xfrm xmlns:a="http://schemas.openxmlformats.org/drawingml/2006/main">
            <a:off x="1476375" y="4772025"/>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Préciser tailles, coupe et matières. Transmettre les défauts signalés à l’équipe qualité.</a:t>
            </a:r>
          </a:p>
        </p:txBody>
      </p:sp>
      <p:sp>
        <p:nvSpPr>
          <p:cNvPr id="18" name="">
            <a:extLst xmlns:a="http://schemas.openxmlformats.org/drawingml/2006/main">
              <a:ext uri="{FF2B5EF4-FFF2-40B4-BE49-F238E27FC236}">
                <a16:creationId xmlns:a16="http://schemas.microsoft.com/office/drawing/2014/main" id="{B3E86FA9-A4ED-44F3-8D4E-18237DD5131C}"/>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Trois pistes issues de l’analyse des avis, à tester pour Beauté Cachée.</a:t>
            </a:r>
          </a:p>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Les données portent sur des vêtements féminins, pas exclusivement sur la lingerie.</a:t>
            </a:r>
          </a:p>
        </p:txBody>
      </p:sp>
    </p:spTree>
    <p:extLst>
      <p:ext uri="{BB962C8B-B14F-4D97-AF65-F5344CB8AC3E}">
        <p14:creationId xmlns:p14="http://schemas.microsoft.com/office/powerpoint/2010/main" val="878157724"/>
      </p:ext>
    </p:extLst>
  </p:cSld>
</p:sld>
</file>

<file path=ppt/slides/slide12.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B025D5A5-59A2-47E9-855D-4CBF77D61649}"/>
              </a:ext>
            </a:extLst>
          </p:cNvPr>
          <p:cNvPicPr>
            <a:picLocks xmlns:a="http://schemas.openxmlformats.org/drawingml/2006/main" noChangeAspect="1"/>
          </p:cNvPicPr>
          <p:nvPr/>
        </p:nvPicPr>
        <p:blipFill>
          <a:blip xmlns:r="http://schemas.openxmlformats.org/officeDocument/2006/relationships" xmlns:a="http://schemas.openxmlformats.org/drawingml/2006/main" r:embed="R5fdffba296ef499d"/>
          <a:stretch xmlns:a="http://schemas.openxmlformats.org/drawingml/2006/main"/>
        </p:blipFill>
        <p:spPr>
          <a:xfrm xmlns:a="http://schemas.openxmlformats.org/drawingml/2006/main" flipH="1">
            <a:off x="10548938" y="142875"/>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868293-AC32-4D82-ABED-FD6C099355D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3BC14D0-BAD8-477C-8558-D3456C2D4449}"/>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EB98E8-0639-4A14-AAFA-BDFECC7C2665}"/>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Quatre questions métier pour le CRM</a:t>
            </a:r>
          </a:p>
        </p:txBody>
      </p:sp>
      <p:sp>
        <p:nvSpPr>
          <p:cNvPr id="5" name="">
            <a:extLst xmlns:a="http://schemas.openxmlformats.org/drawingml/2006/main">
              <a:ext uri="{FF2B5EF4-FFF2-40B4-BE49-F238E27FC236}">
                <a16:creationId xmlns:a16="http://schemas.microsoft.com/office/drawing/2014/main" id="{F9607096-9BD5-4EEE-8EB3-A1C5B0A6F2EA}"/>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12</a:t>
            </a:r>
          </a:p>
        </p:txBody>
      </p:sp>
      <p:sp>
        <p:nvSpPr>
          <p:cNvPr id="6" name="">
            <a:extLst xmlns:a="http://schemas.openxmlformats.org/drawingml/2006/main">
              <a:ext uri="{FF2B5EF4-FFF2-40B4-BE49-F238E27FC236}">
                <a16:creationId xmlns:a16="http://schemas.microsoft.com/office/drawing/2014/main" id="{9D792FAA-AD22-4E1D-B4B1-773410DF6527}"/>
              </a:ext>
            </a:extLst>
          </p:cNvPr>
          <p:cNvSpPr>
            <a:spLocks xmlns:a="http://schemas.openxmlformats.org/drawingml/2006/main" noGrp="1"/>
          </p:cNvSpPr>
          <p:nvPr/>
        </p:nvSpPr>
        <p:spPr>
          <a:xfrm xmlns:a="http://schemas.openxmlformats.org/drawingml/2006/main">
            <a:off x="619125" y="166687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711388-7D2A-41DB-8D35-812DF6B615AB}"/>
              </a:ext>
            </a:extLst>
          </p:cNvPr>
          <p:cNvSpPr>
            <a:spLocks xmlns:a="http://schemas.openxmlformats.org/drawingml/2006/main" noGrp="1"/>
          </p:cNvSpPr>
          <p:nvPr/>
        </p:nvSpPr>
        <p:spPr>
          <a:xfrm xmlns:a="http://schemas.openxmlformats.org/drawingml/2006/main">
            <a:off x="714375" y="17240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01</a:t>
            </a:r>
          </a:p>
        </p:txBody>
      </p:sp>
      <p:sp>
        <p:nvSpPr>
          <p:cNvPr id="8" name="">
            <a:extLst xmlns:a="http://schemas.openxmlformats.org/drawingml/2006/main">
              <a:ext uri="{FF2B5EF4-FFF2-40B4-BE49-F238E27FC236}">
                <a16:creationId xmlns:a16="http://schemas.microsoft.com/office/drawing/2014/main" id="{E9FA4D81-4303-4730-9C53-E620D20EA118}"/>
              </a:ext>
            </a:extLst>
          </p:cNvPr>
          <p:cNvSpPr>
            <a:spLocks xmlns:a="http://schemas.openxmlformats.org/drawingml/2006/main" noGrp="1"/>
          </p:cNvSpPr>
          <p:nvPr/>
        </p:nvSpPr>
        <p:spPr>
          <a:xfrm xmlns:a="http://schemas.openxmlformats.org/drawingml/2006/main">
            <a:off x="1476375" y="166687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Comment évoluent les ventes en 2025 ?</a:t>
            </a:r>
          </a:p>
        </p:txBody>
      </p:sp>
      <p:sp>
        <p:nvSpPr>
          <p:cNvPr id="9" name="">
            <a:extLst xmlns:a="http://schemas.openxmlformats.org/drawingml/2006/main">
              <a:ext uri="{FF2B5EF4-FFF2-40B4-BE49-F238E27FC236}">
                <a16:creationId xmlns:a16="http://schemas.microsoft.com/office/drawing/2014/main" id="{D6349AC8-4FAA-4894-8DCE-33C24E5330D7}"/>
              </a:ext>
            </a:extLst>
          </p:cNvPr>
          <p:cNvSpPr>
            <a:spLocks xmlns:a="http://schemas.openxmlformats.org/drawingml/2006/main" noGrp="1"/>
          </p:cNvSpPr>
          <p:nvPr/>
        </p:nvSpPr>
        <p:spPr>
          <a:xfrm xmlns:a="http://schemas.openxmlformats.org/drawingml/2006/main">
            <a:off x="1476375" y="2105025"/>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Repérer les mois de forte activité et les variations du panier moyen.</a:t>
            </a:r>
          </a:p>
        </p:txBody>
      </p:sp>
      <p:sp>
        <p:nvSpPr>
          <p:cNvPr id="10" name="">
            <a:extLst xmlns:a="http://schemas.openxmlformats.org/drawingml/2006/main">
              <a:ext uri="{FF2B5EF4-FFF2-40B4-BE49-F238E27FC236}">
                <a16:creationId xmlns:a16="http://schemas.microsoft.com/office/drawing/2014/main" id="{C79B0FC6-EBE1-410D-9E04-10B742FF337E}"/>
              </a:ext>
            </a:extLst>
          </p:cNvPr>
          <p:cNvSpPr>
            <a:spLocks xmlns:a="http://schemas.openxmlformats.org/drawingml/2006/main" noGrp="1"/>
          </p:cNvSpPr>
          <p:nvPr/>
        </p:nvSpPr>
        <p:spPr>
          <a:xfrm xmlns:a="http://schemas.openxmlformats.org/drawingml/2006/main">
            <a:off x="619125" y="2667000"/>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B88A89-E891-41AD-B881-1CDCA2332863}"/>
              </a:ext>
            </a:extLst>
          </p:cNvPr>
          <p:cNvSpPr>
            <a:spLocks xmlns:a="http://schemas.openxmlformats.org/drawingml/2006/main" noGrp="1"/>
          </p:cNvSpPr>
          <p:nvPr/>
        </p:nvSpPr>
        <p:spPr>
          <a:xfrm xmlns:a="http://schemas.openxmlformats.org/drawingml/2006/main">
            <a:off x="714375" y="272415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02</a:t>
            </a:r>
          </a:p>
        </p:txBody>
      </p:sp>
      <p:sp>
        <p:nvSpPr>
          <p:cNvPr id="12" name="">
            <a:extLst xmlns:a="http://schemas.openxmlformats.org/drawingml/2006/main">
              <a:ext uri="{FF2B5EF4-FFF2-40B4-BE49-F238E27FC236}">
                <a16:creationId xmlns:a16="http://schemas.microsoft.com/office/drawing/2014/main" id="{B4291DC0-8467-4C79-A488-15B819118629}"/>
              </a:ext>
            </a:extLst>
          </p:cNvPr>
          <p:cNvSpPr>
            <a:spLocks xmlns:a="http://schemas.openxmlformats.org/drawingml/2006/main" noGrp="1"/>
          </p:cNvSpPr>
          <p:nvPr/>
        </p:nvSpPr>
        <p:spPr>
          <a:xfrm xmlns:a="http://schemas.openxmlformats.org/drawingml/2006/main">
            <a:off x="1476375" y="266700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Quels canaux et produits contribuent aux ventes ?</a:t>
            </a:r>
          </a:p>
        </p:txBody>
      </p:sp>
      <p:sp>
        <p:nvSpPr>
          <p:cNvPr id="13" name="">
            <a:extLst xmlns:a="http://schemas.openxmlformats.org/drawingml/2006/main">
              <a:ext uri="{FF2B5EF4-FFF2-40B4-BE49-F238E27FC236}">
                <a16:creationId xmlns:a16="http://schemas.microsoft.com/office/drawing/2014/main" id="{61E5EF1E-DBB6-4DBD-96D0-B3EF1875ED68}"/>
              </a:ext>
            </a:extLst>
          </p:cNvPr>
          <p:cNvSpPr>
            <a:spLocks xmlns:a="http://schemas.openxmlformats.org/drawingml/2006/main" noGrp="1"/>
          </p:cNvSpPr>
          <p:nvPr/>
        </p:nvSpPr>
        <p:spPr>
          <a:xfrm xmlns:a="http://schemas.openxmlformats.org/drawingml/2006/main">
            <a:off x="1476375" y="3105150"/>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Comparer les montants nets et les quantités commandées.</a:t>
            </a:r>
          </a:p>
        </p:txBody>
      </p:sp>
      <p:sp>
        <p:nvSpPr>
          <p:cNvPr id="14" name="">
            <a:extLst xmlns:a="http://schemas.openxmlformats.org/drawingml/2006/main">
              <a:ext uri="{FF2B5EF4-FFF2-40B4-BE49-F238E27FC236}">
                <a16:creationId xmlns:a16="http://schemas.microsoft.com/office/drawing/2014/main" id="{74B0798E-B2D4-4527-8CF6-894369FE1682}"/>
              </a:ext>
            </a:extLst>
          </p:cNvPr>
          <p:cNvSpPr>
            <a:spLocks xmlns:a="http://schemas.openxmlformats.org/drawingml/2006/main" noGrp="1"/>
          </p:cNvSpPr>
          <p:nvPr/>
        </p:nvSpPr>
        <p:spPr>
          <a:xfrm xmlns:a="http://schemas.openxmlformats.org/drawingml/2006/main">
            <a:off x="619125" y="366712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8F0F6E-B0C1-4826-A1BA-6A53A8C3122E}"/>
              </a:ext>
            </a:extLst>
          </p:cNvPr>
          <p:cNvSpPr>
            <a:spLocks xmlns:a="http://schemas.openxmlformats.org/drawingml/2006/main" noGrp="1"/>
          </p:cNvSpPr>
          <p:nvPr/>
        </p:nvSpPr>
        <p:spPr>
          <a:xfrm xmlns:a="http://schemas.openxmlformats.org/drawingml/2006/main">
            <a:off x="714375" y="372427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03</a:t>
            </a:r>
          </a:p>
        </p:txBody>
      </p:sp>
      <p:sp>
        <p:nvSpPr>
          <p:cNvPr id="16" name="">
            <a:extLst xmlns:a="http://schemas.openxmlformats.org/drawingml/2006/main">
              <a:ext uri="{FF2B5EF4-FFF2-40B4-BE49-F238E27FC236}">
                <a16:creationId xmlns:a16="http://schemas.microsoft.com/office/drawing/2014/main" id="{5501DB5B-7592-4C55-AFA3-404223B219EE}"/>
              </a:ext>
            </a:extLst>
          </p:cNvPr>
          <p:cNvSpPr>
            <a:spLocks xmlns:a="http://schemas.openxmlformats.org/drawingml/2006/main" noGrp="1"/>
          </p:cNvSpPr>
          <p:nvPr/>
        </p:nvSpPr>
        <p:spPr>
          <a:xfrm xmlns:a="http://schemas.openxmlformats.org/drawingml/2006/main">
            <a:off x="1476375" y="366712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Quels motifs ralentissent le service client ?</a:t>
            </a:r>
          </a:p>
        </p:txBody>
      </p:sp>
      <p:sp>
        <p:nvSpPr>
          <p:cNvPr id="17" name="">
            <a:extLst xmlns:a="http://schemas.openxmlformats.org/drawingml/2006/main">
              <a:ext uri="{FF2B5EF4-FFF2-40B4-BE49-F238E27FC236}">
                <a16:creationId xmlns:a16="http://schemas.microsoft.com/office/drawing/2014/main" id="{DA2F74BF-3A74-49A8-ABAF-E16B1B6ED06F}"/>
              </a:ext>
            </a:extLst>
          </p:cNvPr>
          <p:cNvSpPr>
            <a:spLocks xmlns:a="http://schemas.openxmlformats.org/drawingml/2006/main" noGrp="1"/>
          </p:cNvSpPr>
          <p:nvPr/>
        </p:nvSpPr>
        <p:spPr>
          <a:xfrm xmlns:a="http://schemas.openxmlformats.org/drawingml/2006/main">
            <a:off x="1476375" y="4105275"/>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Comparer les délais de réponse, de résolution et le respect du SLA.</a:t>
            </a:r>
          </a:p>
        </p:txBody>
      </p:sp>
      <p:sp>
        <p:nvSpPr>
          <p:cNvPr id="18" name="">
            <a:extLst xmlns:a="http://schemas.openxmlformats.org/drawingml/2006/main">
              <a:ext uri="{FF2B5EF4-FFF2-40B4-BE49-F238E27FC236}">
                <a16:creationId xmlns:a16="http://schemas.microsoft.com/office/drawing/2014/main" id="{073A50AB-F964-4ADC-8152-4425098E27F2}"/>
              </a:ext>
            </a:extLst>
          </p:cNvPr>
          <p:cNvSpPr>
            <a:spLocks xmlns:a="http://schemas.openxmlformats.org/drawingml/2006/main" noGrp="1"/>
          </p:cNvSpPr>
          <p:nvPr/>
        </p:nvSpPr>
        <p:spPr>
          <a:xfrm xmlns:a="http://schemas.openxmlformats.org/drawingml/2006/main">
            <a:off x="619125" y="4667250"/>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13ADC4C-0314-43A8-87E6-B747C505B307}"/>
              </a:ext>
            </a:extLst>
          </p:cNvPr>
          <p:cNvSpPr>
            <a:spLocks xmlns:a="http://schemas.openxmlformats.org/drawingml/2006/main" noGrp="1"/>
          </p:cNvSpPr>
          <p:nvPr/>
        </p:nvSpPr>
        <p:spPr>
          <a:xfrm xmlns:a="http://schemas.openxmlformats.org/drawingml/2006/main">
            <a:off x="714375" y="472440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04</a:t>
            </a:r>
          </a:p>
        </p:txBody>
      </p:sp>
      <p:sp>
        <p:nvSpPr>
          <p:cNvPr id="20" name="">
            <a:extLst xmlns:a="http://schemas.openxmlformats.org/drawingml/2006/main">
              <a:ext uri="{FF2B5EF4-FFF2-40B4-BE49-F238E27FC236}">
                <a16:creationId xmlns:a16="http://schemas.microsoft.com/office/drawing/2014/main" id="{EBC49264-4E64-4C98-9825-E118B76B9A3D}"/>
              </a:ext>
            </a:extLst>
          </p:cNvPr>
          <p:cNvSpPr>
            <a:spLocks xmlns:a="http://schemas.openxmlformats.org/drawingml/2006/main" noGrp="1"/>
          </p:cNvSpPr>
          <p:nvPr/>
        </p:nvSpPr>
        <p:spPr>
          <a:xfrm xmlns:a="http://schemas.openxmlformats.org/drawingml/2006/main">
            <a:off x="1476375" y="466725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Les délais sont-ils liés à la satisfaction ?</a:t>
            </a:r>
          </a:p>
        </p:txBody>
      </p:sp>
      <p:sp>
        <p:nvSpPr>
          <p:cNvPr id="21" name="">
            <a:extLst xmlns:a="http://schemas.openxmlformats.org/drawingml/2006/main">
              <a:ext uri="{FF2B5EF4-FFF2-40B4-BE49-F238E27FC236}">
                <a16:creationId xmlns:a16="http://schemas.microsoft.com/office/drawing/2014/main" id="{3804E05E-C189-4D5B-927A-D18733E8107C}"/>
              </a:ext>
            </a:extLst>
          </p:cNvPr>
          <p:cNvSpPr>
            <a:spLocks xmlns:a="http://schemas.openxmlformats.org/drawingml/2006/main" noGrp="1"/>
          </p:cNvSpPr>
          <p:nvPr/>
        </p:nvSpPr>
        <p:spPr>
          <a:xfrm xmlns:a="http://schemas.openxmlformats.org/drawingml/2006/main">
            <a:off x="1476375" y="5105400"/>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Comparer le CSAT entre demandes traitées rapidement et plus lentement.</a:t>
            </a:r>
          </a:p>
        </p:txBody>
      </p:sp>
    </p:spTree>
    <p:extLst>
      <p:ext uri="{BB962C8B-B14F-4D97-AF65-F5344CB8AC3E}">
        <p14:creationId xmlns:p14="http://schemas.microsoft.com/office/powerpoint/2010/main" val="1027869342"/>
      </p:ext>
    </p:extLst>
  </p:cSld>
</p:sld>
</file>

<file path=ppt/slides/slide13.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1C615FC-A6C6-40BC-A26B-85CD3509234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1BB5B4-A85F-485F-9A53-0C1A9D35B0CE}"/>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D7240C-AFCA-4579-9BF7-C43F9DE7D2E6}"/>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Ventes et service client : bilan 2025</a:t>
            </a:r>
          </a:p>
        </p:txBody>
      </p:sp>
      <p:sp>
        <p:nvSpPr>
          <p:cNvPr id="4" name="">
            <a:extLst xmlns:a="http://schemas.openxmlformats.org/drawingml/2006/main">
              <a:ext uri="{FF2B5EF4-FFF2-40B4-BE49-F238E27FC236}">
                <a16:creationId xmlns:a16="http://schemas.microsoft.com/office/drawing/2014/main" id="{4A7CD0EF-14CB-4B05-B529-7E0835649A0C}"/>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13</a:t>
            </a:r>
          </a:p>
        </p:txBody>
      </p:sp>
      <p:sp>
        <p:nvSpPr>
          <p:cNvPr id="5" name="">
            <a:extLst xmlns:a="http://schemas.openxmlformats.org/drawingml/2006/main">
              <a:ext uri="{FF2B5EF4-FFF2-40B4-BE49-F238E27FC236}">
                <a16:creationId xmlns:a16="http://schemas.microsoft.com/office/drawing/2014/main" id="{77A8BB26-C4DE-4808-8F4A-261E52F6C1E1}"/>
              </a:ext>
            </a:extLst>
          </p:cNvPr>
          <p:cNvSpPr>
            <a:spLocks xmlns:a="http://schemas.openxmlformats.org/drawingml/2006/main" noGrp="1"/>
          </p:cNvSpPr>
          <p:nvPr/>
        </p:nvSpPr>
        <p:spPr>
          <a:xfrm xmlns:a="http://schemas.openxmlformats.org/drawingml/2006/main">
            <a:off x="619125" y="1809750"/>
            <a:ext cx="3524250" cy="1666875"/>
          </a:xfrm>
          <a:prstGeom xmlns:a="http://schemas.openxmlformats.org/drawingml/2006/main" prst="roundRect">
            <a:avLst>
              <a:gd name="adj" fmla="val 4571"/>
            </a:avLst>
          </a:prstGeom>
          <a:solidFill xmlns:a="http://schemas.openxmlformats.org/drawingml/2006/main">
            <a:srgbClr val="E6DACE"/>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EE6900D1-86B4-4C7D-A4DB-3E57587827C3}"/>
              </a:ext>
            </a:extLst>
          </p:cNvPr>
          <p:cNvSpPr>
            <a:spLocks xmlns:a="http://schemas.openxmlformats.org/drawingml/2006/main" noGrp="1"/>
          </p:cNvSpPr>
          <p:nvPr/>
        </p:nvSpPr>
        <p:spPr>
          <a:xfrm xmlns:a="http://schemas.openxmlformats.org/drawingml/2006/main">
            <a:off x="828675" y="20574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242321"/>
                </a:solidFill>
                <a:latin typeface="Montserrat"/>
                <a:ea typeface="Montserrat"/>
                <a:cs typeface="Montserrat"/>
              </a:defRPr>
            </a:defPPr>
            <a:lvl1pPr>
              <a:defRPr sz="3750" b="1">
                <a:solidFill>
                  <a:srgbClr val="242321"/>
                </a:solidFill>
                <a:latin typeface="Montserrat"/>
                <a:ea typeface="Montserrat"/>
                <a:cs typeface="Montserrat"/>
              </a:defRPr>
            </a:lvl1pPr>
            <a:lvl2pPr>
              <a:defRPr sz="3750" b="1">
                <a:solidFill>
                  <a:srgbClr val="242321"/>
                </a:solidFill>
                <a:latin typeface="Montserrat"/>
                <a:ea typeface="Montserrat"/>
                <a:cs typeface="Montserrat"/>
              </a:defRPr>
            </a:lvl2pPr>
            <a:lvl3pPr>
              <a:defRPr sz="3750" b="1">
                <a:solidFill>
                  <a:srgbClr val="242321"/>
                </a:solidFill>
                <a:latin typeface="Montserrat"/>
                <a:ea typeface="Montserrat"/>
                <a:cs typeface="Montserrat"/>
              </a:defRPr>
            </a:lvl3pPr>
            <a:lvl4pPr>
              <a:defRPr sz="3750" b="1">
                <a:solidFill>
                  <a:srgbClr val="242321"/>
                </a:solidFill>
                <a:latin typeface="Montserrat"/>
                <a:ea typeface="Montserrat"/>
                <a:cs typeface="Montserrat"/>
              </a:defRPr>
            </a:lvl4pPr>
            <a:lvl5pPr>
              <a:defRPr sz="3750" b="1">
                <a:solidFill>
                  <a:srgbClr val="242321"/>
                </a:solidFill>
                <a:latin typeface="Montserrat"/>
                <a:ea typeface="Montserrat"/>
                <a:cs typeface="Montserrat"/>
              </a:defRPr>
            </a:lvl5pPr>
            <a:lvl6pPr>
              <a:defRPr sz="3750" b="1">
                <a:solidFill>
                  <a:srgbClr val="242321"/>
                </a:solidFill>
                <a:latin typeface="Montserrat"/>
                <a:ea typeface="Montserrat"/>
                <a:cs typeface="Montserrat"/>
              </a:defRPr>
            </a:lvl6pPr>
            <a:lvl7pPr>
              <a:defRPr sz="3750" b="1">
                <a:solidFill>
                  <a:srgbClr val="242321"/>
                </a:solidFill>
                <a:latin typeface="Montserrat"/>
                <a:ea typeface="Montserrat"/>
                <a:cs typeface="Montserrat"/>
              </a:defRPr>
            </a:lvl7pPr>
            <a:lvl8pPr>
              <a:defRPr sz="3750" b="1">
                <a:solidFill>
                  <a:srgbClr val="242321"/>
                </a:solidFill>
                <a:latin typeface="Montserrat"/>
                <a:ea typeface="Montserrat"/>
                <a:cs typeface="Montserrat"/>
              </a:defRPr>
            </a:lvl8pPr>
            <a:lvl9pPr>
              <a:defRPr sz="3750" b="1">
                <a:solidFill>
                  <a:srgbClr val="242321"/>
                </a:solidFill>
                <a:latin typeface="Montserrat"/>
                <a:ea typeface="Montserrat"/>
                <a:cs typeface="Montserrat"/>
              </a:defRPr>
            </a:lvl9pPr>
          </a:lstStyle>
          <a:p xmlns:a="http://schemas.openxmlformats.org/drawingml/2006/main">
            <a:pPr>
              <a:defRPr sz="3750" b="1">
                <a:solidFill>
                  <a:srgbClr val="242321"/>
                </a:solidFill>
                <a:latin typeface="Montserrat"/>
                <a:ea typeface="Montserrat"/>
                <a:cs typeface="Montserrat"/>
              </a:defRPr>
            </a:pPr>
            <a:r>
              <a:rPr sz="3750" b="1">
                <a:solidFill>
                  <a:srgbClr val="242321"/>
                </a:solidFill>
                <a:latin typeface="Montserrat"/>
                <a:ea typeface="Montserrat"/>
                <a:cs typeface="Montserrat"/>
              </a:rPr>
              <a:t>1,85 M€</a:t>
            </a:r>
          </a:p>
        </p:txBody>
      </p:sp>
      <p:sp>
        <p:nvSpPr>
          <p:cNvPr id="7" name="">
            <a:extLst xmlns:a="http://schemas.openxmlformats.org/drawingml/2006/main">
              <a:ext uri="{FF2B5EF4-FFF2-40B4-BE49-F238E27FC236}">
                <a16:creationId xmlns:a16="http://schemas.microsoft.com/office/drawing/2014/main" id="{16720BD0-E35F-4426-9932-19FE912CE3F7}"/>
              </a:ext>
            </a:extLst>
          </p:cNvPr>
          <p:cNvSpPr>
            <a:spLocks xmlns:a="http://schemas.openxmlformats.org/drawingml/2006/main" noGrp="1"/>
          </p:cNvSpPr>
          <p:nvPr/>
        </p:nvSpPr>
        <p:spPr>
          <a:xfrm xmlns:a="http://schemas.openxmlformats.org/drawingml/2006/main">
            <a:off x="828675" y="2828925"/>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6" b="0">
                <a:solidFill>
                  <a:srgbClr val="242321"/>
                </a:solidFill>
                <a:latin typeface="Montserrat"/>
                <a:ea typeface="Montserrat"/>
                <a:cs typeface="Montserrat"/>
              </a:defRPr>
            </a:defPPr>
            <a:lvl1pPr>
              <a:defRPr sz="1656" b="0">
                <a:solidFill>
                  <a:srgbClr val="242321"/>
                </a:solidFill>
                <a:latin typeface="Montserrat"/>
                <a:ea typeface="Montserrat"/>
                <a:cs typeface="Montserrat"/>
              </a:defRPr>
            </a:lvl1pPr>
            <a:lvl2pPr>
              <a:defRPr sz="1656" b="0">
                <a:solidFill>
                  <a:srgbClr val="242321"/>
                </a:solidFill>
                <a:latin typeface="Montserrat"/>
                <a:ea typeface="Montserrat"/>
                <a:cs typeface="Montserrat"/>
              </a:defRPr>
            </a:lvl2pPr>
            <a:lvl3pPr>
              <a:defRPr sz="1656" b="0">
                <a:solidFill>
                  <a:srgbClr val="242321"/>
                </a:solidFill>
                <a:latin typeface="Montserrat"/>
                <a:ea typeface="Montserrat"/>
                <a:cs typeface="Montserrat"/>
              </a:defRPr>
            </a:lvl3pPr>
            <a:lvl4pPr>
              <a:defRPr sz="1656" b="0">
                <a:solidFill>
                  <a:srgbClr val="242321"/>
                </a:solidFill>
                <a:latin typeface="Montserrat"/>
                <a:ea typeface="Montserrat"/>
                <a:cs typeface="Montserrat"/>
              </a:defRPr>
            </a:lvl4pPr>
            <a:lvl5pPr>
              <a:defRPr sz="1656" b="0">
                <a:solidFill>
                  <a:srgbClr val="242321"/>
                </a:solidFill>
                <a:latin typeface="Montserrat"/>
                <a:ea typeface="Montserrat"/>
                <a:cs typeface="Montserrat"/>
              </a:defRPr>
            </a:lvl5pPr>
            <a:lvl6pPr>
              <a:defRPr sz="1656" b="0">
                <a:solidFill>
                  <a:srgbClr val="242321"/>
                </a:solidFill>
                <a:latin typeface="Montserrat"/>
                <a:ea typeface="Montserrat"/>
                <a:cs typeface="Montserrat"/>
              </a:defRPr>
            </a:lvl6pPr>
            <a:lvl7pPr>
              <a:defRPr sz="1656" b="0">
                <a:solidFill>
                  <a:srgbClr val="242321"/>
                </a:solidFill>
                <a:latin typeface="Montserrat"/>
                <a:ea typeface="Montserrat"/>
                <a:cs typeface="Montserrat"/>
              </a:defRPr>
            </a:lvl7pPr>
            <a:lvl8pPr>
              <a:defRPr sz="1656" b="0">
                <a:solidFill>
                  <a:srgbClr val="242321"/>
                </a:solidFill>
                <a:latin typeface="Montserrat"/>
                <a:ea typeface="Montserrat"/>
                <a:cs typeface="Montserrat"/>
              </a:defRPr>
            </a:lvl8pPr>
            <a:lvl9pPr>
              <a:defRPr sz="1656" b="0">
                <a:solidFill>
                  <a:srgbClr val="242321"/>
                </a:solidFill>
                <a:latin typeface="Montserrat"/>
                <a:ea typeface="Montserrat"/>
                <a:cs typeface="Montserrat"/>
              </a:defRPr>
            </a:lvl9pPr>
          </a:lstStyle>
          <a:p xmlns:a="http://schemas.openxmlformats.org/drawingml/2006/main">
            <a:pPr>
              <a:defRPr sz="1656" b="0">
                <a:solidFill>
                  <a:srgbClr val="242321"/>
                </a:solidFill>
                <a:latin typeface="Montserrat"/>
                <a:ea typeface="Montserrat"/>
                <a:cs typeface="Montserrat"/>
              </a:defRPr>
            </a:pPr>
            <a:r>
              <a:rPr sz="1656" b="0">
                <a:solidFill>
                  <a:srgbClr val="242321"/>
                </a:solidFill>
                <a:latin typeface="Montserrat"/>
                <a:ea typeface="Montserrat"/>
                <a:cs typeface="Montserrat"/>
              </a:rPr>
              <a:t>Ventes nettes TTC</a:t>
            </a:r>
          </a:p>
        </p:txBody>
      </p:sp>
      <p:sp>
        <p:nvSpPr>
          <p:cNvPr id="8" name="">
            <a:extLst xmlns:a="http://schemas.openxmlformats.org/drawingml/2006/main">
              <a:ext uri="{FF2B5EF4-FFF2-40B4-BE49-F238E27FC236}">
                <a16:creationId xmlns:a16="http://schemas.microsoft.com/office/drawing/2014/main" id="{E504C960-79C8-4351-9076-27A4E849857F}"/>
              </a:ext>
            </a:extLst>
          </p:cNvPr>
          <p:cNvSpPr>
            <a:spLocks xmlns:a="http://schemas.openxmlformats.org/drawingml/2006/main" noGrp="1"/>
          </p:cNvSpPr>
          <p:nvPr/>
        </p:nvSpPr>
        <p:spPr>
          <a:xfrm xmlns:a="http://schemas.openxmlformats.org/drawingml/2006/main">
            <a:off x="4333875" y="1809750"/>
            <a:ext cx="3524250" cy="1666875"/>
          </a:xfrm>
          <a:prstGeom xmlns:a="http://schemas.openxmlformats.org/drawingml/2006/main" prst="roundRect">
            <a:avLst>
              <a:gd name="adj" fmla="val 4571"/>
            </a:avLst>
          </a:prstGeom>
          <a:solidFill xmlns:a="http://schemas.openxmlformats.org/drawingml/2006/main">
            <a:srgbClr val="E6DACE"/>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856169C-CBC7-45AF-A6C8-5729DFBE3CD0}"/>
              </a:ext>
            </a:extLst>
          </p:cNvPr>
          <p:cNvSpPr>
            <a:spLocks xmlns:a="http://schemas.openxmlformats.org/drawingml/2006/main" noGrp="1"/>
          </p:cNvSpPr>
          <p:nvPr/>
        </p:nvSpPr>
        <p:spPr>
          <a:xfrm xmlns:a="http://schemas.openxmlformats.org/drawingml/2006/main">
            <a:off x="4543425" y="20574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242321"/>
                </a:solidFill>
                <a:latin typeface="Montserrat"/>
                <a:ea typeface="Montserrat"/>
                <a:cs typeface="Montserrat"/>
              </a:defRPr>
            </a:defPPr>
            <a:lvl1pPr>
              <a:defRPr sz="3750" b="1">
                <a:solidFill>
                  <a:srgbClr val="242321"/>
                </a:solidFill>
                <a:latin typeface="Montserrat"/>
                <a:ea typeface="Montserrat"/>
                <a:cs typeface="Montserrat"/>
              </a:defRPr>
            </a:lvl1pPr>
            <a:lvl2pPr>
              <a:defRPr sz="3750" b="1">
                <a:solidFill>
                  <a:srgbClr val="242321"/>
                </a:solidFill>
                <a:latin typeface="Montserrat"/>
                <a:ea typeface="Montserrat"/>
                <a:cs typeface="Montserrat"/>
              </a:defRPr>
            </a:lvl2pPr>
            <a:lvl3pPr>
              <a:defRPr sz="3750" b="1">
                <a:solidFill>
                  <a:srgbClr val="242321"/>
                </a:solidFill>
                <a:latin typeface="Montserrat"/>
                <a:ea typeface="Montserrat"/>
                <a:cs typeface="Montserrat"/>
              </a:defRPr>
            </a:lvl3pPr>
            <a:lvl4pPr>
              <a:defRPr sz="3750" b="1">
                <a:solidFill>
                  <a:srgbClr val="242321"/>
                </a:solidFill>
                <a:latin typeface="Montserrat"/>
                <a:ea typeface="Montserrat"/>
                <a:cs typeface="Montserrat"/>
              </a:defRPr>
            </a:lvl4pPr>
            <a:lvl5pPr>
              <a:defRPr sz="3750" b="1">
                <a:solidFill>
                  <a:srgbClr val="242321"/>
                </a:solidFill>
                <a:latin typeface="Montserrat"/>
                <a:ea typeface="Montserrat"/>
                <a:cs typeface="Montserrat"/>
              </a:defRPr>
            </a:lvl5pPr>
            <a:lvl6pPr>
              <a:defRPr sz="3750" b="1">
                <a:solidFill>
                  <a:srgbClr val="242321"/>
                </a:solidFill>
                <a:latin typeface="Montserrat"/>
                <a:ea typeface="Montserrat"/>
                <a:cs typeface="Montserrat"/>
              </a:defRPr>
            </a:lvl6pPr>
            <a:lvl7pPr>
              <a:defRPr sz="3750" b="1">
                <a:solidFill>
                  <a:srgbClr val="242321"/>
                </a:solidFill>
                <a:latin typeface="Montserrat"/>
                <a:ea typeface="Montserrat"/>
                <a:cs typeface="Montserrat"/>
              </a:defRPr>
            </a:lvl7pPr>
            <a:lvl8pPr>
              <a:defRPr sz="3750" b="1">
                <a:solidFill>
                  <a:srgbClr val="242321"/>
                </a:solidFill>
                <a:latin typeface="Montserrat"/>
                <a:ea typeface="Montserrat"/>
                <a:cs typeface="Montserrat"/>
              </a:defRPr>
            </a:lvl8pPr>
            <a:lvl9pPr>
              <a:defRPr sz="3750" b="1">
                <a:solidFill>
                  <a:srgbClr val="242321"/>
                </a:solidFill>
                <a:latin typeface="Montserrat"/>
                <a:ea typeface="Montserrat"/>
                <a:cs typeface="Montserrat"/>
              </a:defRPr>
            </a:lvl9pPr>
          </a:lstStyle>
          <a:p xmlns:a="http://schemas.openxmlformats.org/drawingml/2006/main">
            <a:pPr>
              <a:defRPr sz="3750" b="1">
                <a:solidFill>
                  <a:srgbClr val="242321"/>
                </a:solidFill>
                <a:latin typeface="Montserrat"/>
                <a:ea typeface="Montserrat"/>
                <a:cs typeface="Montserrat"/>
              </a:defRPr>
            </a:pPr>
            <a:r>
              <a:rPr sz="3750" b="1">
                <a:solidFill>
                  <a:srgbClr val="242321"/>
                </a:solidFill>
                <a:latin typeface="Montserrat"/>
                <a:ea typeface="Montserrat"/>
                <a:cs typeface="Montserrat"/>
              </a:rPr>
              <a:t>9 635</a:t>
            </a:r>
          </a:p>
        </p:txBody>
      </p:sp>
      <p:sp>
        <p:nvSpPr>
          <p:cNvPr id="10" name="">
            <a:extLst xmlns:a="http://schemas.openxmlformats.org/drawingml/2006/main">
              <a:ext uri="{FF2B5EF4-FFF2-40B4-BE49-F238E27FC236}">
                <a16:creationId xmlns:a16="http://schemas.microsoft.com/office/drawing/2014/main" id="{B8F25B0E-34D0-401D-8474-B0111F25CEB7}"/>
              </a:ext>
            </a:extLst>
          </p:cNvPr>
          <p:cNvSpPr>
            <a:spLocks xmlns:a="http://schemas.openxmlformats.org/drawingml/2006/main" noGrp="1"/>
          </p:cNvSpPr>
          <p:nvPr/>
        </p:nvSpPr>
        <p:spPr>
          <a:xfrm xmlns:a="http://schemas.openxmlformats.org/drawingml/2006/main">
            <a:off x="4543425" y="2828925"/>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6" b="0">
                <a:solidFill>
                  <a:srgbClr val="242321"/>
                </a:solidFill>
                <a:latin typeface="Montserrat"/>
                <a:ea typeface="Montserrat"/>
                <a:cs typeface="Montserrat"/>
              </a:defRPr>
            </a:defPPr>
            <a:lvl1pPr>
              <a:defRPr sz="1656" b="0">
                <a:solidFill>
                  <a:srgbClr val="242321"/>
                </a:solidFill>
                <a:latin typeface="Montserrat"/>
                <a:ea typeface="Montserrat"/>
                <a:cs typeface="Montserrat"/>
              </a:defRPr>
            </a:lvl1pPr>
            <a:lvl2pPr>
              <a:defRPr sz="1656" b="0">
                <a:solidFill>
                  <a:srgbClr val="242321"/>
                </a:solidFill>
                <a:latin typeface="Montserrat"/>
                <a:ea typeface="Montserrat"/>
                <a:cs typeface="Montserrat"/>
              </a:defRPr>
            </a:lvl2pPr>
            <a:lvl3pPr>
              <a:defRPr sz="1656" b="0">
                <a:solidFill>
                  <a:srgbClr val="242321"/>
                </a:solidFill>
                <a:latin typeface="Montserrat"/>
                <a:ea typeface="Montserrat"/>
                <a:cs typeface="Montserrat"/>
              </a:defRPr>
            </a:lvl3pPr>
            <a:lvl4pPr>
              <a:defRPr sz="1656" b="0">
                <a:solidFill>
                  <a:srgbClr val="242321"/>
                </a:solidFill>
                <a:latin typeface="Montserrat"/>
                <a:ea typeface="Montserrat"/>
                <a:cs typeface="Montserrat"/>
              </a:defRPr>
            </a:lvl4pPr>
            <a:lvl5pPr>
              <a:defRPr sz="1656" b="0">
                <a:solidFill>
                  <a:srgbClr val="242321"/>
                </a:solidFill>
                <a:latin typeface="Montserrat"/>
                <a:ea typeface="Montserrat"/>
                <a:cs typeface="Montserrat"/>
              </a:defRPr>
            </a:lvl5pPr>
            <a:lvl6pPr>
              <a:defRPr sz="1656" b="0">
                <a:solidFill>
                  <a:srgbClr val="242321"/>
                </a:solidFill>
                <a:latin typeface="Montserrat"/>
                <a:ea typeface="Montserrat"/>
                <a:cs typeface="Montserrat"/>
              </a:defRPr>
            </a:lvl6pPr>
            <a:lvl7pPr>
              <a:defRPr sz="1656" b="0">
                <a:solidFill>
                  <a:srgbClr val="242321"/>
                </a:solidFill>
                <a:latin typeface="Montserrat"/>
                <a:ea typeface="Montserrat"/>
                <a:cs typeface="Montserrat"/>
              </a:defRPr>
            </a:lvl7pPr>
            <a:lvl8pPr>
              <a:defRPr sz="1656" b="0">
                <a:solidFill>
                  <a:srgbClr val="242321"/>
                </a:solidFill>
                <a:latin typeface="Montserrat"/>
                <a:ea typeface="Montserrat"/>
                <a:cs typeface="Montserrat"/>
              </a:defRPr>
            </a:lvl8pPr>
            <a:lvl9pPr>
              <a:defRPr sz="1656" b="0">
                <a:solidFill>
                  <a:srgbClr val="242321"/>
                </a:solidFill>
                <a:latin typeface="Montserrat"/>
                <a:ea typeface="Montserrat"/>
                <a:cs typeface="Montserrat"/>
              </a:defRPr>
            </a:lvl9pPr>
          </a:lstStyle>
          <a:p xmlns:a="http://schemas.openxmlformats.org/drawingml/2006/main">
            <a:pPr>
              <a:defRPr sz="1656" b="0">
                <a:solidFill>
                  <a:srgbClr val="242321"/>
                </a:solidFill>
                <a:latin typeface="Montserrat"/>
                <a:ea typeface="Montserrat"/>
                <a:cs typeface="Montserrat"/>
              </a:defRPr>
            </a:pPr>
            <a:r>
              <a:rPr sz="1656" b="0">
                <a:solidFill>
                  <a:srgbClr val="242321"/>
                </a:solidFill>
                <a:latin typeface="Montserrat"/>
                <a:ea typeface="Montserrat"/>
                <a:cs typeface="Montserrat"/>
              </a:rPr>
              <a:t>Commandes non annulées</a:t>
            </a:r>
          </a:p>
        </p:txBody>
      </p:sp>
      <p:sp>
        <p:nvSpPr>
          <p:cNvPr id="11" name="">
            <a:extLst xmlns:a="http://schemas.openxmlformats.org/drawingml/2006/main">
              <a:ext uri="{FF2B5EF4-FFF2-40B4-BE49-F238E27FC236}">
                <a16:creationId xmlns:a16="http://schemas.microsoft.com/office/drawing/2014/main" id="{E602B736-6502-4332-86A6-0AECB92508E7}"/>
              </a:ext>
            </a:extLst>
          </p:cNvPr>
          <p:cNvSpPr>
            <a:spLocks xmlns:a="http://schemas.openxmlformats.org/drawingml/2006/main" noGrp="1"/>
          </p:cNvSpPr>
          <p:nvPr/>
        </p:nvSpPr>
        <p:spPr>
          <a:xfrm xmlns:a="http://schemas.openxmlformats.org/drawingml/2006/main">
            <a:off x="8048625" y="1809750"/>
            <a:ext cx="3524250" cy="1666875"/>
          </a:xfrm>
          <a:prstGeom xmlns:a="http://schemas.openxmlformats.org/drawingml/2006/main" prst="roundRect">
            <a:avLst>
              <a:gd name="adj" fmla="val 4571"/>
            </a:avLst>
          </a:prstGeom>
          <a:solidFill xmlns:a="http://schemas.openxmlformats.org/drawingml/2006/main">
            <a:srgbClr val="E6DACE"/>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354C933-8F20-4342-BC0D-716551D87145}"/>
              </a:ext>
            </a:extLst>
          </p:cNvPr>
          <p:cNvSpPr>
            <a:spLocks xmlns:a="http://schemas.openxmlformats.org/drawingml/2006/main" noGrp="1"/>
          </p:cNvSpPr>
          <p:nvPr/>
        </p:nvSpPr>
        <p:spPr>
          <a:xfrm xmlns:a="http://schemas.openxmlformats.org/drawingml/2006/main">
            <a:off x="8258175" y="20574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242321"/>
                </a:solidFill>
                <a:latin typeface="Montserrat"/>
                <a:ea typeface="Montserrat"/>
                <a:cs typeface="Montserrat"/>
              </a:defRPr>
            </a:defPPr>
            <a:lvl1pPr>
              <a:defRPr sz="3750" b="1">
                <a:solidFill>
                  <a:srgbClr val="242321"/>
                </a:solidFill>
                <a:latin typeface="Montserrat"/>
                <a:ea typeface="Montserrat"/>
                <a:cs typeface="Montserrat"/>
              </a:defRPr>
            </a:lvl1pPr>
            <a:lvl2pPr>
              <a:defRPr sz="3750" b="1">
                <a:solidFill>
                  <a:srgbClr val="242321"/>
                </a:solidFill>
                <a:latin typeface="Montserrat"/>
                <a:ea typeface="Montserrat"/>
                <a:cs typeface="Montserrat"/>
              </a:defRPr>
            </a:lvl2pPr>
            <a:lvl3pPr>
              <a:defRPr sz="3750" b="1">
                <a:solidFill>
                  <a:srgbClr val="242321"/>
                </a:solidFill>
                <a:latin typeface="Montserrat"/>
                <a:ea typeface="Montserrat"/>
                <a:cs typeface="Montserrat"/>
              </a:defRPr>
            </a:lvl3pPr>
            <a:lvl4pPr>
              <a:defRPr sz="3750" b="1">
                <a:solidFill>
                  <a:srgbClr val="242321"/>
                </a:solidFill>
                <a:latin typeface="Montserrat"/>
                <a:ea typeface="Montserrat"/>
                <a:cs typeface="Montserrat"/>
              </a:defRPr>
            </a:lvl4pPr>
            <a:lvl5pPr>
              <a:defRPr sz="3750" b="1">
                <a:solidFill>
                  <a:srgbClr val="242321"/>
                </a:solidFill>
                <a:latin typeface="Montserrat"/>
                <a:ea typeface="Montserrat"/>
                <a:cs typeface="Montserrat"/>
              </a:defRPr>
            </a:lvl5pPr>
            <a:lvl6pPr>
              <a:defRPr sz="3750" b="1">
                <a:solidFill>
                  <a:srgbClr val="242321"/>
                </a:solidFill>
                <a:latin typeface="Montserrat"/>
                <a:ea typeface="Montserrat"/>
                <a:cs typeface="Montserrat"/>
              </a:defRPr>
            </a:lvl6pPr>
            <a:lvl7pPr>
              <a:defRPr sz="3750" b="1">
                <a:solidFill>
                  <a:srgbClr val="242321"/>
                </a:solidFill>
                <a:latin typeface="Montserrat"/>
                <a:ea typeface="Montserrat"/>
                <a:cs typeface="Montserrat"/>
              </a:defRPr>
            </a:lvl7pPr>
            <a:lvl8pPr>
              <a:defRPr sz="3750" b="1">
                <a:solidFill>
                  <a:srgbClr val="242321"/>
                </a:solidFill>
                <a:latin typeface="Montserrat"/>
                <a:ea typeface="Montserrat"/>
                <a:cs typeface="Montserrat"/>
              </a:defRPr>
            </a:lvl8pPr>
            <a:lvl9pPr>
              <a:defRPr sz="3750" b="1">
                <a:solidFill>
                  <a:srgbClr val="242321"/>
                </a:solidFill>
                <a:latin typeface="Montserrat"/>
                <a:ea typeface="Montserrat"/>
                <a:cs typeface="Montserrat"/>
              </a:defRPr>
            </a:lvl9pPr>
          </a:lstStyle>
          <a:p xmlns:a="http://schemas.openxmlformats.org/drawingml/2006/main">
            <a:pPr>
              <a:defRPr sz="3750" b="1">
                <a:solidFill>
                  <a:srgbClr val="242321"/>
                </a:solidFill>
                <a:latin typeface="Montserrat"/>
                <a:ea typeface="Montserrat"/>
                <a:cs typeface="Montserrat"/>
              </a:defRPr>
            </a:pPr>
            <a:r>
              <a:rPr sz="3750" b="1">
                <a:solidFill>
                  <a:srgbClr val="242321"/>
                </a:solidFill>
                <a:latin typeface="Montserrat"/>
                <a:ea typeface="Montserrat"/>
                <a:cs typeface="Montserrat"/>
              </a:rPr>
              <a:t>192,28 €</a:t>
            </a:r>
          </a:p>
        </p:txBody>
      </p:sp>
      <p:sp>
        <p:nvSpPr>
          <p:cNvPr id="13" name="">
            <a:extLst xmlns:a="http://schemas.openxmlformats.org/drawingml/2006/main">
              <a:ext uri="{FF2B5EF4-FFF2-40B4-BE49-F238E27FC236}">
                <a16:creationId xmlns:a16="http://schemas.microsoft.com/office/drawing/2014/main" id="{131D11E8-44CC-451A-88C4-B5EFF64E3C87}"/>
              </a:ext>
            </a:extLst>
          </p:cNvPr>
          <p:cNvSpPr>
            <a:spLocks xmlns:a="http://schemas.openxmlformats.org/drawingml/2006/main" noGrp="1"/>
          </p:cNvSpPr>
          <p:nvPr/>
        </p:nvSpPr>
        <p:spPr>
          <a:xfrm xmlns:a="http://schemas.openxmlformats.org/drawingml/2006/main">
            <a:off x="8258175" y="2828925"/>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6" b="0">
                <a:solidFill>
                  <a:srgbClr val="242321"/>
                </a:solidFill>
                <a:latin typeface="Montserrat"/>
                <a:ea typeface="Montserrat"/>
                <a:cs typeface="Montserrat"/>
              </a:defRPr>
            </a:defPPr>
            <a:lvl1pPr>
              <a:defRPr sz="1656" b="0">
                <a:solidFill>
                  <a:srgbClr val="242321"/>
                </a:solidFill>
                <a:latin typeface="Montserrat"/>
                <a:ea typeface="Montserrat"/>
                <a:cs typeface="Montserrat"/>
              </a:defRPr>
            </a:lvl1pPr>
            <a:lvl2pPr>
              <a:defRPr sz="1656" b="0">
                <a:solidFill>
                  <a:srgbClr val="242321"/>
                </a:solidFill>
                <a:latin typeface="Montserrat"/>
                <a:ea typeface="Montserrat"/>
                <a:cs typeface="Montserrat"/>
              </a:defRPr>
            </a:lvl2pPr>
            <a:lvl3pPr>
              <a:defRPr sz="1656" b="0">
                <a:solidFill>
                  <a:srgbClr val="242321"/>
                </a:solidFill>
                <a:latin typeface="Montserrat"/>
                <a:ea typeface="Montserrat"/>
                <a:cs typeface="Montserrat"/>
              </a:defRPr>
            </a:lvl3pPr>
            <a:lvl4pPr>
              <a:defRPr sz="1656" b="0">
                <a:solidFill>
                  <a:srgbClr val="242321"/>
                </a:solidFill>
                <a:latin typeface="Montserrat"/>
                <a:ea typeface="Montserrat"/>
                <a:cs typeface="Montserrat"/>
              </a:defRPr>
            </a:lvl4pPr>
            <a:lvl5pPr>
              <a:defRPr sz="1656" b="0">
                <a:solidFill>
                  <a:srgbClr val="242321"/>
                </a:solidFill>
                <a:latin typeface="Montserrat"/>
                <a:ea typeface="Montserrat"/>
                <a:cs typeface="Montserrat"/>
              </a:defRPr>
            </a:lvl5pPr>
            <a:lvl6pPr>
              <a:defRPr sz="1656" b="0">
                <a:solidFill>
                  <a:srgbClr val="242321"/>
                </a:solidFill>
                <a:latin typeface="Montserrat"/>
                <a:ea typeface="Montserrat"/>
                <a:cs typeface="Montserrat"/>
              </a:defRPr>
            </a:lvl6pPr>
            <a:lvl7pPr>
              <a:defRPr sz="1656" b="0">
                <a:solidFill>
                  <a:srgbClr val="242321"/>
                </a:solidFill>
                <a:latin typeface="Montserrat"/>
                <a:ea typeface="Montserrat"/>
                <a:cs typeface="Montserrat"/>
              </a:defRPr>
            </a:lvl7pPr>
            <a:lvl8pPr>
              <a:defRPr sz="1656" b="0">
                <a:solidFill>
                  <a:srgbClr val="242321"/>
                </a:solidFill>
                <a:latin typeface="Montserrat"/>
                <a:ea typeface="Montserrat"/>
                <a:cs typeface="Montserrat"/>
              </a:defRPr>
            </a:lvl8pPr>
            <a:lvl9pPr>
              <a:defRPr sz="1656" b="0">
                <a:solidFill>
                  <a:srgbClr val="242321"/>
                </a:solidFill>
                <a:latin typeface="Montserrat"/>
                <a:ea typeface="Montserrat"/>
                <a:cs typeface="Montserrat"/>
              </a:defRPr>
            </a:lvl9pPr>
          </a:lstStyle>
          <a:p xmlns:a="http://schemas.openxmlformats.org/drawingml/2006/main">
            <a:pPr>
              <a:defRPr sz="1656" b="0">
                <a:solidFill>
                  <a:srgbClr val="242321"/>
                </a:solidFill>
                <a:latin typeface="Montserrat"/>
                <a:ea typeface="Montserrat"/>
                <a:cs typeface="Montserrat"/>
              </a:defRPr>
            </a:pPr>
            <a:r>
              <a:rPr sz="1656" b="0">
                <a:solidFill>
                  <a:srgbClr val="242321"/>
                </a:solidFill>
                <a:latin typeface="Montserrat"/>
                <a:ea typeface="Montserrat"/>
                <a:cs typeface="Montserrat"/>
              </a:rPr>
              <a:t>Panier moyen</a:t>
            </a:r>
          </a:p>
        </p:txBody>
      </p:sp>
      <p:sp>
        <p:nvSpPr>
          <p:cNvPr id="14" name="">
            <a:extLst xmlns:a="http://schemas.openxmlformats.org/drawingml/2006/main">
              <a:ext uri="{FF2B5EF4-FFF2-40B4-BE49-F238E27FC236}">
                <a16:creationId xmlns:a16="http://schemas.microsoft.com/office/drawing/2014/main" id="{4FF49688-7410-4FDA-8021-6CFA5F1713F2}"/>
              </a:ext>
            </a:extLst>
          </p:cNvPr>
          <p:cNvSpPr>
            <a:spLocks xmlns:a="http://schemas.openxmlformats.org/drawingml/2006/main" noGrp="1"/>
          </p:cNvSpPr>
          <p:nvPr/>
        </p:nvSpPr>
        <p:spPr>
          <a:xfrm xmlns:a="http://schemas.openxmlformats.org/drawingml/2006/main">
            <a:off x="619125" y="3762375"/>
            <a:ext cx="3524250" cy="1666875"/>
          </a:xfrm>
          <a:prstGeom xmlns:a="http://schemas.openxmlformats.org/drawingml/2006/main" prst="roundRect">
            <a:avLst>
              <a:gd name="adj" fmla="val 4571"/>
            </a:avLst>
          </a:prstGeom>
          <a:solidFill xmlns:a="http://schemas.openxmlformats.org/drawingml/2006/main">
            <a:srgbClr val="DDD8D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BD8A6A89-9213-495D-B996-AA8727A1A2A8}"/>
              </a:ext>
            </a:extLst>
          </p:cNvPr>
          <p:cNvSpPr>
            <a:spLocks xmlns:a="http://schemas.openxmlformats.org/drawingml/2006/main" noGrp="1"/>
          </p:cNvSpPr>
          <p:nvPr/>
        </p:nvSpPr>
        <p:spPr>
          <a:xfrm xmlns:a="http://schemas.openxmlformats.org/drawingml/2006/main">
            <a:off x="828675" y="4010025"/>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242321"/>
                </a:solidFill>
                <a:latin typeface="Montserrat"/>
                <a:ea typeface="Montserrat"/>
                <a:cs typeface="Montserrat"/>
              </a:defRPr>
            </a:defPPr>
            <a:lvl1pPr>
              <a:defRPr sz="3750" b="1">
                <a:solidFill>
                  <a:srgbClr val="242321"/>
                </a:solidFill>
                <a:latin typeface="Montserrat"/>
                <a:ea typeface="Montserrat"/>
                <a:cs typeface="Montserrat"/>
              </a:defRPr>
            </a:lvl1pPr>
            <a:lvl2pPr>
              <a:defRPr sz="3750" b="1">
                <a:solidFill>
                  <a:srgbClr val="242321"/>
                </a:solidFill>
                <a:latin typeface="Montserrat"/>
                <a:ea typeface="Montserrat"/>
                <a:cs typeface="Montserrat"/>
              </a:defRPr>
            </a:lvl2pPr>
            <a:lvl3pPr>
              <a:defRPr sz="3750" b="1">
                <a:solidFill>
                  <a:srgbClr val="242321"/>
                </a:solidFill>
                <a:latin typeface="Montserrat"/>
                <a:ea typeface="Montserrat"/>
                <a:cs typeface="Montserrat"/>
              </a:defRPr>
            </a:lvl3pPr>
            <a:lvl4pPr>
              <a:defRPr sz="3750" b="1">
                <a:solidFill>
                  <a:srgbClr val="242321"/>
                </a:solidFill>
                <a:latin typeface="Montserrat"/>
                <a:ea typeface="Montserrat"/>
                <a:cs typeface="Montserrat"/>
              </a:defRPr>
            </a:lvl4pPr>
            <a:lvl5pPr>
              <a:defRPr sz="3750" b="1">
                <a:solidFill>
                  <a:srgbClr val="242321"/>
                </a:solidFill>
                <a:latin typeface="Montserrat"/>
                <a:ea typeface="Montserrat"/>
                <a:cs typeface="Montserrat"/>
              </a:defRPr>
            </a:lvl5pPr>
            <a:lvl6pPr>
              <a:defRPr sz="3750" b="1">
                <a:solidFill>
                  <a:srgbClr val="242321"/>
                </a:solidFill>
                <a:latin typeface="Montserrat"/>
                <a:ea typeface="Montserrat"/>
                <a:cs typeface="Montserrat"/>
              </a:defRPr>
            </a:lvl6pPr>
            <a:lvl7pPr>
              <a:defRPr sz="3750" b="1">
                <a:solidFill>
                  <a:srgbClr val="242321"/>
                </a:solidFill>
                <a:latin typeface="Montserrat"/>
                <a:ea typeface="Montserrat"/>
                <a:cs typeface="Montserrat"/>
              </a:defRPr>
            </a:lvl7pPr>
            <a:lvl8pPr>
              <a:defRPr sz="3750" b="1">
                <a:solidFill>
                  <a:srgbClr val="242321"/>
                </a:solidFill>
                <a:latin typeface="Montserrat"/>
                <a:ea typeface="Montserrat"/>
                <a:cs typeface="Montserrat"/>
              </a:defRPr>
            </a:lvl8pPr>
            <a:lvl9pPr>
              <a:defRPr sz="3750" b="1">
                <a:solidFill>
                  <a:srgbClr val="242321"/>
                </a:solidFill>
                <a:latin typeface="Montserrat"/>
                <a:ea typeface="Montserrat"/>
                <a:cs typeface="Montserrat"/>
              </a:defRPr>
            </a:lvl9pPr>
          </a:lstStyle>
          <a:p xmlns:a="http://schemas.openxmlformats.org/drawingml/2006/main">
            <a:pPr>
              <a:defRPr sz="3750" b="1">
                <a:solidFill>
                  <a:srgbClr val="242321"/>
                </a:solidFill>
                <a:latin typeface="Montserrat"/>
                <a:ea typeface="Montserrat"/>
                <a:cs typeface="Montserrat"/>
              </a:defRPr>
            </a:pPr>
            <a:r>
              <a:rPr sz="3750" b="1">
                <a:solidFill>
                  <a:srgbClr val="242321"/>
                </a:solidFill>
                <a:latin typeface="Montserrat"/>
                <a:ea typeface="Montserrat"/>
                <a:cs typeface="Montserrat"/>
              </a:rPr>
              <a:t>67,05 %</a:t>
            </a:r>
          </a:p>
        </p:txBody>
      </p:sp>
      <p:sp>
        <p:nvSpPr>
          <p:cNvPr id="16" name="">
            <a:extLst xmlns:a="http://schemas.openxmlformats.org/drawingml/2006/main">
              <a:ext uri="{FF2B5EF4-FFF2-40B4-BE49-F238E27FC236}">
                <a16:creationId xmlns:a16="http://schemas.microsoft.com/office/drawing/2014/main" id="{4A7E4295-BE97-47BE-86A4-A5DCD8832436}"/>
              </a:ext>
            </a:extLst>
          </p:cNvPr>
          <p:cNvSpPr>
            <a:spLocks xmlns:a="http://schemas.openxmlformats.org/drawingml/2006/main" noGrp="1"/>
          </p:cNvSpPr>
          <p:nvPr/>
        </p:nvSpPr>
        <p:spPr>
          <a:xfrm xmlns:a="http://schemas.openxmlformats.org/drawingml/2006/main">
            <a:off x="828675" y="4781550"/>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6" b="0">
                <a:solidFill>
                  <a:srgbClr val="242321"/>
                </a:solidFill>
                <a:latin typeface="Montserrat"/>
                <a:ea typeface="Montserrat"/>
                <a:cs typeface="Montserrat"/>
              </a:defRPr>
            </a:defPPr>
            <a:lvl1pPr>
              <a:defRPr sz="1656" b="0">
                <a:solidFill>
                  <a:srgbClr val="242321"/>
                </a:solidFill>
                <a:latin typeface="Montserrat"/>
                <a:ea typeface="Montserrat"/>
                <a:cs typeface="Montserrat"/>
              </a:defRPr>
            </a:lvl1pPr>
            <a:lvl2pPr>
              <a:defRPr sz="1656" b="0">
                <a:solidFill>
                  <a:srgbClr val="242321"/>
                </a:solidFill>
                <a:latin typeface="Montserrat"/>
                <a:ea typeface="Montserrat"/>
                <a:cs typeface="Montserrat"/>
              </a:defRPr>
            </a:lvl2pPr>
            <a:lvl3pPr>
              <a:defRPr sz="1656" b="0">
                <a:solidFill>
                  <a:srgbClr val="242321"/>
                </a:solidFill>
                <a:latin typeface="Montserrat"/>
                <a:ea typeface="Montserrat"/>
                <a:cs typeface="Montserrat"/>
              </a:defRPr>
            </a:lvl3pPr>
            <a:lvl4pPr>
              <a:defRPr sz="1656" b="0">
                <a:solidFill>
                  <a:srgbClr val="242321"/>
                </a:solidFill>
                <a:latin typeface="Montserrat"/>
                <a:ea typeface="Montserrat"/>
                <a:cs typeface="Montserrat"/>
              </a:defRPr>
            </a:lvl4pPr>
            <a:lvl5pPr>
              <a:defRPr sz="1656" b="0">
                <a:solidFill>
                  <a:srgbClr val="242321"/>
                </a:solidFill>
                <a:latin typeface="Montserrat"/>
                <a:ea typeface="Montserrat"/>
                <a:cs typeface="Montserrat"/>
              </a:defRPr>
            </a:lvl5pPr>
            <a:lvl6pPr>
              <a:defRPr sz="1656" b="0">
                <a:solidFill>
                  <a:srgbClr val="242321"/>
                </a:solidFill>
                <a:latin typeface="Montserrat"/>
                <a:ea typeface="Montserrat"/>
                <a:cs typeface="Montserrat"/>
              </a:defRPr>
            </a:lvl6pPr>
            <a:lvl7pPr>
              <a:defRPr sz="1656" b="0">
                <a:solidFill>
                  <a:srgbClr val="242321"/>
                </a:solidFill>
                <a:latin typeface="Montserrat"/>
                <a:ea typeface="Montserrat"/>
                <a:cs typeface="Montserrat"/>
              </a:defRPr>
            </a:lvl7pPr>
            <a:lvl8pPr>
              <a:defRPr sz="1656" b="0">
                <a:solidFill>
                  <a:srgbClr val="242321"/>
                </a:solidFill>
                <a:latin typeface="Montserrat"/>
                <a:ea typeface="Montserrat"/>
                <a:cs typeface="Montserrat"/>
              </a:defRPr>
            </a:lvl8pPr>
            <a:lvl9pPr>
              <a:defRPr sz="1656" b="0">
                <a:solidFill>
                  <a:srgbClr val="242321"/>
                </a:solidFill>
                <a:latin typeface="Montserrat"/>
                <a:ea typeface="Montserrat"/>
                <a:cs typeface="Montserrat"/>
              </a:defRPr>
            </a:lvl9pPr>
          </a:lstStyle>
          <a:p xmlns:a="http://schemas.openxmlformats.org/drawingml/2006/main">
            <a:pPr>
              <a:defRPr sz="1656" b="0">
                <a:solidFill>
                  <a:srgbClr val="242321"/>
                </a:solidFill>
                <a:latin typeface="Montserrat"/>
                <a:ea typeface="Montserrat"/>
                <a:cs typeface="Montserrat"/>
              </a:defRPr>
            </a:pPr>
            <a:r>
              <a:rPr sz="1656" b="0">
                <a:solidFill>
                  <a:srgbClr val="242321"/>
                </a:solidFill>
                <a:latin typeface="Montserrat"/>
                <a:ea typeface="Montserrat"/>
                <a:cs typeface="Montserrat"/>
              </a:rPr>
              <a:t>Achat répété en 2025</a:t>
            </a:r>
          </a:p>
        </p:txBody>
      </p:sp>
      <p:sp>
        <p:nvSpPr>
          <p:cNvPr id="17" name="">
            <a:extLst xmlns:a="http://schemas.openxmlformats.org/drawingml/2006/main">
              <a:ext uri="{FF2B5EF4-FFF2-40B4-BE49-F238E27FC236}">
                <a16:creationId xmlns:a16="http://schemas.microsoft.com/office/drawing/2014/main" id="{ED112A68-AA43-43A5-A042-17A653366AAD}"/>
              </a:ext>
            </a:extLst>
          </p:cNvPr>
          <p:cNvSpPr>
            <a:spLocks xmlns:a="http://schemas.openxmlformats.org/drawingml/2006/main" noGrp="1"/>
          </p:cNvSpPr>
          <p:nvPr/>
        </p:nvSpPr>
        <p:spPr>
          <a:xfrm xmlns:a="http://schemas.openxmlformats.org/drawingml/2006/main">
            <a:off x="4333875" y="3762375"/>
            <a:ext cx="3524250" cy="1666875"/>
          </a:xfrm>
          <a:prstGeom xmlns:a="http://schemas.openxmlformats.org/drawingml/2006/main" prst="roundRect">
            <a:avLst>
              <a:gd name="adj" fmla="val 4571"/>
            </a:avLst>
          </a:prstGeom>
          <a:solidFill xmlns:a="http://schemas.openxmlformats.org/drawingml/2006/main">
            <a:srgbClr val="DDD8D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2EC419CD-CDCF-4603-8C92-4BD04DA6E756}"/>
              </a:ext>
            </a:extLst>
          </p:cNvPr>
          <p:cNvSpPr>
            <a:spLocks xmlns:a="http://schemas.openxmlformats.org/drawingml/2006/main" noGrp="1"/>
          </p:cNvSpPr>
          <p:nvPr/>
        </p:nvSpPr>
        <p:spPr>
          <a:xfrm xmlns:a="http://schemas.openxmlformats.org/drawingml/2006/main">
            <a:off x="4543425" y="4010025"/>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242321"/>
                </a:solidFill>
                <a:latin typeface="Montserrat"/>
                <a:ea typeface="Montserrat"/>
                <a:cs typeface="Montserrat"/>
              </a:defRPr>
            </a:defPPr>
            <a:lvl1pPr>
              <a:defRPr sz="3750" b="1">
                <a:solidFill>
                  <a:srgbClr val="242321"/>
                </a:solidFill>
                <a:latin typeface="Montserrat"/>
                <a:ea typeface="Montserrat"/>
                <a:cs typeface="Montserrat"/>
              </a:defRPr>
            </a:lvl1pPr>
            <a:lvl2pPr>
              <a:defRPr sz="3750" b="1">
                <a:solidFill>
                  <a:srgbClr val="242321"/>
                </a:solidFill>
                <a:latin typeface="Montserrat"/>
                <a:ea typeface="Montserrat"/>
                <a:cs typeface="Montserrat"/>
              </a:defRPr>
            </a:lvl2pPr>
            <a:lvl3pPr>
              <a:defRPr sz="3750" b="1">
                <a:solidFill>
                  <a:srgbClr val="242321"/>
                </a:solidFill>
                <a:latin typeface="Montserrat"/>
                <a:ea typeface="Montserrat"/>
                <a:cs typeface="Montserrat"/>
              </a:defRPr>
            </a:lvl3pPr>
            <a:lvl4pPr>
              <a:defRPr sz="3750" b="1">
                <a:solidFill>
                  <a:srgbClr val="242321"/>
                </a:solidFill>
                <a:latin typeface="Montserrat"/>
                <a:ea typeface="Montserrat"/>
                <a:cs typeface="Montserrat"/>
              </a:defRPr>
            </a:lvl4pPr>
            <a:lvl5pPr>
              <a:defRPr sz="3750" b="1">
                <a:solidFill>
                  <a:srgbClr val="242321"/>
                </a:solidFill>
                <a:latin typeface="Montserrat"/>
                <a:ea typeface="Montserrat"/>
                <a:cs typeface="Montserrat"/>
              </a:defRPr>
            </a:lvl5pPr>
            <a:lvl6pPr>
              <a:defRPr sz="3750" b="1">
                <a:solidFill>
                  <a:srgbClr val="242321"/>
                </a:solidFill>
                <a:latin typeface="Montserrat"/>
                <a:ea typeface="Montserrat"/>
                <a:cs typeface="Montserrat"/>
              </a:defRPr>
            </a:lvl6pPr>
            <a:lvl7pPr>
              <a:defRPr sz="3750" b="1">
                <a:solidFill>
                  <a:srgbClr val="242321"/>
                </a:solidFill>
                <a:latin typeface="Montserrat"/>
                <a:ea typeface="Montserrat"/>
                <a:cs typeface="Montserrat"/>
              </a:defRPr>
            </a:lvl7pPr>
            <a:lvl8pPr>
              <a:defRPr sz="3750" b="1">
                <a:solidFill>
                  <a:srgbClr val="242321"/>
                </a:solidFill>
                <a:latin typeface="Montserrat"/>
                <a:ea typeface="Montserrat"/>
                <a:cs typeface="Montserrat"/>
              </a:defRPr>
            </a:lvl8pPr>
            <a:lvl9pPr>
              <a:defRPr sz="3750" b="1">
                <a:solidFill>
                  <a:srgbClr val="242321"/>
                </a:solidFill>
                <a:latin typeface="Montserrat"/>
                <a:ea typeface="Montserrat"/>
                <a:cs typeface="Montserrat"/>
              </a:defRPr>
            </a:lvl9pPr>
          </a:lstStyle>
          <a:p xmlns:a="http://schemas.openxmlformats.org/drawingml/2006/main">
            <a:pPr>
              <a:defRPr sz="3750" b="1">
                <a:solidFill>
                  <a:srgbClr val="242321"/>
                </a:solidFill>
                <a:latin typeface="Montserrat"/>
                <a:ea typeface="Montserrat"/>
                <a:cs typeface="Montserrat"/>
              </a:defRPr>
            </a:pPr>
            <a:r>
              <a:rPr sz="3750" b="1">
                <a:solidFill>
                  <a:srgbClr val="242321"/>
                </a:solidFill>
                <a:latin typeface="Montserrat"/>
                <a:ea typeface="Montserrat"/>
                <a:cs typeface="Montserrat"/>
              </a:rPr>
              <a:t>77,61 %</a:t>
            </a:r>
          </a:p>
        </p:txBody>
      </p:sp>
      <p:sp>
        <p:nvSpPr>
          <p:cNvPr id="19" name="">
            <a:extLst xmlns:a="http://schemas.openxmlformats.org/drawingml/2006/main">
              <a:ext uri="{FF2B5EF4-FFF2-40B4-BE49-F238E27FC236}">
                <a16:creationId xmlns:a16="http://schemas.microsoft.com/office/drawing/2014/main" id="{35E9BE5E-B862-4B16-834B-52A8B0AA6EDA}"/>
              </a:ext>
            </a:extLst>
          </p:cNvPr>
          <p:cNvSpPr>
            <a:spLocks xmlns:a="http://schemas.openxmlformats.org/drawingml/2006/main" noGrp="1"/>
          </p:cNvSpPr>
          <p:nvPr/>
        </p:nvSpPr>
        <p:spPr>
          <a:xfrm xmlns:a="http://schemas.openxmlformats.org/drawingml/2006/main">
            <a:off x="4543425" y="4781550"/>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6" b="0">
                <a:solidFill>
                  <a:srgbClr val="242321"/>
                </a:solidFill>
                <a:latin typeface="Montserrat"/>
                <a:ea typeface="Montserrat"/>
                <a:cs typeface="Montserrat"/>
              </a:defRPr>
            </a:defPPr>
            <a:lvl1pPr>
              <a:defRPr sz="1656" b="0">
                <a:solidFill>
                  <a:srgbClr val="242321"/>
                </a:solidFill>
                <a:latin typeface="Montserrat"/>
                <a:ea typeface="Montserrat"/>
                <a:cs typeface="Montserrat"/>
              </a:defRPr>
            </a:lvl1pPr>
            <a:lvl2pPr>
              <a:defRPr sz="1656" b="0">
                <a:solidFill>
                  <a:srgbClr val="242321"/>
                </a:solidFill>
                <a:latin typeface="Montserrat"/>
                <a:ea typeface="Montserrat"/>
                <a:cs typeface="Montserrat"/>
              </a:defRPr>
            </a:lvl2pPr>
            <a:lvl3pPr>
              <a:defRPr sz="1656" b="0">
                <a:solidFill>
                  <a:srgbClr val="242321"/>
                </a:solidFill>
                <a:latin typeface="Montserrat"/>
                <a:ea typeface="Montserrat"/>
                <a:cs typeface="Montserrat"/>
              </a:defRPr>
            </a:lvl3pPr>
            <a:lvl4pPr>
              <a:defRPr sz="1656" b="0">
                <a:solidFill>
                  <a:srgbClr val="242321"/>
                </a:solidFill>
                <a:latin typeface="Montserrat"/>
                <a:ea typeface="Montserrat"/>
                <a:cs typeface="Montserrat"/>
              </a:defRPr>
            </a:lvl4pPr>
            <a:lvl5pPr>
              <a:defRPr sz="1656" b="0">
                <a:solidFill>
                  <a:srgbClr val="242321"/>
                </a:solidFill>
                <a:latin typeface="Montserrat"/>
                <a:ea typeface="Montserrat"/>
                <a:cs typeface="Montserrat"/>
              </a:defRPr>
            </a:lvl5pPr>
            <a:lvl6pPr>
              <a:defRPr sz="1656" b="0">
                <a:solidFill>
                  <a:srgbClr val="242321"/>
                </a:solidFill>
                <a:latin typeface="Montserrat"/>
                <a:ea typeface="Montserrat"/>
                <a:cs typeface="Montserrat"/>
              </a:defRPr>
            </a:lvl6pPr>
            <a:lvl7pPr>
              <a:defRPr sz="1656" b="0">
                <a:solidFill>
                  <a:srgbClr val="242321"/>
                </a:solidFill>
                <a:latin typeface="Montserrat"/>
                <a:ea typeface="Montserrat"/>
                <a:cs typeface="Montserrat"/>
              </a:defRPr>
            </a:lvl7pPr>
            <a:lvl8pPr>
              <a:defRPr sz="1656" b="0">
                <a:solidFill>
                  <a:srgbClr val="242321"/>
                </a:solidFill>
                <a:latin typeface="Montserrat"/>
                <a:ea typeface="Montserrat"/>
                <a:cs typeface="Montserrat"/>
              </a:defRPr>
            </a:lvl8pPr>
            <a:lvl9pPr>
              <a:defRPr sz="1656" b="0">
                <a:solidFill>
                  <a:srgbClr val="242321"/>
                </a:solidFill>
                <a:latin typeface="Montserrat"/>
                <a:ea typeface="Montserrat"/>
                <a:cs typeface="Montserrat"/>
              </a:defRPr>
            </a:lvl9pPr>
          </a:lstStyle>
          <a:p xmlns:a="http://schemas.openxmlformats.org/drawingml/2006/main">
            <a:pPr>
              <a:defRPr sz="1656" b="0">
                <a:solidFill>
                  <a:srgbClr val="242321"/>
                </a:solidFill>
                <a:latin typeface="Montserrat"/>
                <a:ea typeface="Montserrat"/>
                <a:cs typeface="Montserrat"/>
              </a:defRPr>
            </a:pPr>
            <a:r>
              <a:rPr sz="1656" b="0">
                <a:solidFill>
                  <a:srgbClr val="242321"/>
                </a:solidFill>
                <a:latin typeface="Montserrat"/>
                <a:ea typeface="Montserrat"/>
                <a:cs typeface="Montserrat"/>
              </a:rPr>
              <a:t>CSAT du service</a:t>
            </a:r>
          </a:p>
        </p:txBody>
      </p:sp>
      <p:sp>
        <p:nvSpPr>
          <p:cNvPr id="20" name="">
            <a:extLst xmlns:a="http://schemas.openxmlformats.org/drawingml/2006/main">
              <a:ext uri="{FF2B5EF4-FFF2-40B4-BE49-F238E27FC236}">
                <a16:creationId xmlns:a16="http://schemas.microsoft.com/office/drawing/2014/main" id="{15960B78-EB35-46ED-9DA7-87FEAD825903}"/>
              </a:ext>
            </a:extLst>
          </p:cNvPr>
          <p:cNvSpPr>
            <a:spLocks xmlns:a="http://schemas.openxmlformats.org/drawingml/2006/main" noGrp="1"/>
          </p:cNvSpPr>
          <p:nvPr/>
        </p:nvSpPr>
        <p:spPr>
          <a:xfrm xmlns:a="http://schemas.openxmlformats.org/drawingml/2006/main">
            <a:off x="8048625" y="3762375"/>
            <a:ext cx="3524250" cy="1666875"/>
          </a:xfrm>
          <a:prstGeom xmlns:a="http://schemas.openxmlformats.org/drawingml/2006/main" prst="roundRect">
            <a:avLst>
              <a:gd name="adj" fmla="val 4571"/>
            </a:avLst>
          </a:prstGeom>
          <a:solidFill xmlns:a="http://schemas.openxmlformats.org/drawingml/2006/main">
            <a:srgbClr val="DDD8D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9919D571-0A90-4400-B699-D141C4492EB0}"/>
              </a:ext>
            </a:extLst>
          </p:cNvPr>
          <p:cNvSpPr>
            <a:spLocks xmlns:a="http://schemas.openxmlformats.org/drawingml/2006/main" noGrp="1"/>
          </p:cNvSpPr>
          <p:nvPr/>
        </p:nvSpPr>
        <p:spPr>
          <a:xfrm xmlns:a="http://schemas.openxmlformats.org/drawingml/2006/main">
            <a:off x="8258175" y="4010025"/>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242321"/>
                </a:solidFill>
                <a:latin typeface="Montserrat"/>
                <a:ea typeface="Montserrat"/>
                <a:cs typeface="Montserrat"/>
              </a:defRPr>
            </a:defPPr>
            <a:lvl1pPr>
              <a:defRPr sz="3750" b="1">
                <a:solidFill>
                  <a:srgbClr val="242321"/>
                </a:solidFill>
                <a:latin typeface="Montserrat"/>
                <a:ea typeface="Montserrat"/>
                <a:cs typeface="Montserrat"/>
              </a:defRPr>
            </a:lvl1pPr>
            <a:lvl2pPr>
              <a:defRPr sz="3750" b="1">
                <a:solidFill>
                  <a:srgbClr val="242321"/>
                </a:solidFill>
                <a:latin typeface="Montserrat"/>
                <a:ea typeface="Montserrat"/>
                <a:cs typeface="Montserrat"/>
              </a:defRPr>
            </a:lvl2pPr>
            <a:lvl3pPr>
              <a:defRPr sz="3750" b="1">
                <a:solidFill>
                  <a:srgbClr val="242321"/>
                </a:solidFill>
                <a:latin typeface="Montserrat"/>
                <a:ea typeface="Montserrat"/>
                <a:cs typeface="Montserrat"/>
              </a:defRPr>
            </a:lvl3pPr>
            <a:lvl4pPr>
              <a:defRPr sz="3750" b="1">
                <a:solidFill>
                  <a:srgbClr val="242321"/>
                </a:solidFill>
                <a:latin typeface="Montserrat"/>
                <a:ea typeface="Montserrat"/>
                <a:cs typeface="Montserrat"/>
              </a:defRPr>
            </a:lvl4pPr>
            <a:lvl5pPr>
              <a:defRPr sz="3750" b="1">
                <a:solidFill>
                  <a:srgbClr val="242321"/>
                </a:solidFill>
                <a:latin typeface="Montserrat"/>
                <a:ea typeface="Montserrat"/>
                <a:cs typeface="Montserrat"/>
              </a:defRPr>
            </a:lvl5pPr>
            <a:lvl6pPr>
              <a:defRPr sz="3750" b="1">
                <a:solidFill>
                  <a:srgbClr val="242321"/>
                </a:solidFill>
                <a:latin typeface="Montserrat"/>
                <a:ea typeface="Montserrat"/>
                <a:cs typeface="Montserrat"/>
              </a:defRPr>
            </a:lvl6pPr>
            <a:lvl7pPr>
              <a:defRPr sz="3750" b="1">
                <a:solidFill>
                  <a:srgbClr val="242321"/>
                </a:solidFill>
                <a:latin typeface="Montserrat"/>
                <a:ea typeface="Montserrat"/>
                <a:cs typeface="Montserrat"/>
              </a:defRPr>
            </a:lvl7pPr>
            <a:lvl8pPr>
              <a:defRPr sz="3750" b="1">
                <a:solidFill>
                  <a:srgbClr val="242321"/>
                </a:solidFill>
                <a:latin typeface="Montserrat"/>
                <a:ea typeface="Montserrat"/>
                <a:cs typeface="Montserrat"/>
              </a:defRPr>
            </a:lvl8pPr>
            <a:lvl9pPr>
              <a:defRPr sz="3750" b="1">
                <a:solidFill>
                  <a:srgbClr val="242321"/>
                </a:solidFill>
                <a:latin typeface="Montserrat"/>
                <a:ea typeface="Montserrat"/>
                <a:cs typeface="Montserrat"/>
              </a:defRPr>
            </a:lvl9pPr>
          </a:lstStyle>
          <a:p xmlns:a="http://schemas.openxmlformats.org/drawingml/2006/main">
            <a:pPr>
              <a:defRPr sz="3750" b="1">
                <a:solidFill>
                  <a:srgbClr val="242321"/>
                </a:solidFill>
                <a:latin typeface="Montserrat"/>
                <a:ea typeface="Montserrat"/>
                <a:cs typeface="Montserrat"/>
              </a:defRPr>
            </a:pPr>
            <a:r>
              <a:rPr sz="3750" b="1">
                <a:solidFill>
                  <a:srgbClr val="242321"/>
                </a:solidFill>
                <a:latin typeface="Montserrat"/>
                <a:ea typeface="Montserrat"/>
                <a:cs typeface="Montserrat"/>
              </a:rPr>
              <a:t>69,43 %</a:t>
            </a:r>
          </a:p>
        </p:txBody>
      </p:sp>
      <p:sp>
        <p:nvSpPr>
          <p:cNvPr id="22" name="">
            <a:extLst xmlns:a="http://schemas.openxmlformats.org/drawingml/2006/main">
              <a:ext uri="{FF2B5EF4-FFF2-40B4-BE49-F238E27FC236}">
                <a16:creationId xmlns:a16="http://schemas.microsoft.com/office/drawing/2014/main" id="{6FCC0DDC-58B2-45A1-9979-C4AC3038FFEF}"/>
              </a:ext>
            </a:extLst>
          </p:cNvPr>
          <p:cNvSpPr>
            <a:spLocks xmlns:a="http://schemas.openxmlformats.org/drawingml/2006/main" noGrp="1"/>
          </p:cNvSpPr>
          <p:nvPr/>
        </p:nvSpPr>
        <p:spPr>
          <a:xfrm xmlns:a="http://schemas.openxmlformats.org/drawingml/2006/main">
            <a:off x="8258175" y="4781550"/>
            <a:ext cx="314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6" b="0">
                <a:solidFill>
                  <a:srgbClr val="242321"/>
                </a:solidFill>
                <a:latin typeface="Montserrat"/>
                <a:ea typeface="Montserrat"/>
                <a:cs typeface="Montserrat"/>
              </a:defRPr>
            </a:defPPr>
            <a:lvl1pPr>
              <a:defRPr sz="1656" b="0">
                <a:solidFill>
                  <a:srgbClr val="242321"/>
                </a:solidFill>
                <a:latin typeface="Montserrat"/>
                <a:ea typeface="Montserrat"/>
                <a:cs typeface="Montserrat"/>
              </a:defRPr>
            </a:lvl1pPr>
            <a:lvl2pPr>
              <a:defRPr sz="1656" b="0">
                <a:solidFill>
                  <a:srgbClr val="242321"/>
                </a:solidFill>
                <a:latin typeface="Montserrat"/>
                <a:ea typeface="Montserrat"/>
                <a:cs typeface="Montserrat"/>
              </a:defRPr>
            </a:lvl2pPr>
            <a:lvl3pPr>
              <a:defRPr sz="1656" b="0">
                <a:solidFill>
                  <a:srgbClr val="242321"/>
                </a:solidFill>
                <a:latin typeface="Montserrat"/>
                <a:ea typeface="Montserrat"/>
                <a:cs typeface="Montserrat"/>
              </a:defRPr>
            </a:lvl3pPr>
            <a:lvl4pPr>
              <a:defRPr sz="1656" b="0">
                <a:solidFill>
                  <a:srgbClr val="242321"/>
                </a:solidFill>
                <a:latin typeface="Montserrat"/>
                <a:ea typeface="Montserrat"/>
                <a:cs typeface="Montserrat"/>
              </a:defRPr>
            </a:lvl4pPr>
            <a:lvl5pPr>
              <a:defRPr sz="1656" b="0">
                <a:solidFill>
                  <a:srgbClr val="242321"/>
                </a:solidFill>
                <a:latin typeface="Montserrat"/>
                <a:ea typeface="Montserrat"/>
                <a:cs typeface="Montserrat"/>
              </a:defRPr>
            </a:lvl5pPr>
            <a:lvl6pPr>
              <a:defRPr sz="1656" b="0">
                <a:solidFill>
                  <a:srgbClr val="242321"/>
                </a:solidFill>
                <a:latin typeface="Montserrat"/>
                <a:ea typeface="Montserrat"/>
                <a:cs typeface="Montserrat"/>
              </a:defRPr>
            </a:lvl6pPr>
            <a:lvl7pPr>
              <a:defRPr sz="1656" b="0">
                <a:solidFill>
                  <a:srgbClr val="242321"/>
                </a:solidFill>
                <a:latin typeface="Montserrat"/>
                <a:ea typeface="Montserrat"/>
                <a:cs typeface="Montserrat"/>
              </a:defRPr>
            </a:lvl7pPr>
            <a:lvl8pPr>
              <a:defRPr sz="1656" b="0">
                <a:solidFill>
                  <a:srgbClr val="242321"/>
                </a:solidFill>
                <a:latin typeface="Montserrat"/>
                <a:ea typeface="Montserrat"/>
                <a:cs typeface="Montserrat"/>
              </a:defRPr>
            </a:lvl8pPr>
            <a:lvl9pPr>
              <a:defRPr sz="1656" b="0">
                <a:solidFill>
                  <a:srgbClr val="242321"/>
                </a:solidFill>
                <a:latin typeface="Montserrat"/>
                <a:ea typeface="Montserrat"/>
                <a:cs typeface="Montserrat"/>
              </a:defRPr>
            </a:lvl9pPr>
          </a:lstStyle>
          <a:p xmlns:a="http://schemas.openxmlformats.org/drawingml/2006/main">
            <a:pPr>
              <a:defRPr sz="1656" b="0">
                <a:solidFill>
                  <a:srgbClr val="242321"/>
                </a:solidFill>
                <a:latin typeface="Montserrat"/>
                <a:ea typeface="Montserrat"/>
                <a:cs typeface="Montserrat"/>
              </a:defRPr>
            </a:pPr>
            <a:r>
              <a:rPr sz="1656" b="0">
                <a:solidFill>
                  <a:srgbClr val="242321"/>
                </a:solidFill>
                <a:latin typeface="Montserrat"/>
                <a:ea typeface="Montserrat"/>
                <a:cs typeface="Montserrat"/>
              </a:rPr>
              <a:t>Respect du SLA</a:t>
            </a:r>
          </a:p>
        </p:txBody>
      </p:sp>
      <p:sp>
        <p:nvSpPr>
          <p:cNvPr id="23" name="">
            <a:extLst xmlns:a="http://schemas.openxmlformats.org/drawingml/2006/main">
              <a:ext uri="{FF2B5EF4-FFF2-40B4-BE49-F238E27FC236}">
                <a16:creationId xmlns:a16="http://schemas.microsoft.com/office/drawing/2014/main" id="{F8549703-DB52-4D08-991B-BD64C1C497AE}"/>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Périmètre : activité simulée de 2025. Base de 5 000 clients et 2 000 tickets.</a:t>
            </a:r>
          </a:p>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Réponse : 9,13 h · Résolution : 27,34 h · Objectifs SLA : 12 h / 48 h calendaires.</a:t>
            </a:r>
          </a:p>
        </p:txBody>
      </p:sp>
    </p:spTree>
    <p:extLst>
      <p:ext uri="{BB962C8B-B14F-4D97-AF65-F5344CB8AC3E}">
        <p14:creationId xmlns:p14="http://schemas.microsoft.com/office/powerpoint/2010/main" val="896711288"/>
      </p:ext>
    </p:extLst>
  </p:cSld>
</p:sld>
</file>

<file path=ppt/slides/slide14.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6EDF661-3526-4356-8902-A516E6112CD6}"/>
              </a:ext>
            </a:extLst>
          </p:cNvPr>
          <p:cNvPicPr>
            <a:picLocks xmlns:a="http://schemas.openxmlformats.org/drawingml/2006/main" noChangeAspect="1"/>
          </p:cNvPicPr>
          <p:nvPr/>
        </p:nvPicPr>
        <p:blipFill>
          <a:blip xmlns:r="http://schemas.openxmlformats.org/officeDocument/2006/relationships" xmlns:a="http://schemas.openxmlformats.org/drawingml/2006/main" r:embed="R183b282186ec4e9e"/>
          <a:stretch xmlns:a="http://schemas.openxmlformats.org/drawingml/2006/main"/>
        </p:blipFill>
        <p:spPr>
          <a:xfrm xmlns:a="http://schemas.openxmlformats.org/drawingml/2006/main" flipV="1">
            <a:off x="0" y="5429250"/>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6155112-9334-4FF1-8F87-9A48CEC6E41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3CB1051-3E06-43F5-9829-299ABA9286C8}"/>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B579E5-BFDC-41EE-BC2E-8F6CB18CAC98}"/>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Q1 · Comment évoluent les ventes ?</a:t>
            </a:r>
          </a:p>
        </p:txBody>
      </p:sp>
      <p:sp>
        <p:nvSpPr>
          <p:cNvPr id="5" name="">
            <a:extLst xmlns:a="http://schemas.openxmlformats.org/drawingml/2006/main">
              <a:ext uri="{FF2B5EF4-FFF2-40B4-BE49-F238E27FC236}">
                <a16:creationId xmlns:a16="http://schemas.microsoft.com/office/drawing/2014/main" id="{8C94CD47-CF83-44E3-8E76-3250AE27B889}"/>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14</a:t>
            </a:r>
          </a:p>
        </p:txBody>
      </p:sp>
      <p:sp>
        <p:nvSpPr>
          <p:cNvPr id="6" name="">
            <a:extLst xmlns:a="http://schemas.openxmlformats.org/drawingml/2006/main">
              <a:ext uri="{FF2B5EF4-FFF2-40B4-BE49-F238E27FC236}">
                <a16:creationId xmlns:a16="http://schemas.microsoft.com/office/drawing/2014/main" id="{EEA5DAE9-E4DA-4617-BDA3-CF058FC27BA1}"/>
              </a:ext>
            </a:extLst>
          </p:cNvPr>
          <p:cNvSpPr>
            <a:spLocks xmlns:a="http://schemas.openxmlformats.org/drawingml/2006/main" noGrp="1"/>
          </p:cNvSpPr>
          <p:nvPr/>
        </p:nvSpPr>
        <p:spPr>
          <a:xfrm xmlns:a="http://schemas.openxmlformats.org/drawingml/2006/main">
            <a:off x="666750" y="157162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Montant net des commandes par mois (k€)</a:t>
            </a:r>
          </a:p>
        </p:txBody>
      </p:sp>
      <p:graphicFrame>
        <p:nvGraphicFramePr>
          <p:cNvPr id="7" name="Chart">
            <a:extLst xmlns:a="http://schemas.openxmlformats.org/drawingml/2006/main">
              <a:ext uri="{FF2B5EF4-FFF2-40B4-BE49-F238E27FC236}">
                <a16:creationId xmlns:a16="http://schemas.microsoft.com/office/drawing/2014/main" id="{6701E0D7-E383-488B-A69E-8352BA5AAF8D}"/>
              </a:ext>
            </a:extLst>
          </p:cNvPr>
          <p:cNvGraphicFramePr/>
          <p:nvPr/>
        </p:nvGraphicFramePr>
        <p:xfrm>
          <a:off xmlns:a="http://schemas.openxmlformats.org/drawingml/2006/main" x="619125" y="2047875"/>
          <a:ext xmlns:a="http://schemas.openxmlformats.org/drawingml/2006/main" cx="7715250" cy="2857500"/>
        </p:xfrm>
        <a:graphic xmlns:a="http://schemas.openxmlformats.org/drawingml/2006/main">
          <a:graphicData uri="http://schemas.openxmlformats.org/drawingml/2006/chart">
            <c:chart xmlns:r="http://schemas.openxmlformats.org/officeDocument/2006/relationships" xmlns:c="http://schemas.openxmlformats.org/drawingml/2006/chart" r:id="Rf3deab5f05384724"/>
          </a:graphicData>
        </a:graphic>
      </p:graphicFrame>
      <p:sp>
        <p:nvSpPr>
          <p:cNvPr id="8" name="">
            <a:extLst xmlns:a="http://schemas.openxmlformats.org/drawingml/2006/main">
              <a:ext uri="{FF2B5EF4-FFF2-40B4-BE49-F238E27FC236}">
                <a16:creationId xmlns:a16="http://schemas.microsoft.com/office/drawing/2014/main" id="{9306B0FA-A8E8-4ED2-A902-6EBCC6D79706}"/>
              </a:ext>
            </a:extLst>
          </p:cNvPr>
          <p:cNvSpPr>
            <a:spLocks xmlns:a="http://schemas.openxmlformats.org/drawingml/2006/main" noGrp="1"/>
          </p:cNvSpPr>
          <p:nvPr/>
        </p:nvSpPr>
        <p:spPr>
          <a:xfrm xmlns:a="http://schemas.openxmlformats.org/drawingml/2006/main">
            <a:off x="8763000" y="2095500"/>
            <a:ext cx="2762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242321"/>
                </a:solidFill>
                <a:latin typeface="Montserrat"/>
                <a:ea typeface="Montserrat"/>
                <a:cs typeface="Montserrat"/>
              </a:defRPr>
            </a:defPPr>
            <a:lvl1pPr>
              <a:defRPr sz="3900" b="1">
                <a:solidFill>
                  <a:srgbClr val="242321"/>
                </a:solidFill>
                <a:latin typeface="Montserrat"/>
                <a:ea typeface="Montserrat"/>
                <a:cs typeface="Montserrat"/>
              </a:defRPr>
            </a:lvl1pPr>
            <a:lvl2pPr>
              <a:defRPr sz="3900" b="1">
                <a:solidFill>
                  <a:srgbClr val="242321"/>
                </a:solidFill>
                <a:latin typeface="Montserrat"/>
                <a:ea typeface="Montserrat"/>
                <a:cs typeface="Montserrat"/>
              </a:defRPr>
            </a:lvl2pPr>
            <a:lvl3pPr>
              <a:defRPr sz="3900" b="1">
                <a:solidFill>
                  <a:srgbClr val="242321"/>
                </a:solidFill>
                <a:latin typeface="Montserrat"/>
                <a:ea typeface="Montserrat"/>
                <a:cs typeface="Montserrat"/>
              </a:defRPr>
            </a:lvl3pPr>
            <a:lvl4pPr>
              <a:defRPr sz="3900" b="1">
                <a:solidFill>
                  <a:srgbClr val="242321"/>
                </a:solidFill>
                <a:latin typeface="Montserrat"/>
                <a:ea typeface="Montserrat"/>
                <a:cs typeface="Montserrat"/>
              </a:defRPr>
            </a:lvl4pPr>
            <a:lvl5pPr>
              <a:defRPr sz="3900" b="1">
                <a:solidFill>
                  <a:srgbClr val="242321"/>
                </a:solidFill>
                <a:latin typeface="Montserrat"/>
                <a:ea typeface="Montserrat"/>
                <a:cs typeface="Montserrat"/>
              </a:defRPr>
            </a:lvl5pPr>
            <a:lvl6pPr>
              <a:defRPr sz="3900" b="1">
                <a:solidFill>
                  <a:srgbClr val="242321"/>
                </a:solidFill>
                <a:latin typeface="Montserrat"/>
                <a:ea typeface="Montserrat"/>
                <a:cs typeface="Montserrat"/>
              </a:defRPr>
            </a:lvl6pPr>
            <a:lvl7pPr>
              <a:defRPr sz="3900" b="1">
                <a:solidFill>
                  <a:srgbClr val="242321"/>
                </a:solidFill>
                <a:latin typeface="Montserrat"/>
                <a:ea typeface="Montserrat"/>
                <a:cs typeface="Montserrat"/>
              </a:defRPr>
            </a:lvl7pPr>
            <a:lvl8pPr>
              <a:defRPr sz="3900" b="1">
                <a:solidFill>
                  <a:srgbClr val="242321"/>
                </a:solidFill>
                <a:latin typeface="Montserrat"/>
                <a:ea typeface="Montserrat"/>
                <a:cs typeface="Montserrat"/>
              </a:defRPr>
            </a:lvl8pPr>
            <a:lvl9pPr>
              <a:defRPr sz="3900" b="1">
                <a:solidFill>
                  <a:srgbClr val="242321"/>
                </a:solidFill>
                <a:latin typeface="Montserrat"/>
                <a:ea typeface="Montserrat"/>
                <a:cs typeface="Montserrat"/>
              </a:defRPr>
            </a:lvl9pPr>
          </a:lstStyle>
          <a:p xmlns:a="http://schemas.openxmlformats.org/drawingml/2006/main">
            <a:pPr>
              <a:defRPr sz="3900" b="1">
                <a:solidFill>
                  <a:srgbClr val="242321"/>
                </a:solidFill>
                <a:latin typeface="Montserrat"/>
                <a:ea typeface="Montserrat"/>
                <a:cs typeface="Montserrat"/>
              </a:defRPr>
            </a:pPr>
            <a:r>
              <a:rPr sz="3900" b="1">
                <a:solidFill>
                  <a:srgbClr val="242321"/>
                </a:solidFill>
                <a:latin typeface="Montserrat"/>
                <a:ea typeface="Montserrat"/>
                <a:cs typeface="Montserrat"/>
              </a:rPr>
              <a:t>26,7 %</a:t>
            </a:r>
          </a:p>
        </p:txBody>
      </p:sp>
      <p:sp>
        <p:nvSpPr>
          <p:cNvPr id="9" name="">
            <a:extLst xmlns:a="http://schemas.openxmlformats.org/drawingml/2006/main">
              <a:ext uri="{FF2B5EF4-FFF2-40B4-BE49-F238E27FC236}">
                <a16:creationId xmlns:a16="http://schemas.microsoft.com/office/drawing/2014/main" id="{77224F04-BE68-4FCB-8D48-71479A643991}"/>
              </a:ext>
            </a:extLst>
          </p:cNvPr>
          <p:cNvSpPr>
            <a:spLocks xmlns:a="http://schemas.openxmlformats.org/drawingml/2006/main" noGrp="1"/>
          </p:cNvSpPr>
          <p:nvPr/>
        </p:nvSpPr>
        <p:spPr>
          <a:xfrm xmlns:a="http://schemas.openxmlformats.org/drawingml/2006/main">
            <a:off x="8763000" y="2809875"/>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625B53"/>
                </a:solidFill>
                <a:latin typeface="Montserrat"/>
                <a:ea typeface="Montserrat"/>
                <a:cs typeface="Montserrat"/>
              </a:defRPr>
            </a:defPPr>
            <a:lvl1pPr>
              <a:defRPr sz="1587" b="0">
                <a:solidFill>
                  <a:srgbClr val="625B53"/>
                </a:solidFill>
                <a:latin typeface="Montserrat"/>
                <a:ea typeface="Montserrat"/>
                <a:cs typeface="Montserrat"/>
              </a:defRPr>
            </a:lvl1pPr>
            <a:lvl2pPr>
              <a:defRPr sz="1587" b="0">
                <a:solidFill>
                  <a:srgbClr val="625B53"/>
                </a:solidFill>
                <a:latin typeface="Montserrat"/>
                <a:ea typeface="Montserrat"/>
                <a:cs typeface="Montserrat"/>
              </a:defRPr>
            </a:lvl2pPr>
            <a:lvl3pPr>
              <a:defRPr sz="1587" b="0">
                <a:solidFill>
                  <a:srgbClr val="625B53"/>
                </a:solidFill>
                <a:latin typeface="Montserrat"/>
                <a:ea typeface="Montserrat"/>
                <a:cs typeface="Montserrat"/>
              </a:defRPr>
            </a:lvl3pPr>
            <a:lvl4pPr>
              <a:defRPr sz="1587" b="0">
                <a:solidFill>
                  <a:srgbClr val="625B53"/>
                </a:solidFill>
                <a:latin typeface="Montserrat"/>
                <a:ea typeface="Montserrat"/>
                <a:cs typeface="Montserrat"/>
              </a:defRPr>
            </a:lvl4pPr>
            <a:lvl5pPr>
              <a:defRPr sz="1587" b="0">
                <a:solidFill>
                  <a:srgbClr val="625B53"/>
                </a:solidFill>
                <a:latin typeface="Montserrat"/>
                <a:ea typeface="Montserrat"/>
                <a:cs typeface="Montserrat"/>
              </a:defRPr>
            </a:lvl5pPr>
            <a:lvl6pPr>
              <a:defRPr sz="1587" b="0">
                <a:solidFill>
                  <a:srgbClr val="625B53"/>
                </a:solidFill>
                <a:latin typeface="Montserrat"/>
                <a:ea typeface="Montserrat"/>
                <a:cs typeface="Montserrat"/>
              </a:defRPr>
            </a:lvl6pPr>
            <a:lvl7pPr>
              <a:defRPr sz="1587" b="0">
                <a:solidFill>
                  <a:srgbClr val="625B53"/>
                </a:solidFill>
                <a:latin typeface="Montserrat"/>
                <a:ea typeface="Montserrat"/>
                <a:cs typeface="Montserrat"/>
              </a:defRPr>
            </a:lvl7pPr>
            <a:lvl8pPr>
              <a:defRPr sz="1587" b="0">
                <a:solidFill>
                  <a:srgbClr val="625B53"/>
                </a:solidFill>
                <a:latin typeface="Montserrat"/>
                <a:ea typeface="Montserrat"/>
                <a:cs typeface="Montserrat"/>
              </a:defRPr>
            </a:lvl8pPr>
            <a:lvl9pPr>
              <a:defRPr sz="1587" b="0">
                <a:solidFill>
                  <a:srgbClr val="625B53"/>
                </a:solidFill>
                <a:latin typeface="Montserrat"/>
                <a:ea typeface="Montserrat"/>
                <a:cs typeface="Montserrat"/>
              </a:defRPr>
            </a:lvl9pPr>
          </a:lstStyle>
          <a:p xmlns:a="http://schemas.openxmlformats.org/drawingml/2006/main">
            <a:pPr>
              <a:defRPr sz="1587" b="0">
                <a:solidFill>
                  <a:srgbClr val="625B53"/>
                </a:solidFill>
                <a:latin typeface="Montserrat"/>
                <a:ea typeface="Montserrat"/>
                <a:cs typeface="Montserrat"/>
              </a:defRPr>
            </a:pPr>
            <a:r>
              <a:rPr sz="1587" b="0">
                <a:solidFill>
                  <a:srgbClr val="625B53"/>
                </a:solidFill>
                <a:latin typeface="Montserrat"/>
                <a:ea typeface="Montserrat"/>
                <a:cs typeface="Montserrat"/>
              </a:rPr>
              <a:t>des ventes annuelles</a:t>
            </a:r>
          </a:p>
          <a:p xmlns:a="http://schemas.openxmlformats.org/drawingml/2006/main">
            <a:pPr>
              <a:defRPr sz="1587" b="0">
                <a:solidFill>
                  <a:srgbClr val="625B53"/>
                </a:solidFill>
                <a:latin typeface="Montserrat"/>
                <a:ea typeface="Montserrat"/>
                <a:cs typeface="Montserrat"/>
              </a:defRPr>
            </a:pPr>
            <a:r>
              <a:rPr sz="1587" b="0">
                <a:solidFill>
                  <a:srgbClr val="625B53"/>
                </a:solidFill>
                <a:latin typeface="Montserrat"/>
                <a:ea typeface="Montserrat"/>
                <a:cs typeface="Montserrat"/>
              </a:rPr>
              <a:t>en novembre et décembre</a:t>
            </a:r>
          </a:p>
        </p:txBody>
      </p:sp>
      <p:sp>
        <p:nvSpPr>
          <p:cNvPr id="10" name="">
            <a:extLst xmlns:a="http://schemas.openxmlformats.org/drawingml/2006/main">
              <a:ext uri="{FF2B5EF4-FFF2-40B4-BE49-F238E27FC236}">
                <a16:creationId xmlns:a16="http://schemas.microsoft.com/office/drawing/2014/main" id="{D8DE9F5E-4F44-40D6-A63F-E1C46EFDD503}"/>
              </a:ext>
            </a:extLst>
          </p:cNvPr>
          <p:cNvSpPr>
            <a:spLocks xmlns:a="http://schemas.openxmlformats.org/drawingml/2006/main" noGrp="1"/>
          </p:cNvSpPr>
          <p:nvPr/>
        </p:nvSpPr>
        <p:spPr>
          <a:xfrm xmlns:a="http://schemas.openxmlformats.org/drawingml/2006/main">
            <a:off x="552450" y="5143500"/>
            <a:ext cx="11049000" cy="647700"/>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A531D2-905A-4CDA-8548-0A844FCE555E}"/>
              </a:ext>
            </a:extLst>
          </p:cNvPr>
          <p:cNvSpPr>
            <a:spLocks xmlns:a="http://schemas.openxmlformats.org/drawingml/2006/main" noGrp="1"/>
          </p:cNvSpPr>
          <p:nvPr/>
        </p:nvSpPr>
        <p:spPr>
          <a:xfrm xmlns:a="http://schemas.openxmlformats.org/drawingml/2006/main">
            <a:off x="552450" y="5143500"/>
            <a:ext cx="47625" cy="6477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C91B53E-46A6-4D22-AE06-3FCFDE0295EB}"/>
              </a:ext>
            </a:extLst>
          </p:cNvPr>
          <p:cNvSpPr>
            <a:spLocks xmlns:a="http://schemas.openxmlformats.org/drawingml/2006/main" noGrp="1"/>
          </p:cNvSpPr>
          <p:nvPr/>
        </p:nvSpPr>
        <p:spPr>
          <a:xfrm xmlns:a="http://schemas.openxmlformats.org/drawingml/2006/main">
            <a:off x="714375" y="52292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Le pic de novembre provient surtout de la hausse des commandes.</a:t>
            </a:r>
          </a:p>
        </p:txBody>
      </p:sp>
      <p:sp>
        <p:nvSpPr>
          <p:cNvPr id="13" name="">
            <a:extLst xmlns:a="http://schemas.openxmlformats.org/drawingml/2006/main">
              <a:ext uri="{FF2B5EF4-FFF2-40B4-BE49-F238E27FC236}">
                <a16:creationId xmlns:a16="http://schemas.microsoft.com/office/drawing/2014/main" id="{18C036B7-4DAF-4621-9AC9-3E4F73BF1F23}"/>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Novembre vs octobre : ventes +61,8 %, commandes +63,0 %. Une seule année ne démontre pas une saisonnalité récurrente.</a:t>
            </a:r>
          </a:p>
        </p:txBody>
      </p:sp>
    </p:spTree>
    <p:extLst>
      <p:ext uri="{BB962C8B-B14F-4D97-AF65-F5344CB8AC3E}">
        <p14:creationId xmlns:p14="http://schemas.microsoft.com/office/powerpoint/2010/main" val="700499523"/>
      </p:ext>
    </p:extLst>
  </p:cSld>
</p:sld>
</file>

<file path=ppt/slides/slide15.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11B468D-C937-4AA8-9A78-2F6F3B26B83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EC9689-F968-40A6-A680-5A52101CE105}"/>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E8875E-5A7B-4E9E-83B4-FFD49ED198E9}"/>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Q2 · Quels canaux contribuent aux ventes ?</a:t>
            </a:r>
          </a:p>
        </p:txBody>
      </p:sp>
      <p:sp>
        <p:nvSpPr>
          <p:cNvPr id="4" name="">
            <a:extLst xmlns:a="http://schemas.openxmlformats.org/drawingml/2006/main">
              <a:ext uri="{FF2B5EF4-FFF2-40B4-BE49-F238E27FC236}">
                <a16:creationId xmlns:a16="http://schemas.microsoft.com/office/drawing/2014/main" id="{F93DFF80-76F5-41F5-BB0C-4D6FE60642B4}"/>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15</a:t>
            </a:r>
          </a:p>
        </p:txBody>
      </p:sp>
      <p:graphicFrame>
        <p:nvGraphicFramePr>
          <p:cNvPr id="5" name="Chart">
            <a:extLst xmlns:a="http://schemas.openxmlformats.org/drawingml/2006/main">
              <a:ext uri="{FF2B5EF4-FFF2-40B4-BE49-F238E27FC236}">
                <a16:creationId xmlns:a16="http://schemas.microsoft.com/office/drawing/2014/main" id="{6DB6A3CF-D577-435F-9C3A-1255221BAF05}"/>
              </a:ext>
            </a:extLst>
          </p:cNvPr>
          <p:cNvGraphicFramePr/>
          <p:nvPr/>
        </p:nvGraphicFramePr>
        <p:xfrm>
          <a:off xmlns:a="http://schemas.openxmlformats.org/drawingml/2006/main" x="619125" y="2047875"/>
          <a:ext xmlns:a="http://schemas.openxmlformats.org/drawingml/2006/main" cx="6858000" cy="2857500"/>
        </p:xfrm>
        <a:graphic xmlns:a="http://schemas.openxmlformats.org/drawingml/2006/main">
          <a:graphicData uri="http://schemas.openxmlformats.org/drawingml/2006/chart">
            <c:chart xmlns:r="http://schemas.openxmlformats.org/officeDocument/2006/relationships" xmlns:c="http://schemas.openxmlformats.org/drawingml/2006/chart" r:id="R4f3a9e8ed5794898"/>
          </a:graphicData>
        </a:graphic>
      </p:graphicFrame>
      <p:sp>
        <p:nvSpPr>
          <p:cNvPr id="6" name="">
            <a:extLst xmlns:a="http://schemas.openxmlformats.org/drawingml/2006/main">
              <a:ext uri="{FF2B5EF4-FFF2-40B4-BE49-F238E27FC236}">
                <a16:creationId xmlns:a16="http://schemas.microsoft.com/office/drawing/2014/main" id="{ABA3CB72-8338-407D-A311-B3286B8E8FA4}"/>
              </a:ext>
            </a:extLst>
          </p:cNvPr>
          <p:cNvSpPr>
            <a:spLocks xmlns:a="http://schemas.openxmlformats.org/drawingml/2006/main" noGrp="1"/>
          </p:cNvSpPr>
          <p:nvPr/>
        </p:nvSpPr>
        <p:spPr>
          <a:xfrm xmlns:a="http://schemas.openxmlformats.org/drawingml/2006/main">
            <a:off x="714375" y="1571625"/>
            <a:ext cx="666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Ventes nettes (k€)</a:t>
            </a:r>
          </a:p>
        </p:txBody>
      </p:sp>
      <p:sp>
        <p:nvSpPr>
          <p:cNvPr id="7" name="">
            <a:extLst xmlns:a="http://schemas.openxmlformats.org/drawingml/2006/main">
              <a:ext uri="{FF2B5EF4-FFF2-40B4-BE49-F238E27FC236}">
                <a16:creationId xmlns:a16="http://schemas.microsoft.com/office/drawing/2014/main" id="{F877B886-CC5B-4C60-88A1-8A7D69F2083E}"/>
              </a:ext>
            </a:extLst>
          </p:cNvPr>
          <p:cNvSpPr>
            <a:spLocks xmlns:a="http://schemas.openxmlformats.org/drawingml/2006/main" noGrp="1"/>
          </p:cNvSpPr>
          <p:nvPr/>
        </p:nvSpPr>
        <p:spPr>
          <a:xfrm xmlns:a="http://schemas.openxmlformats.org/drawingml/2006/main">
            <a:off x="8382000" y="200025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242321"/>
                </a:solidFill>
                <a:latin typeface="Montserrat"/>
                <a:ea typeface="Montserrat"/>
                <a:cs typeface="Montserrat"/>
              </a:defRPr>
            </a:defPPr>
            <a:lvl1pPr>
              <a:defRPr sz="3900" b="1">
                <a:solidFill>
                  <a:srgbClr val="242321"/>
                </a:solidFill>
                <a:latin typeface="Montserrat"/>
                <a:ea typeface="Montserrat"/>
                <a:cs typeface="Montserrat"/>
              </a:defRPr>
            </a:lvl1pPr>
            <a:lvl2pPr>
              <a:defRPr sz="3900" b="1">
                <a:solidFill>
                  <a:srgbClr val="242321"/>
                </a:solidFill>
                <a:latin typeface="Montserrat"/>
                <a:ea typeface="Montserrat"/>
                <a:cs typeface="Montserrat"/>
              </a:defRPr>
            </a:lvl2pPr>
            <a:lvl3pPr>
              <a:defRPr sz="3900" b="1">
                <a:solidFill>
                  <a:srgbClr val="242321"/>
                </a:solidFill>
                <a:latin typeface="Montserrat"/>
                <a:ea typeface="Montserrat"/>
                <a:cs typeface="Montserrat"/>
              </a:defRPr>
            </a:lvl3pPr>
            <a:lvl4pPr>
              <a:defRPr sz="3900" b="1">
                <a:solidFill>
                  <a:srgbClr val="242321"/>
                </a:solidFill>
                <a:latin typeface="Montserrat"/>
                <a:ea typeface="Montserrat"/>
                <a:cs typeface="Montserrat"/>
              </a:defRPr>
            </a:lvl4pPr>
            <a:lvl5pPr>
              <a:defRPr sz="3900" b="1">
                <a:solidFill>
                  <a:srgbClr val="242321"/>
                </a:solidFill>
                <a:latin typeface="Montserrat"/>
                <a:ea typeface="Montserrat"/>
                <a:cs typeface="Montserrat"/>
              </a:defRPr>
            </a:lvl5pPr>
            <a:lvl6pPr>
              <a:defRPr sz="3900" b="1">
                <a:solidFill>
                  <a:srgbClr val="242321"/>
                </a:solidFill>
                <a:latin typeface="Montserrat"/>
                <a:ea typeface="Montserrat"/>
                <a:cs typeface="Montserrat"/>
              </a:defRPr>
            </a:lvl6pPr>
            <a:lvl7pPr>
              <a:defRPr sz="3900" b="1">
                <a:solidFill>
                  <a:srgbClr val="242321"/>
                </a:solidFill>
                <a:latin typeface="Montserrat"/>
                <a:ea typeface="Montserrat"/>
                <a:cs typeface="Montserrat"/>
              </a:defRPr>
            </a:lvl7pPr>
            <a:lvl8pPr>
              <a:defRPr sz="3900" b="1">
                <a:solidFill>
                  <a:srgbClr val="242321"/>
                </a:solidFill>
                <a:latin typeface="Montserrat"/>
                <a:ea typeface="Montserrat"/>
                <a:cs typeface="Montserrat"/>
              </a:defRPr>
            </a:lvl8pPr>
            <a:lvl9pPr>
              <a:defRPr sz="3900" b="1">
                <a:solidFill>
                  <a:srgbClr val="242321"/>
                </a:solidFill>
                <a:latin typeface="Montserrat"/>
                <a:ea typeface="Montserrat"/>
                <a:cs typeface="Montserrat"/>
              </a:defRPr>
            </a:lvl9pPr>
          </a:lstStyle>
          <a:p xmlns:a="http://schemas.openxmlformats.org/drawingml/2006/main">
            <a:pPr>
              <a:defRPr sz="3900" b="1">
                <a:solidFill>
                  <a:srgbClr val="242321"/>
                </a:solidFill>
                <a:latin typeface="Montserrat"/>
                <a:ea typeface="Montserrat"/>
                <a:cs typeface="Montserrat"/>
              </a:defRPr>
            </a:pPr>
            <a:r>
              <a:rPr sz="3900" b="1">
                <a:solidFill>
                  <a:srgbClr val="242321"/>
                </a:solidFill>
                <a:latin typeface="Montserrat"/>
                <a:ea typeface="Montserrat"/>
                <a:cs typeface="Montserrat"/>
              </a:rPr>
              <a:t>193,30 €</a:t>
            </a:r>
          </a:p>
        </p:txBody>
      </p:sp>
      <p:sp>
        <p:nvSpPr>
          <p:cNvPr id="8" name="">
            <a:extLst xmlns:a="http://schemas.openxmlformats.org/drawingml/2006/main">
              <a:ext uri="{FF2B5EF4-FFF2-40B4-BE49-F238E27FC236}">
                <a16:creationId xmlns:a16="http://schemas.microsoft.com/office/drawing/2014/main" id="{106F871F-90E9-4EB5-95E7-5BB05CD4AB11}"/>
              </a:ext>
            </a:extLst>
          </p:cNvPr>
          <p:cNvSpPr>
            <a:spLocks xmlns:a="http://schemas.openxmlformats.org/drawingml/2006/main" noGrp="1"/>
          </p:cNvSpPr>
          <p:nvPr/>
        </p:nvSpPr>
        <p:spPr>
          <a:xfrm xmlns:a="http://schemas.openxmlformats.org/drawingml/2006/main">
            <a:off x="8382000" y="2714625"/>
            <a:ext cx="304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625B53"/>
                </a:solidFill>
                <a:latin typeface="Montserrat"/>
                <a:ea typeface="Montserrat"/>
                <a:cs typeface="Montserrat"/>
              </a:defRPr>
            </a:defPPr>
            <a:lvl1pPr>
              <a:defRPr sz="1587" b="0">
                <a:solidFill>
                  <a:srgbClr val="625B53"/>
                </a:solidFill>
                <a:latin typeface="Montserrat"/>
                <a:ea typeface="Montserrat"/>
                <a:cs typeface="Montserrat"/>
              </a:defRPr>
            </a:lvl1pPr>
            <a:lvl2pPr>
              <a:defRPr sz="1587" b="0">
                <a:solidFill>
                  <a:srgbClr val="625B53"/>
                </a:solidFill>
                <a:latin typeface="Montserrat"/>
                <a:ea typeface="Montserrat"/>
                <a:cs typeface="Montserrat"/>
              </a:defRPr>
            </a:lvl2pPr>
            <a:lvl3pPr>
              <a:defRPr sz="1587" b="0">
                <a:solidFill>
                  <a:srgbClr val="625B53"/>
                </a:solidFill>
                <a:latin typeface="Montserrat"/>
                <a:ea typeface="Montserrat"/>
                <a:cs typeface="Montserrat"/>
              </a:defRPr>
            </a:lvl3pPr>
            <a:lvl4pPr>
              <a:defRPr sz="1587" b="0">
                <a:solidFill>
                  <a:srgbClr val="625B53"/>
                </a:solidFill>
                <a:latin typeface="Montserrat"/>
                <a:ea typeface="Montserrat"/>
                <a:cs typeface="Montserrat"/>
              </a:defRPr>
            </a:lvl4pPr>
            <a:lvl5pPr>
              <a:defRPr sz="1587" b="0">
                <a:solidFill>
                  <a:srgbClr val="625B53"/>
                </a:solidFill>
                <a:latin typeface="Montserrat"/>
                <a:ea typeface="Montserrat"/>
                <a:cs typeface="Montserrat"/>
              </a:defRPr>
            </a:lvl5pPr>
            <a:lvl6pPr>
              <a:defRPr sz="1587" b="0">
                <a:solidFill>
                  <a:srgbClr val="625B53"/>
                </a:solidFill>
                <a:latin typeface="Montserrat"/>
                <a:ea typeface="Montserrat"/>
                <a:cs typeface="Montserrat"/>
              </a:defRPr>
            </a:lvl6pPr>
            <a:lvl7pPr>
              <a:defRPr sz="1587" b="0">
                <a:solidFill>
                  <a:srgbClr val="625B53"/>
                </a:solidFill>
                <a:latin typeface="Montserrat"/>
                <a:ea typeface="Montserrat"/>
                <a:cs typeface="Montserrat"/>
              </a:defRPr>
            </a:lvl7pPr>
            <a:lvl8pPr>
              <a:defRPr sz="1587" b="0">
                <a:solidFill>
                  <a:srgbClr val="625B53"/>
                </a:solidFill>
                <a:latin typeface="Montserrat"/>
                <a:ea typeface="Montserrat"/>
                <a:cs typeface="Montserrat"/>
              </a:defRPr>
            </a:lvl8pPr>
            <a:lvl9pPr>
              <a:defRPr sz="1587" b="0">
                <a:solidFill>
                  <a:srgbClr val="625B53"/>
                </a:solidFill>
                <a:latin typeface="Montserrat"/>
                <a:ea typeface="Montserrat"/>
                <a:cs typeface="Montserrat"/>
              </a:defRPr>
            </a:lvl9pPr>
          </a:lstStyle>
          <a:p xmlns:a="http://schemas.openxmlformats.org/drawingml/2006/main">
            <a:pPr>
              <a:defRPr sz="1587" b="0">
                <a:solidFill>
                  <a:srgbClr val="625B53"/>
                </a:solidFill>
                <a:latin typeface="Montserrat"/>
                <a:ea typeface="Montserrat"/>
                <a:cs typeface="Montserrat"/>
              </a:defRPr>
            </a:pPr>
            <a:r>
              <a:rPr sz="1587" b="0">
                <a:solidFill>
                  <a:srgbClr val="625B53"/>
                </a:solidFill>
                <a:latin typeface="Montserrat"/>
                <a:ea typeface="Montserrat"/>
                <a:cs typeface="Montserrat"/>
              </a:rPr>
              <a:t>panier moyen Boutique</a:t>
            </a:r>
          </a:p>
        </p:txBody>
      </p:sp>
      <p:sp>
        <p:nvSpPr>
          <p:cNvPr id="9" name="">
            <a:extLst xmlns:a="http://schemas.openxmlformats.org/drawingml/2006/main">
              <a:ext uri="{FF2B5EF4-FFF2-40B4-BE49-F238E27FC236}">
                <a16:creationId xmlns:a16="http://schemas.microsoft.com/office/drawing/2014/main" id="{B46D82E7-5F7D-4A3D-A937-AAF336A8FE04}"/>
              </a:ext>
            </a:extLst>
          </p:cNvPr>
          <p:cNvSpPr>
            <a:spLocks xmlns:a="http://schemas.openxmlformats.org/drawingml/2006/main" noGrp="1"/>
          </p:cNvSpPr>
          <p:nvPr/>
        </p:nvSpPr>
        <p:spPr>
          <a:xfrm xmlns:a="http://schemas.openxmlformats.org/drawingml/2006/main">
            <a:off x="8382000" y="3667125"/>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242321"/>
                </a:solidFill>
                <a:latin typeface="Montserrat"/>
                <a:ea typeface="Montserrat"/>
                <a:cs typeface="Montserrat"/>
              </a:defRPr>
            </a:defPPr>
            <a:lvl1pPr>
              <a:defRPr sz="3900" b="1">
                <a:solidFill>
                  <a:srgbClr val="242321"/>
                </a:solidFill>
                <a:latin typeface="Montserrat"/>
                <a:ea typeface="Montserrat"/>
                <a:cs typeface="Montserrat"/>
              </a:defRPr>
            </a:lvl1pPr>
            <a:lvl2pPr>
              <a:defRPr sz="3900" b="1">
                <a:solidFill>
                  <a:srgbClr val="242321"/>
                </a:solidFill>
                <a:latin typeface="Montserrat"/>
                <a:ea typeface="Montserrat"/>
                <a:cs typeface="Montserrat"/>
              </a:defRPr>
            </a:lvl2pPr>
            <a:lvl3pPr>
              <a:defRPr sz="3900" b="1">
                <a:solidFill>
                  <a:srgbClr val="242321"/>
                </a:solidFill>
                <a:latin typeface="Montserrat"/>
                <a:ea typeface="Montserrat"/>
                <a:cs typeface="Montserrat"/>
              </a:defRPr>
            </a:lvl3pPr>
            <a:lvl4pPr>
              <a:defRPr sz="3900" b="1">
                <a:solidFill>
                  <a:srgbClr val="242321"/>
                </a:solidFill>
                <a:latin typeface="Montserrat"/>
                <a:ea typeface="Montserrat"/>
                <a:cs typeface="Montserrat"/>
              </a:defRPr>
            </a:lvl4pPr>
            <a:lvl5pPr>
              <a:defRPr sz="3900" b="1">
                <a:solidFill>
                  <a:srgbClr val="242321"/>
                </a:solidFill>
                <a:latin typeface="Montserrat"/>
                <a:ea typeface="Montserrat"/>
                <a:cs typeface="Montserrat"/>
              </a:defRPr>
            </a:lvl5pPr>
            <a:lvl6pPr>
              <a:defRPr sz="3900" b="1">
                <a:solidFill>
                  <a:srgbClr val="242321"/>
                </a:solidFill>
                <a:latin typeface="Montserrat"/>
                <a:ea typeface="Montserrat"/>
                <a:cs typeface="Montserrat"/>
              </a:defRPr>
            </a:lvl6pPr>
            <a:lvl7pPr>
              <a:defRPr sz="3900" b="1">
                <a:solidFill>
                  <a:srgbClr val="242321"/>
                </a:solidFill>
                <a:latin typeface="Montserrat"/>
                <a:ea typeface="Montserrat"/>
                <a:cs typeface="Montserrat"/>
              </a:defRPr>
            </a:lvl7pPr>
            <a:lvl8pPr>
              <a:defRPr sz="3900" b="1">
                <a:solidFill>
                  <a:srgbClr val="242321"/>
                </a:solidFill>
                <a:latin typeface="Montserrat"/>
                <a:ea typeface="Montserrat"/>
                <a:cs typeface="Montserrat"/>
              </a:defRPr>
            </a:lvl8pPr>
            <a:lvl9pPr>
              <a:defRPr sz="3900" b="1">
                <a:solidFill>
                  <a:srgbClr val="242321"/>
                </a:solidFill>
                <a:latin typeface="Montserrat"/>
                <a:ea typeface="Montserrat"/>
                <a:cs typeface="Montserrat"/>
              </a:defRPr>
            </a:lvl9pPr>
          </a:lstStyle>
          <a:p xmlns:a="http://schemas.openxmlformats.org/drawingml/2006/main">
            <a:pPr>
              <a:defRPr sz="3900" b="1">
                <a:solidFill>
                  <a:srgbClr val="242321"/>
                </a:solidFill>
                <a:latin typeface="Montserrat"/>
                <a:ea typeface="Montserrat"/>
                <a:cs typeface="Montserrat"/>
              </a:defRPr>
            </a:pPr>
            <a:r>
              <a:rPr sz="3900" b="1">
                <a:solidFill>
                  <a:srgbClr val="242321"/>
                </a:solidFill>
                <a:latin typeface="Montserrat"/>
                <a:ea typeface="Montserrat"/>
                <a:cs typeface="Montserrat"/>
              </a:rPr>
              <a:t>192,04 €</a:t>
            </a:r>
          </a:p>
        </p:txBody>
      </p:sp>
      <p:sp>
        <p:nvSpPr>
          <p:cNvPr id="10" name="">
            <a:extLst xmlns:a="http://schemas.openxmlformats.org/drawingml/2006/main">
              <a:ext uri="{FF2B5EF4-FFF2-40B4-BE49-F238E27FC236}">
                <a16:creationId xmlns:a16="http://schemas.microsoft.com/office/drawing/2014/main" id="{6323FA6A-9A63-4381-877D-E2B551AAF07A}"/>
              </a:ext>
            </a:extLst>
          </p:cNvPr>
          <p:cNvSpPr>
            <a:spLocks xmlns:a="http://schemas.openxmlformats.org/drawingml/2006/main" noGrp="1"/>
          </p:cNvSpPr>
          <p:nvPr/>
        </p:nvSpPr>
        <p:spPr>
          <a:xfrm xmlns:a="http://schemas.openxmlformats.org/drawingml/2006/main">
            <a:off x="8382000" y="4381500"/>
            <a:ext cx="304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625B53"/>
                </a:solidFill>
                <a:latin typeface="Montserrat"/>
                <a:ea typeface="Montserrat"/>
                <a:cs typeface="Montserrat"/>
              </a:defRPr>
            </a:defPPr>
            <a:lvl1pPr>
              <a:defRPr sz="1587" b="0">
                <a:solidFill>
                  <a:srgbClr val="625B53"/>
                </a:solidFill>
                <a:latin typeface="Montserrat"/>
                <a:ea typeface="Montserrat"/>
                <a:cs typeface="Montserrat"/>
              </a:defRPr>
            </a:lvl1pPr>
            <a:lvl2pPr>
              <a:defRPr sz="1587" b="0">
                <a:solidFill>
                  <a:srgbClr val="625B53"/>
                </a:solidFill>
                <a:latin typeface="Montserrat"/>
                <a:ea typeface="Montserrat"/>
                <a:cs typeface="Montserrat"/>
              </a:defRPr>
            </a:lvl2pPr>
            <a:lvl3pPr>
              <a:defRPr sz="1587" b="0">
                <a:solidFill>
                  <a:srgbClr val="625B53"/>
                </a:solidFill>
                <a:latin typeface="Montserrat"/>
                <a:ea typeface="Montserrat"/>
                <a:cs typeface="Montserrat"/>
              </a:defRPr>
            </a:lvl3pPr>
            <a:lvl4pPr>
              <a:defRPr sz="1587" b="0">
                <a:solidFill>
                  <a:srgbClr val="625B53"/>
                </a:solidFill>
                <a:latin typeface="Montserrat"/>
                <a:ea typeface="Montserrat"/>
                <a:cs typeface="Montserrat"/>
              </a:defRPr>
            </a:lvl4pPr>
            <a:lvl5pPr>
              <a:defRPr sz="1587" b="0">
                <a:solidFill>
                  <a:srgbClr val="625B53"/>
                </a:solidFill>
                <a:latin typeface="Montserrat"/>
                <a:ea typeface="Montserrat"/>
                <a:cs typeface="Montserrat"/>
              </a:defRPr>
            </a:lvl5pPr>
            <a:lvl6pPr>
              <a:defRPr sz="1587" b="0">
                <a:solidFill>
                  <a:srgbClr val="625B53"/>
                </a:solidFill>
                <a:latin typeface="Montserrat"/>
                <a:ea typeface="Montserrat"/>
                <a:cs typeface="Montserrat"/>
              </a:defRPr>
            </a:lvl6pPr>
            <a:lvl7pPr>
              <a:defRPr sz="1587" b="0">
                <a:solidFill>
                  <a:srgbClr val="625B53"/>
                </a:solidFill>
                <a:latin typeface="Montserrat"/>
                <a:ea typeface="Montserrat"/>
                <a:cs typeface="Montserrat"/>
              </a:defRPr>
            </a:lvl7pPr>
            <a:lvl8pPr>
              <a:defRPr sz="1587" b="0">
                <a:solidFill>
                  <a:srgbClr val="625B53"/>
                </a:solidFill>
                <a:latin typeface="Montserrat"/>
                <a:ea typeface="Montserrat"/>
                <a:cs typeface="Montserrat"/>
              </a:defRPr>
            </a:lvl8pPr>
            <a:lvl9pPr>
              <a:defRPr sz="1587" b="0">
                <a:solidFill>
                  <a:srgbClr val="625B53"/>
                </a:solidFill>
                <a:latin typeface="Montserrat"/>
                <a:ea typeface="Montserrat"/>
                <a:cs typeface="Montserrat"/>
              </a:defRPr>
            </a:lvl9pPr>
          </a:lstStyle>
          <a:p xmlns:a="http://schemas.openxmlformats.org/drawingml/2006/main">
            <a:pPr>
              <a:defRPr sz="1587" b="0">
                <a:solidFill>
                  <a:srgbClr val="625B53"/>
                </a:solidFill>
                <a:latin typeface="Montserrat"/>
                <a:ea typeface="Montserrat"/>
                <a:cs typeface="Montserrat"/>
              </a:defRPr>
            </a:pPr>
            <a:r>
              <a:rPr sz="1587" b="0">
                <a:solidFill>
                  <a:srgbClr val="625B53"/>
                </a:solidFill>
                <a:latin typeface="Montserrat"/>
                <a:ea typeface="Montserrat"/>
                <a:cs typeface="Montserrat"/>
              </a:rPr>
              <a:t>panier moyen Website</a:t>
            </a:r>
          </a:p>
        </p:txBody>
      </p:sp>
      <p:sp>
        <p:nvSpPr>
          <p:cNvPr id="11" name="">
            <a:extLst xmlns:a="http://schemas.openxmlformats.org/drawingml/2006/main">
              <a:ext uri="{FF2B5EF4-FFF2-40B4-BE49-F238E27FC236}">
                <a16:creationId xmlns:a16="http://schemas.microsoft.com/office/drawing/2014/main" id="{CDCF8C81-D2C8-4117-B303-035AD4D43148}"/>
              </a:ext>
            </a:extLst>
          </p:cNvPr>
          <p:cNvSpPr>
            <a:spLocks xmlns:a="http://schemas.openxmlformats.org/drawingml/2006/main" noGrp="1"/>
          </p:cNvSpPr>
          <p:nvPr/>
        </p:nvSpPr>
        <p:spPr>
          <a:xfrm xmlns:a="http://schemas.openxmlformats.org/drawingml/2006/main">
            <a:off x="552450" y="5143500"/>
            <a:ext cx="11049000" cy="647700"/>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DD4B013-1CB8-4E9F-B88F-CAF4287B7EF2}"/>
              </a:ext>
            </a:extLst>
          </p:cNvPr>
          <p:cNvSpPr>
            <a:spLocks xmlns:a="http://schemas.openxmlformats.org/drawingml/2006/main" noGrp="1"/>
          </p:cNvSpPr>
          <p:nvPr/>
        </p:nvSpPr>
        <p:spPr>
          <a:xfrm xmlns:a="http://schemas.openxmlformats.org/drawingml/2006/main">
            <a:off x="552450" y="5143500"/>
            <a:ext cx="47625" cy="6477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77A28E7-D021-44E1-AE3C-88BBEEE07A52}"/>
              </a:ext>
            </a:extLst>
          </p:cNvPr>
          <p:cNvSpPr>
            <a:spLocks xmlns:a="http://schemas.openxmlformats.org/drawingml/2006/main" noGrp="1"/>
          </p:cNvSpPr>
          <p:nvPr/>
        </p:nvSpPr>
        <p:spPr>
          <a:xfrm xmlns:a="http://schemas.openxmlformats.org/drawingml/2006/main">
            <a:off x="714375" y="52292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Website : 80,62 % des ventes. L’écart repose sur le volume de commandes.</a:t>
            </a:r>
          </a:p>
        </p:txBody>
      </p:sp>
      <p:sp>
        <p:nvSpPr>
          <p:cNvPr id="14" name="">
            <a:extLst xmlns:a="http://schemas.openxmlformats.org/drawingml/2006/main">
              <a:ext uri="{FF2B5EF4-FFF2-40B4-BE49-F238E27FC236}">
                <a16:creationId xmlns:a16="http://schemas.microsoft.com/office/drawing/2014/main" id="{04E41C56-BF00-4C6A-A309-8387C79A89C9}"/>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Boutique : 1 857 commandes · Website : 7 778. Les coûts ne permettent pas de comparer la rentabilité.</a:t>
            </a:r>
          </a:p>
        </p:txBody>
      </p:sp>
    </p:spTree>
    <p:extLst>
      <p:ext uri="{BB962C8B-B14F-4D97-AF65-F5344CB8AC3E}">
        <p14:creationId xmlns:p14="http://schemas.microsoft.com/office/powerpoint/2010/main" val="1734699510"/>
      </p:ext>
    </p:extLst>
  </p:cSld>
</p:sld>
</file>

<file path=ppt/slides/slide16.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EF20E75-8F7A-4379-BD6F-BFA0AAA82751}"/>
              </a:ext>
            </a:extLst>
          </p:cNvPr>
          <p:cNvPicPr>
            <a:picLocks xmlns:a="http://schemas.openxmlformats.org/drawingml/2006/main" noChangeAspect="1"/>
          </p:cNvPicPr>
          <p:nvPr/>
        </p:nvPicPr>
        <p:blipFill>
          <a:blip xmlns:r="http://schemas.openxmlformats.org/officeDocument/2006/relationships" xmlns:a="http://schemas.openxmlformats.org/drawingml/2006/main" r:embed="Rb3c94b8bc6144d8a"/>
          <a:stretch xmlns:a="http://schemas.openxmlformats.org/drawingml/2006/main"/>
        </p:blipFill>
        <p:spPr>
          <a:xfrm xmlns:a="http://schemas.openxmlformats.org/drawingml/2006/main" flipV="1">
            <a:off x="0" y="5429250"/>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46F409-04F9-446F-B081-D79FDF02D5E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B30A712-91CC-4233-A414-80F43471FDB7}"/>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E6EF18-4370-4BB6-86A3-E289A17540E8}"/>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Q2 · Quels produits contribuent aux ventes ?</a:t>
            </a:r>
          </a:p>
        </p:txBody>
      </p:sp>
      <p:sp>
        <p:nvSpPr>
          <p:cNvPr id="5" name="">
            <a:extLst xmlns:a="http://schemas.openxmlformats.org/drawingml/2006/main">
              <a:ext uri="{FF2B5EF4-FFF2-40B4-BE49-F238E27FC236}">
                <a16:creationId xmlns:a16="http://schemas.microsoft.com/office/drawing/2014/main" id="{8236A26B-F851-42C2-B2B1-20693E873741}"/>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16</a:t>
            </a:r>
          </a:p>
        </p:txBody>
      </p:sp>
      <p:sp>
        <p:nvSpPr>
          <p:cNvPr id="6" name="">
            <a:extLst xmlns:a="http://schemas.openxmlformats.org/drawingml/2006/main">
              <a:ext uri="{FF2B5EF4-FFF2-40B4-BE49-F238E27FC236}">
                <a16:creationId xmlns:a16="http://schemas.microsoft.com/office/drawing/2014/main" id="{5E0F5B5B-E14B-4849-B590-F034D6756A15}"/>
              </a:ext>
            </a:extLst>
          </p:cNvPr>
          <p:cNvSpPr>
            <a:spLocks xmlns:a="http://schemas.openxmlformats.org/drawingml/2006/main" noGrp="1"/>
          </p:cNvSpPr>
          <p:nvPr/>
        </p:nvSpPr>
        <p:spPr>
          <a:xfrm xmlns:a="http://schemas.openxmlformats.org/drawingml/2006/main">
            <a:off x="666750" y="1571625"/>
            <a:ext cx="952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Ventes nettes par catégorie (k€)</a:t>
            </a:r>
          </a:p>
        </p:txBody>
      </p:sp>
      <p:graphicFrame>
        <p:nvGraphicFramePr>
          <p:cNvPr id="7" name="Chart">
            <a:extLst xmlns:a="http://schemas.openxmlformats.org/drawingml/2006/main">
              <a:ext uri="{FF2B5EF4-FFF2-40B4-BE49-F238E27FC236}">
                <a16:creationId xmlns:a16="http://schemas.microsoft.com/office/drawing/2014/main" id="{2ED18FC5-C33B-4C01-9400-3B1A0B1546FB}"/>
              </a:ext>
            </a:extLst>
          </p:cNvPr>
          <p:cNvGraphicFramePr/>
          <p:nvPr/>
        </p:nvGraphicFramePr>
        <p:xfrm>
          <a:off xmlns:a="http://schemas.openxmlformats.org/drawingml/2006/main" x="619125" y="2047875"/>
          <a:ext xmlns:a="http://schemas.openxmlformats.org/drawingml/2006/main" cx="7620000" cy="2857500"/>
        </p:xfrm>
        <a:graphic xmlns:a="http://schemas.openxmlformats.org/drawingml/2006/main">
          <a:graphicData uri="http://schemas.openxmlformats.org/drawingml/2006/chart">
            <c:chart xmlns:r="http://schemas.openxmlformats.org/officeDocument/2006/relationships" xmlns:c="http://schemas.openxmlformats.org/drawingml/2006/chart" r:id="R808230d39cb24031"/>
          </a:graphicData>
        </a:graphic>
      </p:graphicFrame>
      <p:sp>
        <p:nvSpPr>
          <p:cNvPr id="8" name="">
            <a:extLst xmlns:a="http://schemas.openxmlformats.org/drawingml/2006/main">
              <a:ext uri="{FF2B5EF4-FFF2-40B4-BE49-F238E27FC236}">
                <a16:creationId xmlns:a16="http://schemas.microsoft.com/office/drawing/2014/main" id="{12F81CE6-1753-4F05-8554-541C19EC9DB2}"/>
              </a:ext>
            </a:extLst>
          </p:cNvPr>
          <p:cNvSpPr>
            <a:spLocks xmlns:a="http://schemas.openxmlformats.org/drawingml/2006/main" noGrp="1"/>
          </p:cNvSpPr>
          <p:nvPr/>
        </p:nvSpPr>
        <p:spPr>
          <a:xfrm xmlns:a="http://schemas.openxmlformats.org/drawingml/2006/main">
            <a:off x="8667750" y="2238375"/>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84" b="1">
                <a:solidFill>
                  <a:srgbClr val="242321"/>
                </a:solidFill>
                <a:latin typeface="Montserrat"/>
                <a:ea typeface="Montserrat"/>
                <a:cs typeface="Montserrat"/>
              </a:defRPr>
            </a:defPPr>
            <a:lvl1pPr>
              <a:defRPr sz="2484" b="1">
                <a:solidFill>
                  <a:srgbClr val="242321"/>
                </a:solidFill>
                <a:latin typeface="Montserrat"/>
                <a:ea typeface="Montserrat"/>
                <a:cs typeface="Montserrat"/>
              </a:defRPr>
            </a:lvl1pPr>
            <a:lvl2pPr>
              <a:defRPr sz="2484" b="1">
                <a:solidFill>
                  <a:srgbClr val="242321"/>
                </a:solidFill>
                <a:latin typeface="Montserrat"/>
                <a:ea typeface="Montserrat"/>
                <a:cs typeface="Montserrat"/>
              </a:defRPr>
            </a:lvl2pPr>
            <a:lvl3pPr>
              <a:defRPr sz="2484" b="1">
                <a:solidFill>
                  <a:srgbClr val="242321"/>
                </a:solidFill>
                <a:latin typeface="Montserrat"/>
                <a:ea typeface="Montserrat"/>
                <a:cs typeface="Montserrat"/>
              </a:defRPr>
            </a:lvl3pPr>
            <a:lvl4pPr>
              <a:defRPr sz="2484" b="1">
                <a:solidFill>
                  <a:srgbClr val="242321"/>
                </a:solidFill>
                <a:latin typeface="Montserrat"/>
                <a:ea typeface="Montserrat"/>
                <a:cs typeface="Montserrat"/>
              </a:defRPr>
            </a:lvl4pPr>
            <a:lvl5pPr>
              <a:defRPr sz="2484" b="1">
                <a:solidFill>
                  <a:srgbClr val="242321"/>
                </a:solidFill>
                <a:latin typeface="Montserrat"/>
                <a:ea typeface="Montserrat"/>
                <a:cs typeface="Montserrat"/>
              </a:defRPr>
            </a:lvl5pPr>
            <a:lvl6pPr>
              <a:defRPr sz="2484" b="1">
                <a:solidFill>
                  <a:srgbClr val="242321"/>
                </a:solidFill>
                <a:latin typeface="Montserrat"/>
                <a:ea typeface="Montserrat"/>
                <a:cs typeface="Montserrat"/>
              </a:defRPr>
            </a:lvl6pPr>
            <a:lvl7pPr>
              <a:defRPr sz="2484" b="1">
                <a:solidFill>
                  <a:srgbClr val="242321"/>
                </a:solidFill>
                <a:latin typeface="Montserrat"/>
                <a:ea typeface="Montserrat"/>
                <a:cs typeface="Montserrat"/>
              </a:defRPr>
            </a:lvl7pPr>
            <a:lvl8pPr>
              <a:defRPr sz="2484" b="1">
                <a:solidFill>
                  <a:srgbClr val="242321"/>
                </a:solidFill>
                <a:latin typeface="Montserrat"/>
                <a:ea typeface="Montserrat"/>
                <a:cs typeface="Montserrat"/>
              </a:defRPr>
            </a:lvl8pPr>
            <a:lvl9pPr>
              <a:defRPr sz="2484" b="1">
                <a:solidFill>
                  <a:srgbClr val="242321"/>
                </a:solidFill>
                <a:latin typeface="Montserrat"/>
                <a:ea typeface="Montserrat"/>
                <a:cs typeface="Montserrat"/>
              </a:defRPr>
            </a:lvl9pPr>
          </a:lstStyle>
          <a:p xmlns:a="http://schemas.openxmlformats.org/drawingml/2006/main">
            <a:pPr>
              <a:defRPr sz="2484" b="1">
                <a:solidFill>
                  <a:srgbClr val="242321"/>
                </a:solidFill>
                <a:latin typeface="Montserrat"/>
                <a:ea typeface="Montserrat"/>
                <a:cs typeface="Montserrat"/>
              </a:defRPr>
            </a:pPr>
            <a:r>
              <a:rPr sz="2484" b="1">
                <a:solidFill>
                  <a:srgbClr val="242321"/>
                </a:solidFill>
                <a:latin typeface="Montserrat"/>
                <a:ea typeface="Montserrat"/>
                <a:cs typeface="Montserrat"/>
              </a:rPr>
              <a:t>3 076 à 3 179</a:t>
            </a:r>
          </a:p>
        </p:txBody>
      </p:sp>
      <p:sp>
        <p:nvSpPr>
          <p:cNvPr id="9" name="">
            <a:extLst xmlns:a="http://schemas.openxmlformats.org/drawingml/2006/main">
              <a:ext uri="{FF2B5EF4-FFF2-40B4-BE49-F238E27FC236}">
                <a16:creationId xmlns:a16="http://schemas.microsoft.com/office/drawing/2014/main" id="{256EC31D-9BC4-42CF-8190-3007CD23F9C7}"/>
              </a:ext>
            </a:extLst>
          </p:cNvPr>
          <p:cNvSpPr>
            <a:spLocks xmlns:a="http://schemas.openxmlformats.org/drawingml/2006/main" noGrp="1"/>
          </p:cNvSpPr>
          <p:nvPr/>
        </p:nvSpPr>
        <p:spPr>
          <a:xfrm xmlns:a="http://schemas.openxmlformats.org/drawingml/2006/main">
            <a:off x="8667750" y="295275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242321"/>
                </a:solidFill>
                <a:latin typeface="Montserrat"/>
                <a:ea typeface="Montserrat"/>
                <a:cs typeface="Montserrat"/>
              </a:defRPr>
            </a:defPPr>
            <a:lvl1pPr>
              <a:defRPr sz="1725" b="0">
                <a:solidFill>
                  <a:srgbClr val="242321"/>
                </a:solidFill>
                <a:latin typeface="Montserrat"/>
                <a:ea typeface="Montserrat"/>
                <a:cs typeface="Montserrat"/>
              </a:defRPr>
            </a:lvl1pPr>
            <a:lvl2pPr>
              <a:defRPr sz="1725" b="0">
                <a:solidFill>
                  <a:srgbClr val="242321"/>
                </a:solidFill>
                <a:latin typeface="Montserrat"/>
                <a:ea typeface="Montserrat"/>
                <a:cs typeface="Montserrat"/>
              </a:defRPr>
            </a:lvl2pPr>
            <a:lvl3pPr>
              <a:defRPr sz="1725" b="0">
                <a:solidFill>
                  <a:srgbClr val="242321"/>
                </a:solidFill>
                <a:latin typeface="Montserrat"/>
                <a:ea typeface="Montserrat"/>
                <a:cs typeface="Montserrat"/>
              </a:defRPr>
            </a:lvl3pPr>
            <a:lvl4pPr>
              <a:defRPr sz="1725" b="0">
                <a:solidFill>
                  <a:srgbClr val="242321"/>
                </a:solidFill>
                <a:latin typeface="Montserrat"/>
                <a:ea typeface="Montserrat"/>
                <a:cs typeface="Montserrat"/>
              </a:defRPr>
            </a:lvl4pPr>
            <a:lvl5pPr>
              <a:defRPr sz="1725" b="0">
                <a:solidFill>
                  <a:srgbClr val="242321"/>
                </a:solidFill>
                <a:latin typeface="Montserrat"/>
                <a:ea typeface="Montserrat"/>
                <a:cs typeface="Montserrat"/>
              </a:defRPr>
            </a:lvl5pPr>
            <a:lvl6pPr>
              <a:defRPr sz="1725" b="0">
                <a:solidFill>
                  <a:srgbClr val="242321"/>
                </a:solidFill>
                <a:latin typeface="Montserrat"/>
                <a:ea typeface="Montserrat"/>
                <a:cs typeface="Montserrat"/>
              </a:defRPr>
            </a:lvl6pPr>
            <a:lvl7pPr>
              <a:defRPr sz="1725" b="0">
                <a:solidFill>
                  <a:srgbClr val="242321"/>
                </a:solidFill>
                <a:latin typeface="Montserrat"/>
                <a:ea typeface="Montserrat"/>
                <a:cs typeface="Montserrat"/>
              </a:defRPr>
            </a:lvl7pPr>
            <a:lvl8pPr>
              <a:defRPr sz="1725" b="0">
                <a:solidFill>
                  <a:srgbClr val="242321"/>
                </a:solidFill>
                <a:latin typeface="Montserrat"/>
                <a:ea typeface="Montserrat"/>
                <a:cs typeface="Montserrat"/>
              </a:defRPr>
            </a:lvl8pPr>
            <a:lvl9pPr>
              <a:defRPr sz="1725" b="0">
                <a:solidFill>
                  <a:srgbClr val="242321"/>
                </a:solidFill>
                <a:latin typeface="Montserrat"/>
                <a:ea typeface="Montserrat"/>
                <a:cs typeface="Montserrat"/>
              </a:defRPr>
            </a:lvl9pPr>
          </a:lstStyle>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unités commandées</a:t>
            </a:r>
          </a:p>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par catégorie</a:t>
            </a:r>
          </a:p>
        </p:txBody>
      </p:sp>
      <p:sp>
        <p:nvSpPr>
          <p:cNvPr id="10" name="">
            <a:extLst xmlns:a="http://schemas.openxmlformats.org/drawingml/2006/main">
              <a:ext uri="{FF2B5EF4-FFF2-40B4-BE49-F238E27FC236}">
                <a16:creationId xmlns:a16="http://schemas.microsoft.com/office/drawing/2014/main" id="{6764716A-4792-4A4B-AD4F-D0A3EB31F227}"/>
              </a:ext>
            </a:extLst>
          </p:cNvPr>
          <p:cNvSpPr>
            <a:spLocks xmlns:a="http://schemas.openxmlformats.org/drawingml/2006/main" noGrp="1"/>
          </p:cNvSpPr>
          <p:nvPr/>
        </p:nvSpPr>
        <p:spPr>
          <a:xfrm xmlns:a="http://schemas.openxmlformats.org/drawingml/2006/main">
            <a:off x="552450" y="5143500"/>
            <a:ext cx="11049000" cy="647700"/>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2ABA7F5-2362-4D7F-8779-684938AB0CB5}"/>
              </a:ext>
            </a:extLst>
          </p:cNvPr>
          <p:cNvSpPr>
            <a:spLocks xmlns:a="http://schemas.openxmlformats.org/drawingml/2006/main" noGrp="1"/>
          </p:cNvSpPr>
          <p:nvPr/>
        </p:nvSpPr>
        <p:spPr>
          <a:xfrm xmlns:a="http://schemas.openxmlformats.org/drawingml/2006/main">
            <a:off x="552450" y="5143500"/>
            <a:ext cx="47625" cy="6477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1D3E95B-717E-4129-B276-43806061BD9A}"/>
              </a:ext>
            </a:extLst>
          </p:cNvPr>
          <p:cNvSpPr>
            <a:spLocks xmlns:a="http://schemas.openxmlformats.org/drawingml/2006/main" noGrp="1"/>
          </p:cNvSpPr>
          <p:nvPr/>
        </p:nvSpPr>
        <p:spPr>
          <a:xfrm xmlns:a="http://schemas.openxmlformats.org/drawingml/2006/main">
            <a:off x="714375" y="52292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Nightwear domine en euros ; les volumes par catégorie restent proches.</a:t>
            </a:r>
          </a:p>
        </p:txBody>
      </p:sp>
      <p:sp>
        <p:nvSpPr>
          <p:cNvPr id="13" name="">
            <a:extLst xmlns:a="http://schemas.openxmlformats.org/drawingml/2006/main">
              <a:ext uri="{FF2B5EF4-FFF2-40B4-BE49-F238E27FC236}">
                <a16:creationId xmlns:a16="http://schemas.microsoft.com/office/drawing/2014/main" id="{D32E3A55-AE77-4F42-A93D-B2A2E6A84E15}"/>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Leader produit : Aurore Nightwear 126, 22 760,50 €. Les cinq modèles les moins commandés : 56 à 60 unités.</a:t>
            </a:r>
          </a:p>
        </p:txBody>
      </p:sp>
    </p:spTree>
    <p:extLst>
      <p:ext uri="{BB962C8B-B14F-4D97-AF65-F5344CB8AC3E}">
        <p14:creationId xmlns:p14="http://schemas.microsoft.com/office/powerpoint/2010/main" val="1953705318"/>
      </p:ext>
    </p:extLst>
  </p:cSld>
</p:sld>
</file>

<file path=ppt/slides/slide17.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C5C2758-164B-4A84-83F1-676139BA9A9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EE20DF-0BFB-4052-9EE5-7F6C62EDF168}"/>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AE355D4-9BBA-4583-9EC9-39D002F0F2F4}"/>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Q3 · Quels motifs ralentissent le service ?</a:t>
            </a:r>
          </a:p>
        </p:txBody>
      </p:sp>
      <p:sp>
        <p:nvSpPr>
          <p:cNvPr id="4" name="">
            <a:extLst xmlns:a="http://schemas.openxmlformats.org/drawingml/2006/main">
              <a:ext uri="{FF2B5EF4-FFF2-40B4-BE49-F238E27FC236}">
                <a16:creationId xmlns:a16="http://schemas.microsoft.com/office/drawing/2014/main" id="{E6850FB5-E76A-4BF9-8A38-BA85ECECD58C}"/>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17</a:t>
            </a:r>
          </a:p>
        </p:txBody>
      </p:sp>
      <p:sp>
        <p:nvSpPr>
          <p:cNvPr id="5" name="">
            <a:extLst xmlns:a="http://schemas.openxmlformats.org/drawingml/2006/main">
              <a:ext uri="{FF2B5EF4-FFF2-40B4-BE49-F238E27FC236}">
                <a16:creationId xmlns:a16="http://schemas.microsoft.com/office/drawing/2014/main" id="{0433846D-FE23-4733-A6AF-B331061FA0A0}"/>
              </a:ext>
            </a:extLst>
          </p:cNvPr>
          <p:cNvSpPr>
            <a:spLocks xmlns:a="http://schemas.openxmlformats.org/drawingml/2006/main" noGrp="1"/>
          </p:cNvSpPr>
          <p:nvPr/>
        </p:nvSpPr>
        <p:spPr>
          <a:xfrm xmlns:a="http://schemas.openxmlformats.org/drawingml/2006/main">
            <a:off x="666750" y="157162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Délai moyen de résolution par motif (heures)</a:t>
            </a:r>
          </a:p>
        </p:txBody>
      </p:sp>
      <p:graphicFrame>
        <p:nvGraphicFramePr>
          <p:cNvPr id="6" name="Chart">
            <a:extLst xmlns:a="http://schemas.openxmlformats.org/drawingml/2006/main">
              <a:ext uri="{FF2B5EF4-FFF2-40B4-BE49-F238E27FC236}">
                <a16:creationId xmlns:a16="http://schemas.microsoft.com/office/drawing/2014/main" id="{675C48BB-FDD6-4691-919C-DD16C425D3EC}"/>
              </a:ext>
            </a:extLst>
          </p:cNvPr>
          <p:cNvGraphicFramePr/>
          <p:nvPr/>
        </p:nvGraphicFramePr>
        <p:xfrm>
          <a:off xmlns:a="http://schemas.openxmlformats.org/drawingml/2006/main" x="619125" y="2047875"/>
          <a:ext xmlns:a="http://schemas.openxmlformats.org/drawingml/2006/main" cx="7620000" cy="2857500"/>
        </p:xfrm>
        <a:graphic xmlns:a="http://schemas.openxmlformats.org/drawingml/2006/main">
          <a:graphicData uri="http://schemas.openxmlformats.org/drawingml/2006/chart">
            <c:chart xmlns:r="http://schemas.openxmlformats.org/officeDocument/2006/relationships" xmlns:c="http://schemas.openxmlformats.org/drawingml/2006/chart" r:id="R4a44a0d50219409e"/>
          </a:graphicData>
        </a:graphic>
      </p:graphicFrame>
      <p:sp>
        <p:nvSpPr>
          <p:cNvPr id="7" name="">
            <a:extLst xmlns:a="http://schemas.openxmlformats.org/drawingml/2006/main">
              <a:ext uri="{FF2B5EF4-FFF2-40B4-BE49-F238E27FC236}">
                <a16:creationId xmlns:a16="http://schemas.microsoft.com/office/drawing/2014/main" id="{3DAFF43B-7D86-4B14-BC8D-05E79B65C107}"/>
              </a:ext>
            </a:extLst>
          </p:cNvPr>
          <p:cNvSpPr>
            <a:spLocks xmlns:a="http://schemas.openxmlformats.org/drawingml/2006/main" noGrp="1"/>
          </p:cNvSpPr>
          <p:nvPr/>
        </p:nvSpPr>
        <p:spPr>
          <a:xfrm xmlns:a="http://schemas.openxmlformats.org/drawingml/2006/main">
            <a:off x="8667750" y="195262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242321"/>
                </a:solidFill>
                <a:latin typeface="Montserrat"/>
                <a:ea typeface="Montserrat"/>
                <a:cs typeface="Montserrat"/>
              </a:defRPr>
            </a:defPPr>
            <a:lvl1pPr>
              <a:defRPr sz="3900" b="1">
                <a:solidFill>
                  <a:srgbClr val="242321"/>
                </a:solidFill>
                <a:latin typeface="Montserrat"/>
                <a:ea typeface="Montserrat"/>
                <a:cs typeface="Montserrat"/>
              </a:defRPr>
            </a:lvl1pPr>
            <a:lvl2pPr>
              <a:defRPr sz="3900" b="1">
                <a:solidFill>
                  <a:srgbClr val="242321"/>
                </a:solidFill>
                <a:latin typeface="Montserrat"/>
                <a:ea typeface="Montserrat"/>
                <a:cs typeface="Montserrat"/>
              </a:defRPr>
            </a:lvl2pPr>
            <a:lvl3pPr>
              <a:defRPr sz="3900" b="1">
                <a:solidFill>
                  <a:srgbClr val="242321"/>
                </a:solidFill>
                <a:latin typeface="Montserrat"/>
                <a:ea typeface="Montserrat"/>
                <a:cs typeface="Montserrat"/>
              </a:defRPr>
            </a:lvl3pPr>
            <a:lvl4pPr>
              <a:defRPr sz="3900" b="1">
                <a:solidFill>
                  <a:srgbClr val="242321"/>
                </a:solidFill>
                <a:latin typeface="Montserrat"/>
                <a:ea typeface="Montserrat"/>
                <a:cs typeface="Montserrat"/>
              </a:defRPr>
            </a:lvl4pPr>
            <a:lvl5pPr>
              <a:defRPr sz="3900" b="1">
                <a:solidFill>
                  <a:srgbClr val="242321"/>
                </a:solidFill>
                <a:latin typeface="Montserrat"/>
                <a:ea typeface="Montserrat"/>
                <a:cs typeface="Montserrat"/>
              </a:defRPr>
            </a:lvl5pPr>
            <a:lvl6pPr>
              <a:defRPr sz="3900" b="1">
                <a:solidFill>
                  <a:srgbClr val="242321"/>
                </a:solidFill>
                <a:latin typeface="Montserrat"/>
                <a:ea typeface="Montserrat"/>
                <a:cs typeface="Montserrat"/>
              </a:defRPr>
            </a:lvl6pPr>
            <a:lvl7pPr>
              <a:defRPr sz="3900" b="1">
                <a:solidFill>
                  <a:srgbClr val="242321"/>
                </a:solidFill>
                <a:latin typeface="Montserrat"/>
                <a:ea typeface="Montserrat"/>
                <a:cs typeface="Montserrat"/>
              </a:defRPr>
            </a:lvl7pPr>
            <a:lvl8pPr>
              <a:defRPr sz="3900" b="1">
                <a:solidFill>
                  <a:srgbClr val="242321"/>
                </a:solidFill>
                <a:latin typeface="Montserrat"/>
                <a:ea typeface="Montserrat"/>
                <a:cs typeface="Montserrat"/>
              </a:defRPr>
            </a:lvl8pPr>
            <a:lvl9pPr>
              <a:defRPr sz="3900" b="1">
                <a:solidFill>
                  <a:srgbClr val="242321"/>
                </a:solidFill>
                <a:latin typeface="Montserrat"/>
                <a:ea typeface="Montserrat"/>
                <a:cs typeface="Montserrat"/>
              </a:defRPr>
            </a:lvl9pPr>
          </a:lstStyle>
          <a:p xmlns:a="http://schemas.openxmlformats.org/drawingml/2006/main">
            <a:pPr>
              <a:defRPr sz="3900" b="1">
                <a:solidFill>
                  <a:srgbClr val="242321"/>
                </a:solidFill>
                <a:latin typeface="Montserrat"/>
                <a:ea typeface="Montserrat"/>
                <a:cs typeface="Montserrat"/>
              </a:defRPr>
            </a:pPr>
            <a:r>
              <a:rPr sz="3900" b="1">
                <a:solidFill>
                  <a:srgbClr val="242321"/>
                </a:solidFill>
                <a:latin typeface="Montserrat"/>
                <a:ea typeface="Montserrat"/>
                <a:cs typeface="Montserrat"/>
              </a:rPr>
              <a:t>47,38 %</a:t>
            </a:r>
          </a:p>
        </p:txBody>
      </p:sp>
      <p:sp>
        <p:nvSpPr>
          <p:cNvPr id="8" name="">
            <a:extLst xmlns:a="http://schemas.openxmlformats.org/drawingml/2006/main">
              <a:ext uri="{FF2B5EF4-FFF2-40B4-BE49-F238E27FC236}">
                <a16:creationId xmlns:a16="http://schemas.microsoft.com/office/drawing/2014/main" id="{E63BD256-A78E-412C-BE93-CAA81E764DFA}"/>
              </a:ext>
            </a:extLst>
          </p:cNvPr>
          <p:cNvSpPr>
            <a:spLocks xmlns:a="http://schemas.openxmlformats.org/drawingml/2006/main" noGrp="1"/>
          </p:cNvSpPr>
          <p:nvPr/>
        </p:nvSpPr>
        <p:spPr>
          <a:xfrm xmlns:a="http://schemas.openxmlformats.org/drawingml/2006/main">
            <a:off x="8667750" y="266700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625B53"/>
                </a:solidFill>
                <a:latin typeface="Montserrat"/>
                <a:ea typeface="Montserrat"/>
                <a:cs typeface="Montserrat"/>
              </a:defRPr>
            </a:defPPr>
            <a:lvl1pPr>
              <a:defRPr sz="1587" b="0">
                <a:solidFill>
                  <a:srgbClr val="625B53"/>
                </a:solidFill>
                <a:latin typeface="Montserrat"/>
                <a:ea typeface="Montserrat"/>
                <a:cs typeface="Montserrat"/>
              </a:defRPr>
            </a:lvl1pPr>
            <a:lvl2pPr>
              <a:defRPr sz="1587" b="0">
                <a:solidFill>
                  <a:srgbClr val="625B53"/>
                </a:solidFill>
                <a:latin typeface="Montserrat"/>
                <a:ea typeface="Montserrat"/>
                <a:cs typeface="Montserrat"/>
              </a:defRPr>
            </a:lvl2pPr>
            <a:lvl3pPr>
              <a:defRPr sz="1587" b="0">
                <a:solidFill>
                  <a:srgbClr val="625B53"/>
                </a:solidFill>
                <a:latin typeface="Montserrat"/>
                <a:ea typeface="Montserrat"/>
                <a:cs typeface="Montserrat"/>
              </a:defRPr>
            </a:lvl3pPr>
            <a:lvl4pPr>
              <a:defRPr sz="1587" b="0">
                <a:solidFill>
                  <a:srgbClr val="625B53"/>
                </a:solidFill>
                <a:latin typeface="Montserrat"/>
                <a:ea typeface="Montserrat"/>
                <a:cs typeface="Montserrat"/>
              </a:defRPr>
            </a:lvl4pPr>
            <a:lvl5pPr>
              <a:defRPr sz="1587" b="0">
                <a:solidFill>
                  <a:srgbClr val="625B53"/>
                </a:solidFill>
                <a:latin typeface="Montserrat"/>
                <a:ea typeface="Montserrat"/>
                <a:cs typeface="Montserrat"/>
              </a:defRPr>
            </a:lvl5pPr>
            <a:lvl6pPr>
              <a:defRPr sz="1587" b="0">
                <a:solidFill>
                  <a:srgbClr val="625B53"/>
                </a:solidFill>
                <a:latin typeface="Montserrat"/>
                <a:ea typeface="Montserrat"/>
                <a:cs typeface="Montserrat"/>
              </a:defRPr>
            </a:lvl6pPr>
            <a:lvl7pPr>
              <a:defRPr sz="1587" b="0">
                <a:solidFill>
                  <a:srgbClr val="625B53"/>
                </a:solidFill>
                <a:latin typeface="Montserrat"/>
                <a:ea typeface="Montserrat"/>
                <a:cs typeface="Montserrat"/>
              </a:defRPr>
            </a:lvl7pPr>
            <a:lvl8pPr>
              <a:defRPr sz="1587" b="0">
                <a:solidFill>
                  <a:srgbClr val="625B53"/>
                </a:solidFill>
                <a:latin typeface="Montserrat"/>
                <a:ea typeface="Montserrat"/>
                <a:cs typeface="Montserrat"/>
              </a:defRPr>
            </a:lvl8pPr>
            <a:lvl9pPr>
              <a:defRPr sz="1587" b="0">
                <a:solidFill>
                  <a:srgbClr val="625B53"/>
                </a:solidFill>
                <a:latin typeface="Montserrat"/>
                <a:ea typeface="Montserrat"/>
                <a:cs typeface="Montserrat"/>
              </a:defRPr>
            </a:lvl9pPr>
          </a:lstStyle>
          <a:p xmlns:a="http://schemas.openxmlformats.org/drawingml/2006/main">
            <a:pPr>
              <a:defRPr sz="1587" b="0">
                <a:solidFill>
                  <a:srgbClr val="625B53"/>
                </a:solidFill>
                <a:latin typeface="Montserrat"/>
                <a:ea typeface="Montserrat"/>
                <a:cs typeface="Montserrat"/>
              </a:defRPr>
            </a:pPr>
            <a:r>
              <a:rPr sz="1587" b="0">
                <a:solidFill>
                  <a:srgbClr val="625B53"/>
                </a:solidFill>
                <a:latin typeface="Montserrat"/>
                <a:ea typeface="Montserrat"/>
                <a:cs typeface="Montserrat"/>
              </a:rPr>
              <a:t>SLA respecté</a:t>
            </a:r>
          </a:p>
          <a:p xmlns:a="http://schemas.openxmlformats.org/drawingml/2006/main">
            <a:pPr>
              <a:defRPr sz="1587" b="0">
                <a:solidFill>
                  <a:srgbClr val="625B53"/>
                </a:solidFill>
                <a:latin typeface="Montserrat"/>
                <a:ea typeface="Montserrat"/>
                <a:cs typeface="Montserrat"/>
              </a:defRPr>
            </a:pPr>
            <a:r>
              <a:rPr sz="1587" b="0">
                <a:solidFill>
                  <a:srgbClr val="625B53"/>
                </a:solidFill>
                <a:latin typeface="Montserrat"/>
                <a:ea typeface="Montserrat"/>
                <a:cs typeface="Montserrat"/>
              </a:rPr>
              <a:t>pour Return &amp; Refund</a:t>
            </a:r>
          </a:p>
        </p:txBody>
      </p:sp>
      <p:sp>
        <p:nvSpPr>
          <p:cNvPr id="9" name="">
            <a:extLst xmlns:a="http://schemas.openxmlformats.org/drawingml/2006/main">
              <a:ext uri="{FF2B5EF4-FFF2-40B4-BE49-F238E27FC236}">
                <a16:creationId xmlns:a16="http://schemas.microsoft.com/office/drawing/2014/main" id="{61E23B3B-F930-468E-95ED-B0ECB63B6E92}"/>
              </a:ext>
            </a:extLst>
          </p:cNvPr>
          <p:cNvSpPr>
            <a:spLocks xmlns:a="http://schemas.openxmlformats.org/drawingml/2006/main" noGrp="1"/>
          </p:cNvSpPr>
          <p:nvPr/>
        </p:nvSpPr>
        <p:spPr>
          <a:xfrm xmlns:a="http://schemas.openxmlformats.org/drawingml/2006/main">
            <a:off x="8667750" y="3762375"/>
            <a:ext cx="2857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242321"/>
                </a:solidFill>
                <a:latin typeface="Montserrat"/>
                <a:ea typeface="Montserrat"/>
                <a:cs typeface="Montserrat"/>
              </a:defRPr>
            </a:defPPr>
            <a:lvl1pPr>
              <a:defRPr sz="1725" b="0">
                <a:solidFill>
                  <a:srgbClr val="242321"/>
                </a:solidFill>
                <a:latin typeface="Montserrat"/>
                <a:ea typeface="Montserrat"/>
                <a:cs typeface="Montserrat"/>
              </a:defRPr>
            </a:lvl1pPr>
            <a:lvl2pPr>
              <a:defRPr sz="1725" b="0">
                <a:solidFill>
                  <a:srgbClr val="242321"/>
                </a:solidFill>
                <a:latin typeface="Montserrat"/>
                <a:ea typeface="Montserrat"/>
                <a:cs typeface="Montserrat"/>
              </a:defRPr>
            </a:lvl2pPr>
            <a:lvl3pPr>
              <a:defRPr sz="1725" b="0">
                <a:solidFill>
                  <a:srgbClr val="242321"/>
                </a:solidFill>
                <a:latin typeface="Montserrat"/>
                <a:ea typeface="Montserrat"/>
                <a:cs typeface="Montserrat"/>
              </a:defRPr>
            </a:lvl3pPr>
            <a:lvl4pPr>
              <a:defRPr sz="1725" b="0">
                <a:solidFill>
                  <a:srgbClr val="242321"/>
                </a:solidFill>
                <a:latin typeface="Montserrat"/>
                <a:ea typeface="Montserrat"/>
                <a:cs typeface="Montserrat"/>
              </a:defRPr>
            </a:lvl4pPr>
            <a:lvl5pPr>
              <a:defRPr sz="1725" b="0">
                <a:solidFill>
                  <a:srgbClr val="242321"/>
                </a:solidFill>
                <a:latin typeface="Montserrat"/>
                <a:ea typeface="Montserrat"/>
                <a:cs typeface="Montserrat"/>
              </a:defRPr>
            </a:lvl5pPr>
            <a:lvl6pPr>
              <a:defRPr sz="1725" b="0">
                <a:solidFill>
                  <a:srgbClr val="242321"/>
                </a:solidFill>
                <a:latin typeface="Montserrat"/>
                <a:ea typeface="Montserrat"/>
                <a:cs typeface="Montserrat"/>
              </a:defRPr>
            </a:lvl6pPr>
            <a:lvl7pPr>
              <a:defRPr sz="1725" b="0">
                <a:solidFill>
                  <a:srgbClr val="242321"/>
                </a:solidFill>
                <a:latin typeface="Montserrat"/>
                <a:ea typeface="Montserrat"/>
                <a:cs typeface="Montserrat"/>
              </a:defRPr>
            </a:lvl7pPr>
            <a:lvl8pPr>
              <a:defRPr sz="1725" b="0">
                <a:solidFill>
                  <a:srgbClr val="242321"/>
                </a:solidFill>
                <a:latin typeface="Montserrat"/>
                <a:ea typeface="Montserrat"/>
                <a:cs typeface="Montserrat"/>
              </a:defRPr>
            </a:lvl8pPr>
            <a:lvl9pPr>
              <a:defRPr sz="1725" b="0">
                <a:solidFill>
                  <a:srgbClr val="242321"/>
                </a:solidFill>
                <a:latin typeface="Montserrat"/>
                <a:ea typeface="Montserrat"/>
                <a:cs typeface="Montserrat"/>
              </a:defRPr>
            </a:lvl9pPr>
          </a:lstStyle>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CSAT : 67,44 %</a:t>
            </a:r>
          </a:p>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Delivery : 621 tickets</a:t>
            </a:r>
          </a:p>
        </p:txBody>
      </p:sp>
      <p:sp>
        <p:nvSpPr>
          <p:cNvPr id="10" name="">
            <a:extLst xmlns:a="http://schemas.openxmlformats.org/drawingml/2006/main">
              <a:ext uri="{FF2B5EF4-FFF2-40B4-BE49-F238E27FC236}">
                <a16:creationId xmlns:a16="http://schemas.microsoft.com/office/drawing/2014/main" id="{ABE78808-45EB-4823-ADC3-6892E83F961F}"/>
              </a:ext>
            </a:extLst>
          </p:cNvPr>
          <p:cNvSpPr>
            <a:spLocks xmlns:a="http://schemas.openxmlformats.org/drawingml/2006/main" noGrp="1"/>
          </p:cNvSpPr>
          <p:nvPr/>
        </p:nvSpPr>
        <p:spPr>
          <a:xfrm xmlns:a="http://schemas.openxmlformats.org/drawingml/2006/main">
            <a:off x="552450" y="5143500"/>
            <a:ext cx="11049000" cy="647700"/>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97ADE14-510A-4AEA-92F2-C04B6E2B0AF5}"/>
              </a:ext>
            </a:extLst>
          </p:cNvPr>
          <p:cNvSpPr>
            <a:spLocks xmlns:a="http://schemas.openxmlformats.org/drawingml/2006/main" noGrp="1"/>
          </p:cNvSpPr>
          <p:nvPr/>
        </p:nvSpPr>
        <p:spPr>
          <a:xfrm xmlns:a="http://schemas.openxmlformats.org/drawingml/2006/main">
            <a:off x="552450" y="5143500"/>
            <a:ext cx="47625" cy="6477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5669FB0-1BC4-4E4D-978D-7C4C26EE3E3F}"/>
              </a:ext>
            </a:extLst>
          </p:cNvPr>
          <p:cNvSpPr>
            <a:spLocks xmlns:a="http://schemas.openxmlformats.org/drawingml/2006/main" noGrp="1"/>
          </p:cNvSpPr>
          <p:nvPr/>
        </p:nvSpPr>
        <p:spPr>
          <a:xfrm xmlns:a="http://schemas.openxmlformats.org/drawingml/2006/main">
            <a:off x="714375" y="52292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Le processus de retour constitue une priorité d’investigation.</a:t>
            </a:r>
          </a:p>
        </p:txBody>
      </p:sp>
      <p:sp>
        <p:nvSpPr>
          <p:cNvPr id="13" name="">
            <a:extLst xmlns:a="http://schemas.openxmlformats.org/drawingml/2006/main">
              <a:ext uri="{FF2B5EF4-FFF2-40B4-BE49-F238E27FC236}">
                <a16:creationId xmlns:a16="http://schemas.microsoft.com/office/drawing/2014/main" id="{081FEA9E-FC99-4731-BD04-52A73A0AED01}"/>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Premier retour Return &amp; Refund : 9,62 h. L’écart concerne surtout la durée de résolution.</a:t>
            </a:r>
          </a:p>
        </p:txBody>
      </p:sp>
    </p:spTree>
    <p:extLst>
      <p:ext uri="{BB962C8B-B14F-4D97-AF65-F5344CB8AC3E}">
        <p14:creationId xmlns:p14="http://schemas.microsoft.com/office/powerpoint/2010/main" val="699684850"/>
      </p:ext>
    </p:extLst>
  </p:cSld>
</p:sld>
</file>

<file path=ppt/slides/slide18.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848AE66-4881-4D90-93BD-6F0FFD291FD3}"/>
              </a:ext>
            </a:extLst>
          </p:cNvPr>
          <p:cNvPicPr>
            <a:picLocks xmlns:a="http://schemas.openxmlformats.org/drawingml/2006/main" noChangeAspect="1"/>
          </p:cNvPicPr>
          <p:nvPr/>
        </p:nvPicPr>
        <p:blipFill>
          <a:blip xmlns:r="http://schemas.openxmlformats.org/officeDocument/2006/relationships" xmlns:a="http://schemas.openxmlformats.org/drawingml/2006/main" r:embed="R6a26ceb47be44d9b"/>
          <a:stretch xmlns:a="http://schemas.openxmlformats.org/drawingml/2006/main"/>
        </p:blipFill>
        <p:spPr>
          <a:xfrm xmlns:a="http://schemas.openxmlformats.org/drawingml/2006/main" flipV="1">
            <a:off x="0" y="5429250"/>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F77D59-2D5A-4FD4-AD24-BD1DBBA76BF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954C7DD-4A27-41B9-992C-0C662C6F85C6}"/>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ECB8F3-4774-41DA-A556-4DF12A2A3110}"/>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Q4 · Les délais sont-ils liés à la satisfaction ?</a:t>
            </a:r>
          </a:p>
        </p:txBody>
      </p:sp>
      <p:sp>
        <p:nvSpPr>
          <p:cNvPr id="5" name="">
            <a:extLst xmlns:a="http://schemas.openxmlformats.org/drawingml/2006/main">
              <a:ext uri="{FF2B5EF4-FFF2-40B4-BE49-F238E27FC236}">
                <a16:creationId xmlns:a16="http://schemas.microsoft.com/office/drawing/2014/main" id="{FEB027C1-B8C1-47E8-814D-CD4C4A861DCB}"/>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18</a:t>
            </a:r>
          </a:p>
        </p:txBody>
      </p:sp>
      <p:sp>
        <p:nvSpPr>
          <p:cNvPr id="6" name="">
            <a:extLst xmlns:a="http://schemas.openxmlformats.org/drawingml/2006/main">
              <a:ext uri="{FF2B5EF4-FFF2-40B4-BE49-F238E27FC236}">
                <a16:creationId xmlns:a16="http://schemas.microsoft.com/office/drawing/2014/main" id="{A35EF246-5D2F-4DFE-9291-91D29EF98998}"/>
              </a:ext>
            </a:extLst>
          </p:cNvPr>
          <p:cNvSpPr>
            <a:spLocks xmlns:a="http://schemas.openxmlformats.org/drawingml/2006/main" noGrp="1"/>
          </p:cNvSpPr>
          <p:nvPr/>
        </p:nvSpPr>
        <p:spPr>
          <a:xfrm xmlns:a="http://schemas.openxmlformats.org/drawingml/2006/main">
            <a:off x="666750" y="157162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CSAT selon le délai de résolution (%)</a:t>
            </a:r>
          </a:p>
        </p:txBody>
      </p:sp>
      <p:graphicFrame>
        <p:nvGraphicFramePr>
          <p:cNvPr id="7" name="Chart">
            <a:extLst xmlns:a="http://schemas.openxmlformats.org/drawingml/2006/main">
              <a:ext uri="{FF2B5EF4-FFF2-40B4-BE49-F238E27FC236}">
                <a16:creationId xmlns:a16="http://schemas.microsoft.com/office/drawing/2014/main" id="{9BB08866-DF4A-4489-895A-5C6BC29D3D60}"/>
              </a:ext>
            </a:extLst>
          </p:cNvPr>
          <p:cNvGraphicFramePr/>
          <p:nvPr/>
        </p:nvGraphicFramePr>
        <p:xfrm>
          <a:off xmlns:a="http://schemas.openxmlformats.org/drawingml/2006/main" x="619125" y="2047875"/>
          <a:ext xmlns:a="http://schemas.openxmlformats.org/drawingml/2006/main" cx="7048500" cy="2857500"/>
        </p:xfrm>
        <a:graphic xmlns:a="http://schemas.openxmlformats.org/drawingml/2006/main">
          <a:graphicData uri="http://schemas.openxmlformats.org/drawingml/2006/chart">
            <c:chart xmlns:r="http://schemas.openxmlformats.org/officeDocument/2006/relationships" xmlns:c="http://schemas.openxmlformats.org/drawingml/2006/chart" r:id="R93cbc3f44af14977"/>
          </a:graphicData>
        </a:graphic>
      </p:graphicFrame>
      <p:sp>
        <p:nvSpPr>
          <p:cNvPr id="8" name="">
            <a:extLst xmlns:a="http://schemas.openxmlformats.org/drawingml/2006/main">
              <a:ext uri="{FF2B5EF4-FFF2-40B4-BE49-F238E27FC236}">
                <a16:creationId xmlns:a16="http://schemas.microsoft.com/office/drawing/2014/main" id="{1C246AF0-B5E0-4572-A369-768C7FC6BE04}"/>
              </a:ext>
            </a:extLst>
          </p:cNvPr>
          <p:cNvSpPr>
            <a:spLocks xmlns:a="http://schemas.openxmlformats.org/drawingml/2006/main" noGrp="1"/>
          </p:cNvSpPr>
          <p:nvPr/>
        </p:nvSpPr>
        <p:spPr>
          <a:xfrm xmlns:a="http://schemas.openxmlformats.org/drawingml/2006/main">
            <a:off x="8382000" y="2143125"/>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242321"/>
                </a:solidFill>
                <a:latin typeface="Montserrat"/>
                <a:ea typeface="Montserrat"/>
                <a:cs typeface="Montserrat"/>
              </a:defRPr>
            </a:defPPr>
            <a:lvl1pPr>
              <a:defRPr sz="3900" b="1">
                <a:solidFill>
                  <a:srgbClr val="242321"/>
                </a:solidFill>
                <a:latin typeface="Montserrat"/>
                <a:ea typeface="Montserrat"/>
                <a:cs typeface="Montserrat"/>
              </a:defRPr>
            </a:lvl1pPr>
            <a:lvl2pPr>
              <a:defRPr sz="3900" b="1">
                <a:solidFill>
                  <a:srgbClr val="242321"/>
                </a:solidFill>
                <a:latin typeface="Montserrat"/>
                <a:ea typeface="Montserrat"/>
                <a:cs typeface="Montserrat"/>
              </a:defRPr>
            </a:lvl2pPr>
            <a:lvl3pPr>
              <a:defRPr sz="3900" b="1">
                <a:solidFill>
                  <a:srgbClr val="242321"/>
                </a:solidFill>
                <a:latin typeface="Montserrat"/>
                <a:ea typeface="Montserrat"/>
                <a:cs typeface="Montserrat"/>
              </a:defRPr>
            </a:lvl3pPr>
            <a:lvl4pPr>
              <a:defRPr sz="3900" b="1">
                <a:solidFill>
                  <a:srgbClr val="242321"/>
                </a:solidFill>
                <a:latin typeface="Montserrat"/>
                <a:ea typeface="Montserrat"/>
                <a:cs typeface="Montserrat"/>
              </a:defRPr>
            </a:lvl4pPr>
            <a:lvl5pPr>
              <a:defRPr sz="3900" b="1">
                <a:solidFill>
                  <a:srgbClr val="242321"/>
                </a:solidFill>
                <a:latin typeface="Montserrat"/>
                <a:ea typeface="Montserrat"/>
                <a:cs typeface="Montserrat"/>
              </a:defRPr>
            </a:lvl5pPr>
            <a:lvl6pPr>
              <a:defRPr sz="3900" b="1">
                <a:solidFill>
                  <a:srgbClr val="242321"/>
                </a:solidFill>
                <a:latin typeface="Montserrat"/>
                <a:ea typeface="Montserrat"/>
                <a:cs typeface="Montserrat"/>
              </a:defRPr>
            </a:lvl6pPr>
            <a:lvl7pPr>
              <a:defRPr sz="3900" b="1">
                <a:solidFill>
                  <a:srgbClr val="242321"/>
                </a:solidFill>
                <a:latin typeface="Montserrat"/>
                <a:ea typeface="Montserrat"/>
                <a:cs typeface="Montserrat"/>
              </a:defRPr>
            </a:lvl7pPr>
            <a:lvl8pPr>
              <a:defRPr sz="3900" b="1">
                <a:solidFill>
                  <a:srgbClr val="242321"/>
                </a:solidFill>
                <a:latin typeface="Montserrat"/>
                <a:ea typeface="Montserrat"/>
                <a:cs typeface="Montserrat"/>
              </a:defRPr>
            </a:lvl8pPr>
            <a:lvl9pPr>
              <a:defRPr sz="3900" b="1">
                <a:solidFill>
                  <a:srgbClr val="242321"/>
                </a:solidFill>
                <a:latin typeface="Montserrat"/>
                <a:ea typeface="Montserrat"/>
                <a:cs typeface="Montserrat"/>
              </a:defRPr>
            </a:lvl9pPr>
          </a:lstStyle>
          <a:p xmlns:a="http://schemas.openxmlformats.org/drawingml/2006/main">
            <a:pPr>
              <a:defRPr sz="3900" b="1">
                <a:solidFill>
                  <a:srgbClr val="242321"/>
                </a:solidFill>
                <a:latin typeface="Montserrat"/>
                <a:ea typeface="Montserrat"/>
                <a:cs typeface="Montserrat"/>
              </a:defRPr>
            </a:pPr>
            <a:r>
              <a:rPr sz="3900" b="1">
                <a:solidFill>
                  <a:srgbClr val="242321"/>
                </a:solidFill>
                <a:latin typeface="Montserrat"/>
                <a:ea typeface="Montserrat"/>
                <a:cs typeface="Montserrat"/>
              </a:rPr>
              <a:t>40,73</a:t>
            </a:r>
          </a:p>
        </p:txBody>
      </p:sp>
      <p:sp>
        <p:nvSpPr>
          <p:cNvPr id="9" name="">
            <a:extLst xmlns:a="http://schemas.openxmlformats.org/drawingml/2006/main">
              <a:ext uri="{FF2B5EF4-FFF2-40B4-BE49-F238E27FC236}">
                <a16:creationId xmlns:a16="http://schemas.microsoft.com/office/drawing/2014/main" id="{FD4A7996-9216-49AA-BD57-3E8C3AB4644F}"/>
              </a:ext>
            </a:extLst>
          </p:cNvPr>
          <p:cNvSpPr>
            <a:spLocks xmlns:a="http://schemas.openxmlformats.org/drawingml/2006/main" noGrp="1"/>
          </p:cNvSpPr>
          <p:nvPr/>
        </p:nvSpPr>
        <p:spPr>
          <a:xfrm xmlns:a="http://schemas.openxmlformats.org/drawingml/2006/main">
            <a:off x="8382000" y="2857500"/>
            <a:ext cx="304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625B53"/>
                </a:solidFill>
                <a:latin typeface="Montserrat"/>
                <a:ea typeface="Montserrat"/>
                <a:cs typeface="Montserrat"/>
              </a:defRPr>
            </a:defPPr>
            <a:lvl1pPr>
              <a:defRPr sz="1587" b="0">
                <a:solidFill>
                  <a:srgbClr val="625B53"/>
                </a:solidFill>
                <a:latin typeface="Montserrat"/>
                <a:ea typeface="Montserrat"/>
                <a:cs typeface="Montserrat"/>
              </a:defRPr>
            </a:lvl1pPr>
            <a:lvl2pPr>
              <a:defRPr sz="1587" b="0">
                <a:solidFill>
                  <a:srgbClr val="625B53"/>
                </a:solidFill>
                <a:latin typeface="Montserrat"/>
                <a:ea typeface="Montserrat"/>
                <a:cs typeface="Montserrat"/>
              </a:defRPr>
            </a:lvl2pPr>
            <a:lvl3pPr>
              <a:defRPr sz="1587" b="0">
                <a:solidFill>
                  <a:srgbClr val="625B53"/>
                </a:solidFill>
                <a:latin typeface="Montserrat"/>
                <a:ea typeface="Montserrat"/>
                <a:cs typeface="Montserrat"/>
              </a:defRPr>
            </a:lvl3pPr>
            <a:lvl4pPr>
              <a:defRPr sz="1587" b="0">
                <a:solidFill>
                  <a:srgbClr val="625B53"/>
                </a:solidFill>
                <a:latin typeface="Montserrat"/>
                <a:ea typeface="Montserrat"/>
                <a:cs typeface="Montserrat"/>
              </a:defRPr>
            </a:lvl4pPr>
            <a:lvl5pPr>
              <a:defRPr sz="1587" b="0">
                <a:solidFill>
                  <a:srgbClr val="625B53"/>
                </a:solidFill>
                <a:latin typeface="Montserrat"/>
                <a:ea typeface="Montserrat"/>
                <a:cs typeface="Montserrat"/>
              </a:defRPr>
            </a:lvl5pPr>
            <a:lvl6pPr>
              <a:defRPr sz="1587" b="0">
                <a:solidFill>
                  <a:srgbClr val="625B53"/>
                </a:solidFill>
                <a:latin typeface="Montserrat"/>
                <a:ea typeface="Montserrat"/>
                <a:cs typeface="Montserrat"/>
              </a:defRPr>
            </a:lvl6pPr>
            <a:lvl7pPr>
              <a:defRPr sz="1587" b="0">
                <a:solidFill>
                  <a:srgbClr val="625B53"/>
                </a:solidFill>
                <a:latin typeface="Montserrat"/>
                <a:ea typeface="Montserrat"/>
                <a:cs typeface="Montserrat"/>
              </a:defRPr>
            </a:lvl7pPr>
            <a:lvl8pPr>
              <a:defRPr sz="1587" b="0">
                <a:solidFill>
                  <a:srgbClr val="625B53"/>
                </a:solidFill>
                <a:latin typeface="Montserrat"/>
                <a:ea typeface="Montserrat"/>
                <a:cs typeface="Montserrat"/>
              </a:defRPr>
            </a:lvl8pPr>
            <a:lvl9pPr>
              <a:defRPr sz="1587" b="0">
                <a:solidFill>
                  <a:srgbClr val="625B53"/>
                </a:solidFill>
                <a:latin typeface="Montserrat"/>
                <a:ea typeface="Montserrat"/>
                <a:cs typeface="Montserrat"/>
              </a:defRPr>
            </a:lvl9pPr>
          </a:lstStyle>
          <a:p xmlns:a="http://schemas.openxmlformats.org/drawingml/2006/main">
            <a:pPr>
              <a:defRPr sz="1587" b="0">
                <a:solidFill>
                  <a:srgbClr val="625B53"/>
                </a:solidFill>
                <a:latin typeface="Montserrat"/>
                <a:ea typeface="Montserrat"/>
                <a:cs typeface="Montserrat"/>
              </a:defRPr>
            </a:pPr>
            <a:r>
              <a:rPr sz="1587" b="0">
                <a:solidFill>
                  <a:srgbClr val="625B53"/>
                </a:solidFill>
                <a:latin typeface="Montserrat"/>
                <a:ea typeface="Montserrat"/>
                <a:cs typeface="Montserrat"/>
              </a:rPr>
              <a:t>points d’écart de CSAT</a:t>
            </a:r>
          </a:p>
        </p:txBody>
      </p:sp>
      <p:sp>
        <p:nvSpPr>
          <p:cNvPr id="10" name="">
            <a:extLst xmlns:a="http://schemas.openxmlformats.org/drawingml/2006/main">
              <a:ext uri="{FF2B5EF4-FFF2-40B4-BE49-F238E27FC236}">
                <a16:creationId xmlns:a16="http://schemas.microsoft.com/office/drawing/2014/main" id="{28A2F32B-3D20-471D-B895-30429083EAC5}"/>
              </a:ext>
            </a:extLst>
          </p:cNvPr>
          <p:cNvSpPr>
            <a:spLocks xmlns:a="http://schemas.openxmlformats.org/drawingml/2006/main" noGrp="1"/>
          </p:cNvSpPr>
          <p:nvPr/>
        </p:nvSpPr>
        <p:spPr>
          <a:xfrm xmlns:a="http://schemas.openxmlformats.org/drawingml/2006/main">
            <a:off x="8382000" y="3714750"/>
            <a:ext cx="304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242321"/>
                </a:solidFill>
                <a:latin typeface="Montserrat"/>
                <a:ea typeface="Montserrat"/>
                <a:cs typeface="Montserrat"/>
              </a:defRPr>
            </a:defPPr>
            <a:lvl1pPr>
              <a:defRPr sz="1725" b="0">
                <a:solidFill>
                  <a:srgbClr val="242321"/>
                </a:solidFill>
                <a:latin typeface="Montserrat"/>
                <a:ea typeface="Montserrat"/>
                <a:cs typeface="Montserrat"/>
              </a:defRPr>
            </a:lvl1pPr>
            <a:lvl2pPr>
              <a:defRPr sz="1725" b="0">
                <a:solidFill>
                  <a:srgbClr val="242321"/>
                </a:solidFill>
                <a:latin typeface="Montserrat"/>
                <a:ea typeface="Montserrat"/>
                <a:cs typeface="Montserrat"/>
              </a:defRPr>
            </a:lvl2pPr>
            <a:lvl3pPr>
              <a:defRPr sz="1725" b="0">
                <a:solidFill>
                  <a:srgbClr val="242321"/>
                </a:solidFill>
                <a:latin typeface="Montserrat"/>
                <a:ea typeface="Montserrat"/>
                <a:cs typeface="Montserrat"/>
              </a:defRPr>
            </a:lvl3pPr>
            <a:lvl4pPr>
              <a:defRPr sz="1725" b="0">
                <a:solidFill>
                  <a:srgbClr val="242321"/>
                </a:solidFill>
                <a:latin typeface="Montserrat"/>
                <a:ea typeface="Montserrat"/>
                <a:cs typeface="Montserrat"/>
              </a:defRPr>
            </a:lvl4pPr>
            <a:lvl5pPr>
              <a:defRPr sz="1725" b="0">
                <a:solidFill>
                  <a:srgbClr val="242321"/>
                </a:solidFill>
                <a:latin typeface="Montserrat"/>
                <a:ea typeface="Montserrat"/>
                <a:cs typeface="Montserrat"/>
              </a:defRPr>
            </a:lvl5pPr>
            <a:lvl6pPr>
              <a:defRPr sz="1725" b="0">
                <a:solidFill>
                  <a:srgbClr val="242321"/>
                </a:solidFill>
                <a:latin typeface="Montserrat"/>
                <a:ea typeface="Montserrat"/>
                <a:cs typeface="Montserrat"/>
              </a:defRPr>
            </a:lvl6pPr>
            <a:lvl7pPr>
              <a:defRPr sz="1725" b="0">
                <a:solidFill>
                  <a:srgbClr val="242321"/>
                </a:solidFill>
                <a:latin typeface="Montserrat"/>
                <a:ea typeface="Montserrat"/>
                <a:cs typeface="Montserrat"/>
              </a:defRPr>
            </a:lvl7pPr>
            <a:lvl8pPr>
              <a:defRPr sz="1725" b="0">
                <a:solidFill>
                  <a:srgbClr val="242321"/>
                </a:solidFill>
                <a:latin typeface="Montserrat"/>
                <a:ea typeface="Montserrat"/>
                <a:cs typeface="Montserrat"/>
              </a:defRPr>
            </a:lvl8pPr>
            <a:lvl9pPr>
              <a:defRPr sz="1725" b="0">
                <a:solidFill>
                  <a:srgbClr val="242321"/>
                </a:solidFill>
                <a:latin typeface="Montserrat"/>
                <a:ea typeface="Montserrat"/>
                <a:cs typeface="Montserrat"/>
              </a:defRPr>
            </a:lvl9pPr>
          </a:lstStyle>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Premier retour :</a:t>
            </a:r>
          </a:p>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écart de 4,29 points</a:t>
            </a:r>
          </a:p>
          <a:p xmlns:a="http://schemas.openxmlformats.org/drawingml/2006/main">
            <a:pPr>
              <a:defRPr sz="1725" b="0">
                <a:solidFill>
                  <a:srgbClr val="242321"/>
                </a:solidFill>
                <a:latin typeface="Montserrat"/>
                <a:ea typeface="Montserrat"/>
                <a:cs typeface="Montserrat"/>
              </a:defRPr>
            </a:pPr>
            <a:r>
              <a:rPr sz="1725" b="0">
                <a:solidFill>
                  <a:srgbClr val="242321"/>
                </a:solidFill>
                <a:latin typeface="Montserrat"/>
                <a:ea typeface="Montserrat"/>
                <a:cs typeface="Montserrat"/>
              </a:rPr>
              <a:t>autour du seuil de 12 h</a:t>
            </a:r>
          </a:p>
        </p:txBody>
      </p:sp>
      <p:sp>
        <p:nvSpPr>
          <p:cNvPr id="11" name="">
            <a:extLst xmlns:a="http://schemas.openxmlformats.org/drawingml/2006/main">
              <a:ext uri="{FF2B5EF4-FFF2-40B4-BE49-F238E27FC236}">
                <a16:creationId xmlns:a16="http://schemas.microsoft.com/office/drawing/2014/main" id="{39B68DB5-9EAF-4796-8073-C5094A50BAD4}"/>
              </a:ext>
            </a:extLst>
          </p:cNvPr>
          <p:cNvSpPr>
            <a:spLocks xmlns:a="http://schemas.openxmlformats.org/drawingml/2006/main" noGrp="1"/>
          </p:cNvSpPr>
          <p:nvPr/>
        </p:nvSpPr>
        <p:spPr>
          <a:xfrm xmlns:a="http://schemas.openxmlformats.org/drawingml/2006/main">
            <a:off x="552450" y="5143500"/>
            <a:ext cx="11049000" cy="647700"/>
          </a:xfrm>
          <a:prstGeom xmlns:a="http://schemas.openxmlformats.org/drawingml/2006/main" prst="rect">
            <a:avLst/>
          </a:prstGeom>
          <a:solidFill xmlns:a="http://schemas.openxmlformats.org/drawingml/2006/main">
            <a:srgbClr val="E6DAC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92BF2E1-F2AB-4D9F-9D8C-96520DA968BF}"/>
              </a:ext>
            </a:extLst>
          </p:cNvPr>
          <p:cNvSpPr>
            <a:spLocks xmlns:a="http://schemas.openxmlformats.org/drawingml/2006/main" noGrp="1"/>
          </p:cNvSpPr>
          <p:nvPr/>
        </p:nvSpPr>
        <p:spPr>
          <a:xfrm xmlns:a="http://schemas.openxmlformats.org/drawingml/2006/main">
            <a:off x="552450" y="5143500"/>
            <a:ext cx="47625" cy="6477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A301BB8-ED18-43EE-8988-4899E51ED7C8}"/>
              </a:ext>
            </a:extLst>
          </p:cNvPr>
          <p:cNvSpPr>
            <a:spLocks xmlns:a="http://schemas.openxmlformats.org/drawingml/2006/main" noGrp="1"/>
          </p:cNvSpPr>
          <p:nvPr/>
        </p:nvSpPr>
        <p:spPr>
          <a:xfrm xmlns:a="http://schemas.openxmlformats.org/drawingml/2006/main">
            <a:off x="714375" y="52292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242321"/>
                </a:solidFill>
                <a:latin typeface="Montserrat"/>
                <a:ea typeface="Montserrat"/>
                <a:cs typeface="Montserrat"/>
              </a:defRPr>
            </a:defPPr>
            <a:lvl1pPr>
              <a:defRPr sz="1725" b="1">
                <a:solidFill>
                  <a:srgbClr val="242321"/>
                </a:solidFill>
                <a:latin typeface="Montserrat"/>
                <a:ea typeface="Montserrat"/>
                <a:cs typeface="Montserrat"/>
              </a:defRPr>
            </a:lvl1pPr>
            <a:lvl2pPr>
              <a:defRPr sz="1725" b="1">
                <a:solidFill>
                  <a:srgbClr val="242321"/>
                </a:solidFill>
                <a:latin typeface="Montserrat"/>
                <a:ea typeface="Montserrat"/>
                <a:cs typeface="Montserrat"/>
              </a:defRPr>
            </a:lvl2pPr>
            <a:lvl3pPr>
              <a:defRPr sz="1725" b="1">
                <a:solidFill>
                  <a:srgbClr val="242321"/>
                </a:solidFill>
                <a:latin typeface="Montserrat"/>
                <a:ea typeface="Montserrat"/>
                <a:cs typeface="Montserrat"/>
              </a:defRPr>
            </a:lvl3pPr>
            <a:lvl4pPr>
              <a:defRPr sz="1725" b="1">
                <a:solidFill>
                  <a:srgbClr val="242321"/>
                </a:solidFill>
                <a:latin typeface="Montserrat"/>
                <a:ea typeface="Montserrat"/>
                <a:cs typeface="Montserrat"/>
              </a:defRPr>
            </a:lvl4pPr>
            <a:lvl5pPr>
              <a:defRPr sz="1725" b="1">
                <a:solidFill>
                  <a:srgbClr val="242321"/>
                </a:solidFill>
                <a:latin typeface="Montserrat"/>
                <a:ea typeface="Montserrat"/>
                <a:cs typeface="Montserrat"/>
              </a:defRPr>
            </a:lvl5pPr>
            <a:lvl6pPr>
              <a:defRPr sz="1725" b="1">
                <a:solidFill>
                  <a:srgbClr val="242321"/>
                </a:solidFill>
                <a:latin typeface="Montserrat"/>
                <a:ea typeface="Montserrat"/>
                <a:cs typeface="Montserrat"/>
              </a:defRPr>
            </a:lvl6pPr>
            <a:lvl7pPr>
              <a:defRPr sz="1725" b="1">
                <a:solidFill>
                  <a:srgbClr val="242321"/>
                </a:solidFill>
                <a:latin typeface="Montserrat"/>
                <a:ea typeface="Montserrat"/>
                <a:cs typeface="Montserrat"/>
              </a:defRPr>
            </a:lvl7pPr>
            <a:lvl8pPr>
              <a:defRPr sz="1725" b="1">
                <a:solidFill>
                  <a:srgbClr val="242321"/>
                </a:solidFill>
                <a:latin typeface="Montserrat"/>
                <a:ea typeface="Montserrat"/>
                <a:cs typeface="Montserrat"/>
              </a:defRPr>
            </a:lvl8pPr>
            <a:lvl9pPr>
              <a:defRPr sz="1725" b="1">
                <a:solidFill>
                  <a:srgbClr val="242321"/>
                </a:solidFill>
                <a:latin typeface="Montserrat"/>
                <a:ea typeface="Montserrat"/>
                <a:cs typeface="Montserrat"/>
              </a:defRPr>
            </a:lvl9pPr>
          </a:lstStyle>
          <a:p xmlns:a="http://schemas.openxmlformats.org/drawingml/2006/main">
            <a:pPr>
              <a:defRPr sz="1725" b="1">
                <a:solidFill>
                  <a:srgbClr val="242321"/>
                </a:solidFill>
                <a:latin typeface="Montserrat"/>
                <a:ea typeface="Montserrat"/>
                <a:cs typeface="Montserrat"/>
              </a:defRPr>
            </a:pPr>
            <a:r>
              <a:rPr sz="1725" b="1">
                <a:solidFill>
                  <a:srgbClr val="242321"/>
                </a:solidFill>
                <a:latin typeface="Montserrat"/>
                <a:ea typeface="Montserrat"/>
                <a:cs typeface="Montserrat"/>
              </a:rPr>
              <a:t>Les résolutions longues sont associées à une satisfaction plus faible.</a:t>
            </a:r>
          </a:p>
        </p:txBody>
      </p:sp>
      <p:sp>
        <p:nvSpPr>
          <p:cNvPr id="14" name="">
            <a:extLst xmlns:a="http://schemas.openxmlformats.org/drawingml/2006/main">
              <a:ext uri="{FF2B5EF4-FFF2-40B4-BE49-F238E27FC236}">
                <a16:creationId xmlns:a16="http://schemas.microsoft.com/office/drawing/2014/main" id="{96336FEA-4D5C-4A2B-A5A8-11F084E93FE0}"/>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Association dans une simulation. La complexité et l’issue de la demande peuvent aussi intervenir. Aucune causalité démontrée.</a:t>
            </a:r>
          </a:p>
        </p:txBody>
      </p:sp>
    </p:spTree>
    <p:extLst>
      <p:ext uri="{BB962C8B-B14F-4D97-AF65-F5344CB8AC3E}">
        <p14:creationId xmlns:p14="http://schemas.microsoft.com/office/powerpoint/2010/main" val="503320199"/>
      </p:ext>
    </p:extLst>
  </p:cSld>
</p:sld>
</file>

<file path=ppt/slides/slide19.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D2814C61-C077-4A7A-8782-F32AD847AE4B}"/>
              </a:ext>
            </a:extLst>
          </p:cNvPr>
          <p:cNvPicPr>
            <a:picLocks xmlns:a="http://schemas.openxmlformats.org/drawingml/2006/main" noChangeAspect="1"/>
          </p:cNvPicPr>
          <p:nvPr/>
        </p:nvPicPr>
        <p:blipFill>
          <a:blip xmlns:r="http://schemas.openxmlformats.org/officeDocument/2006/relationships" xmlns:a="http://schemas.openxmlformats.org/drawingml/2006/main" r:embed="R57fa7632a44545b2"/>
          <a:stretch xmlns:a="http://schemas.openxmlformats.org/drawingml/2006/main"/>
        </p:blipFill>
        <p:spPr>
          <a:xfrm xmlns:a="http://schemas.openxmlformats.org/drawingml/2006/main" flipH="1">
            <a:off x="10548938" y="142875"/>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BD6017-AD2F-45FF-8E90-4ACA30AA43B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4B48A7-F0D0-48FD-9EE6-5328D59DD3C0}"/>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E21925-1979-47DD-8F4E-318CC06DD2CC}"/>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Priorités d’action Sales &amp; CRM</a:t>
            </a:r>
          </a:p>
        </p:txBody>
      </p:sp>
      <p:sp>
        <p:nvSpPr>
          <p:cNvPr id="5" name="">
            <a:extLst xmlns:a="http://schemas.openxmlformats.org/drawingml/2006/main">
              <a:ext uri="{FF2B5EF4-FFF2-40B4-BE49-F238E27FC236}">
                <a16:creationId xmlns:a16="http://schemas.microsoft.com/office/drawing/2014/main" id="{B260D1C4-4BBA-46E7-901D-CC7026EF7131}"/>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19</a:t>
            </a:r>
          </a:p>
        </p:txBody>
      </p:sp>
      <p:sp>
        <p:nvSpPr>
          <p:cNvPr id="6" name="">
            <a:extLst xmlns:a="http://schemas.openxmlformats.org/drawingml/2006/main">
              <a:ext uri="{FF2B5EF4-FFF2-40B4-BE49-F238E27FC236}">
                <a16:creationId xmlns:a16="http://schemas.microsoft.com/office/drawing/2014/main" id="{697DAC06-5EBF-4EFA-88E6-720F5CE07DC8}"/>
              </a:ext>
            </a:extLst>
          </p:cNvPr>
          <p:cNvSpPr>
            <a:spLocks xmlns:a="http://schemas.openxmlformats.org/drawingml/2006/main" noGrp="1"/>
          </p:cNvSpPr>
          <p:nvPr/>
        </p:nvSpPr>
        <p:spPr>
          <a:xfrm xmlns:a="http://schemas.openxmlformats.org/drawingml/2006/main">
            <a:off x="619125" y="166687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BB7EE17-4344-46E5-BF03-58A786DFD15B}"/>
              </a:ext>
            </a:extLst>
          </p:cNvPr>
          <p:cNvSpPr>
            <a:spLocks xmlns:a="http://schemas.openxmlformats.org/drawingml/2006/main" noGrp="1"/>
          </p:cNvSpPr>
          <p:nvPr/>
        </p:nvSpPr>
        <p:spPr>
          <a:xfrm xmlns:a="http://schemas.openxmlformats.org/drawingml/2006/main">
            <a:off x="714375" y="17240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01</a:t>
            </a:r>
          </a:p>
        </p:txBody>
      </p:sp>
      <p:sp>
        <p:nvSpPr>
          <p:cNvPr id="8" name="">
            <a:extLst xmlns:a="http://schemas.openxmlformats.org/drawingml/2006/main">
              <a:ext uri="{FF2B5EF4-FFF2-40B4-BE49-F238E27FC236}">
                <a16:creationId xmlns:a16="http://schemas.microsoft.com/office/drawing/2014/main" id="{8476DC1B-1531-4E15-BA1C-2C60B94F2701}"/>
              </a:ext>
            </a:extLst>
          </p:cNvPr>
          <p:cNvSpPr>
            <a:spLocks xmlns:a="http://schemas.openxmlformats.org/drawingml/2006/main" noGrp="1"/>
          </p:cNvSpPr>
          <p:nvPr/>
        </p:nvSpPr>
        <p:spPr>
          <a:xfrm xmlns:a="http://schemas.openxmlformats.org/drawingml/2006/main">
            <a:off x="1476375" y="166687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Préparer le pic de fin d’année</a:t>
            </a:r>
          </a:p>
        </p:txBody>
      </p:sp>
      <p:sp>
        <p:nvSpPr>
          <p:cNvPr id="9" name="">
            <a:extLst xmlns:a="http://schemas.openxmlformats.org/drawingml/2006/main">
              <a:ext uri="{FF2B5EF4-FFF2-40B4-BE49-F238E27FC236}">
                <a16:creationId xmlns:a16="http://schemas.microsoft.com/office/drawing/2014/main" id="{13E7C1DA-14C8-4465-8CD2-55A5F02087D8}"/>
              </a:ext>
            </a:extLst>
          </p:cNvPr>
          <p:cNvSpPr>
            <a:spLocks xmlns:a="http://schemas.openxmlformats.org/drawingml/2006/main" noGrp="1"/>
          </p:cNvSpPr>
          <p:nvPr/>
        </p:nvSpPr>
        <p:spPr>
          <a:xfrm xmlns:a="http://schemas.openxmlformats.org/drawingml/2006/main">
            <a:off x="1476375" y="2105025"/>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Anticiper les stocks et la disponibilité du service. Suivre volume, délais et SLA.</a:t>
            </a:r>
          </a:p>
        </p:txBody>
      </p:sp>
      <p:sp>
        <p:nvSpPr>
          <p:cNvPr id="10" name="">
            <a:extLst xmlns:a="http://schemas.openxmlformats.org/drawingml/2006/main">
              <a:ext uri="{FF2B5EF4-FFF2-40B4-BE49-F238E27FC236}">
                <a16:creationId xmlns:a16="http://schemas.microsoft.com/office/drawing/2014/main" id="{EB0A46FD-3493-4109-8DA3-15274D6C2D5A}"/>
              </a:ext>
            </a:extLst>
          </p:cNvPr>
          <p:cNvSpPr>
            <a:spLocks xmlns:a="http://schemas.openxmlformats.org/drawingml/2006/main" noGrp="1"/>
          </p:cNvSpPr>
          <p:nvPr/>
        </p:nvSpPr>
        <p:spPr>
          <a:xfrm xmlns:a="http://schemas.openxmlformats.org/drawingml/2006/main">
            <a:off x="619125" y="300037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8A6D38-33E7-43B9-95A5-43C91842E06D}"/>
              </a:ext>
            </a:extLst>
          </p:cNvPr>
          <p:cNvSpPr>
            <a:spLocks xmlns:a="http://schemas.openxmlformats.org/drawingml/2006/main" noGrp="1"/>
          </p:cNvSpPr>
          <p:nvPr/>
        </p:nvSpPr>
        <p:spPr>
          <a:xfrm xmlns:a="http://schemas.openxmlformats.org/drawingml/2006/main">
            <a:off x="714375" y="30575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02</a:t>
            </a:r>
          </a:p>
        </p:txBody>
      </p:sp>
      <p:sp>
        <p:nvSpPr>
          <p:cNvPr id="12" name="">
            <a:extLst xmlns:a="http://schemas.openxmlformats.org/drawingml/2006/main">
              <a:ext uri="{FF2B5EF4-FFF2-40B4-BE49-F238E27FC236}">
                <a16:creationId xmlns:a16="http://schemas.microsoft.com/office/drawing/2014/main" id="{91C32C84-F334-427D-88D7-951411465C67}"/>
              </a:ext>
            </a:extLst>
          </p:cNvPr>
          <p:cNvSpPr>
            <a:spLocks xmlns:a="http://schemas.openxmlformats.org/drawingml/2006/main" noGrp="1"/>
          </p:cNvSpPr>
          <p:nvPr/>
        </p:nvSpPr>
        <p:spPr>
          <a:xfrm xmlns:a="http://schemas.openxmlformats.org/drawingml/2006/main">
            <a:off x="1476375" y="300037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Examiner le parcours et l’assortiment</a:t>
            </a:r>
          </a:p>
        </p:txBody>
      </p:sp>
      <p:sp>
        <p:nvSpPr>
          <p:cNvPr id="13" name="">
            <a:extLst xmlns:a="http://schemas.openxmlformats.org/drawingml/2006/main">
              <a:ext uri="{FF2B5EF4-FFF2-40B4-BE49-F238E27FC236}">
                <a16:creationId xmlns:a16="http://schemas.microsoft.com/office/drawing/2014/main" id="{C4A39FC9-67F7-407E-A31B-DADC9411D8DA}"/>
              </a:ext>
            </a:extLst>
          </p:cNvPr>
          <p:cNvSpPr>
            <a:spLocks xmlns:a="http://schemas.openxmlformats.org/drawingml/2006/main" noGrp="1"/>
          </p:cNvSpPr>
          <p:nvPr/>
        </p:nvSpPr>
        <p:spPr>
          <a:xfrm xmlns:a="http://schemas.openxmlformats.org/drawingml/2006/main">
            <a:off x="1476375" y="3438525"/>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Prioriser le parcours Website. Vérifier stocks et visibilité avant toute promotion.</a:t>
            </a:r>
          </a:p>
        </p:txBody>
      </p:sp>
      <p:sp>
        <p:nvSpPr>
          <p:cNvPr id="14" name="">
            <a:extLst xmlns:a="http://schemas.openxmlformats.org/drawingml/2006/main">
              <a:ext uri="{FF2B5EF4-FFF2-40B4-BE49-F238E27FC236}">
                <a16:creationId xmlns:a16="http://schemas.microsoft.com/office/drawing/2014/main" id="{40518CE4-2CEF-4329-A3AC-2FF2CF141B79}"/>
              </a:ext>
            </a:extLst>
          </p:cNvPr>
          <p:cNvSpPr>
            <a:spLocks xmlns:a="http://schemas.openxmlformats.org/drawingml/2006/main" noGrp="1"/>
          </p:cNvSpPr>
          <p:nvPr/>
        </p:nvSpPr>
        <p:spPr>
          <a:xfrm xmlns:a="http://schemas.openxmlformats.org/drawingml/2006/main">
            <a:off x="619125" y="4333875"/>
            <a:ext cx="590550" cy="533400"/>
          </a:xfrm>
          <a:prstGeom xmlns:a="http://schemas.openxmlformats.org/drawingml/2006/main" prst="rect">
            <a:avLst/>
          </a:prstGeom>
          <a:solidFill xmlns:a="http://schemas.openxmlformats.org/drawingml/2006/main">
            <a:srgbClr val="D8C9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C8A81EA-F1F4-4DFC-9704-97CFE8F1E9F0}"/>
              </a:ext>
            </a:extLst>
          </p:cNvPr>
          <p:cNvSpPr>
            <a:spLocks xmlns:a="http://schemas.openxmlformats.org/drawingml/2006/main" noGrp="1"/>
          </p:cNvSpPr>
          <p:nvPr/>
        </p:nvSpPr>
        <p:spPr>
          <a:xfrm xmlns:a="http://schemas.openxmlformats.org/drawingml/2006/main">
            <a:off x="714375" y="43910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794" b="1">
                <a:solidFill>
                  <a:srgbClr val="242321"/>
                </a:solidFill>
                <a:latin typeface="Montserrat"/>
                <a:ea typeface="Montserrat"/>
                <a:cs typeface="Montserrat"/>
              </a:defRPr>
            </a:defPPr>
            <a:lvl1pPr>
              <a:defRPr sz="1794" b="1">
                <a:solidFill>
                  <a:srgbClr val="242321"/>
                </a:solidFill>
                <a:latin typeface="Montserrat"/>
                <a:ea typeface="Montserrat"/>
                <a:cs typeface="Montserrat"/>
              </a:defRPr>
            </a:lvl1pPr>
            <a:lvl2pPr>
              <a:defRPr sz="1794" b="1">
                <a:solidFill>
                  <a:srgbClr val="242321"/>
                </a:solidFill>
                <a:latin typeface="Montserrat"/>
                <a:ea typeface="Montserrat"/>
                <a:cs typeface="Montserrat"/>
              </a:defRPr>
            </a:lvl2pPr>
            <a:lvl3pPr>
              <a:defRPr sz="1794" b="1">
                <a:solidFill>
                  <a:srgbClr val="242321"/>
                </a:solidFill>
                <a:latin typeface="Montserrat"/>
                <a:ea typeface="Montserrat"/>
                <a:cs typeface="Montserrat"/>
              </a:defRPr>
            </a:lvl3pPr>
            <a:lvl4pPr>
              <a:defRPr sz="1794" b="1">
                <a:solidFill>
                  <a:srgbClr val="242321"/>
                </a:solidFill>
                <a:latin typeface="Montserrat"/>
                <a:ea typeface="Montserrat"/>
                <a:cs typeface="Montserrat"/>
              </a:defRPr>
            </a:lvl4pPr>
            <a:lvl5pPr>
              <a:defRPr sz="1794" b="1">
                <a:solidFill>
                  <a:srgbClr val="242321"/>
                </a:solidFill>
                <a:latin typeface="Montserrat"/>
                <a:ea typeface="Montserrat"/>
                <a:cs typeface="Montserrat"/>
              </a:defRPr>
            </a:lvl5pPr>
            <a:lvl6pPr>
              <a:defRPr sz="1794" b="1">
                <a:solidFill>
                  <a:srgbClr val="242321"/>
                </a:solidFill>
                <a:latin typeface="Montserrat"/>
                <a:ea typeface="Montserrat"/>
                <a:cs typeface="Montserrat"/>
              </a:defRPr>
            </a:lvl6pPr>
            <a:lvl7pPr>
              <a:defRPr sz="1794" b="1">
                <a:solidFill>
                  <a:srgbClr val="242321"/>
                </a:solidFill>
                <a:latin typeface="Montserrat"/>
                <a:ea typeface="Montserrat"/>
                <a:cs typeface="Montserrat"/>
              </a:defRPr>
            </a:lvl7pPr>
            <a:lvl8pPr>
              <a:defRPr sz="1794" b="1">
                <a:solidFill>
                  <a:srgbClr val="242321"/>
                </a:solidFill>
                <a:latin typeface="Montserrat"/>
                <a:ea typeface="Montserrat"/>
                <a:cs typeface="Montserrat"/>
              </a:defRPr>
            </a:lvl8pPr>
            <a:lvl9pPr>
              <a:defRPr sz="1794" b="1">
                <a:solidFill>
                  <a:srgbClr val="242321"/>
                </a:solidFill>
                <a:latin typeface="Montserrat"/>
                <a:ea typeface="Montserrat"/>
                <a:cs typeface="Montserrat"/>
              </a:defRPr>
            </a:lvl9pPr>
          </a:lstStyle>
          <a:p xmlns:a="http://schemas.openxmlformats.org/drawingml/2006/main">
            <a:pPr>
              <a:defRPr sz="1794" b="1">
                <a:solidFill>
                  <a:srgbClr val="242321"/>
                </a:solidFill>
                <a:latin typeface="Montserrat"/>
                <a:ea typeface="Montserrat"/>
                <a:cs typeface="Montserrat"/>
              </a:defRPr>
            </a:pPr>
            <a:r>
              <a:rPr sz="1794" b="1">
                <a:solidFill>
                  <a:srgbClr val="242321"/>
                </a:solidFill>
                <a:latin typeface="Montserrat"/>
                <a:ea typeface="Montserrat"/>
                <a:cs typeface="Montserrat"/>
              </a:rPr>
              <a:t>03</a:t>
            </a:r>
          </a:p>
        </p:txBody>
      </p:sp>
      <p:sp>
        <p:nvSpPr>
          <p:cNvPr id="16" name="">
            <a:extLst xmlns:a="http://schemas.openxmlformats.org/drawingml/2006/main">
              <a:ext uri="{FF2B5EF4-FFF2-40B4-BE49-F238E27FC236}">
                <a16:creationId xmlns:a16="http://schemas.microsoft.com/office/drawing/2014/main" id="{05B3D3B1-03D8-4BAB-8B3D-0ECC3E911620}"/>
              </a:ext>
            </a:extLst>
          </p:cNvPr>
          <p:cNvSpPr>
            <a:spLocks xmlns:a="http://schemas.openxmlformats.org/drawingml/2006/main" noGrp="1"/>
          </p:cNvSpPr>
          <p:nvPr/>
        </p:nvSpPr>
        <p:spPr>
          <a:xfrm xmlns:a="http://schemas.openxmlformats.org/drawingml/2006/main">
            <a:off x="1476375" y="433387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01" b="1">
                <a:solidFill>
                  <a:srgbClr val="242321"/>
                </a:solidFill>
                <a:latin typeface="Montserrat"/>
                <a:ea typeface="Montserrat"/>
                <a:cs typeface="Montserrat"/>
              </a:defRPr>
            </a:defPPr>
            <a:lvl1pPr>
              <a:defRPr sz="2001" b="1">
                <a:solidFill>
                  <a:srgbClr val="242321"/>
                </a:solidFill>
                <a:latin typeface="Montserrat"/>
                <a:ea typeface="Montserrat"/>
                <a:cs typeface="Montserrat"/>
              </a:defRPr>
            </a:lvl1pPr>
            <a:lvl2pPr>
              <a:defRPr sz="2001" b="1">
                <a:solidFill>
                  <a:srgbClr val="242321"/>
                </a:solidFill>
                <a:latin typeface="Montserrat"/>
                <a:ea typeface="Montserrat"/>
                <a:cs typeface="Montserrat"/>
              </a:defRPr>
            </a:lvl2pPr>
            <a:lvl3pPr>
              <a:defRPr sz="2001" b="1">
                <a:solidFill>
                  <a:srgbClr val="242321"/>
                </a:solidFill>
                <a:latin typeface="Montserrat"/>
                <a:ea typeface="Montserrat"/>
                <a:cs typeface="Montserrat"/>
              </a:defRPr>
            </a:lvl3pPr>
            <a:lvl4pPr>
              <a:defRPr sz="2001" b="1">
                <a:solidFill>
                  <a:srgbClr val="242321"/>
                </a:solidFill>
                <a:latin typeface="Montserrat"/>
                <a:ea typeface="Montserrat"/>
                <a:cs typeface="Montserrat"/>
              </a:defRPr>
            </a:lvl4pPr>
            <a:lvl5pPr>
              <a:defRPr sz="2001" b="1">
                <a:solidFill>
                  <a:srgbClr val="242321"/>
                </a:solidFill>
                <a:latin typeface="Montserrat"/>
                <a:ea typeface="Montserrat"/>
                <a:cs typeface="Montserrat"/>
              </a:defRPr>
            </a:lvl5pPr>
            <a:lvl6pPr>
              <a:defRPr sz="2001" b="1">
                <a:solidFill>
                  <a:srgbClr val="242321"/>
                </a:solidFill>
                <a:latin typeface="Montserrat"/>
                <a:ea typeface="Montserrat"/>
                <a:cs typeface="Montserrat"/>
              </a:defRPr>
            </a:lvl6pPr>
            <a:lvl7pPr>
              <a:defRPr sz="2001" b="1">
                <a:solidFill>
                  <a:srgbClr val="242321"/>
                </a:solidFill>
                <a:latin typeface="Montserrat"/>
                <a:ea typeface="Montserrat"/>
                <a:cs typeface="Montserrat"/>
              </a:defRPr>
            </a:lvl7pPr>
            <a:lvl8pPr>
              <a:defRPr sz="2001" b="1">
                <a:solidFill>
                  <a:srgbClr val="242321"/>
                </a:solidFill>
                <a:latin typeface="Montserrat"/>
                <a:ea typeface="Montserrat"/>
                <a:cs typeface="Montserrat"/>
              </a:defRPr>
            </a:lvl8pPr>
            <a:lvl9pPr>
              <a:defRPr sz="2001" b="1">
                <a:solidFill>
                  <a:srgbClr val="242321"/>
                </a:solidFill>
                <a:latin typeface="Montserrat"/>
                <a:ea typeface="Montserrat"/>
                <a:cs typeface="Montserrat"/>
              </a:defRPr>
            </a:lvl9pPr>
          </a:lstStyle>
          <a:p xmlns:a="http://schemas.openxmlformats.org/drawingml/2006/main">
            <a:pPr>
              <a:defRPr sz="2001" b="1">
                <a:solidFill>
                  <a:srgbClr val="242321"/>
                </a:solidFill>
                <a:latin typeface="Montserrat"/>
                <a:ea typeface="Montserrat"/>
                <a:cs typeface="Montserrat"/>
              </a:defRPr>
            </a:pPr>
            <a:r>
              <a:rPr sz="2001" b="1">
                <a:solidFill>
                  <a:srgbClr val="242321"/>
                </a:solidFill>
                <a:latin typeface="Montserrat"/>
                <a:ea typeface="Montserrat"/>
                <a:cs typeface="Montserrat"/>
              </a:rPr>
              <a:t>Réduire les attentes dans les retours</a:t>
            </a:r>
          </a:p>
        </p:txBody>
      </p:sp>
      <p:sp>
        <p:nvSpPr>
          <p:cNvPr id="17" name="">
            <a:extLst xmlns:a="http://schemas.openxmlformats.org/drawingml/2006/main">
              <a:ext uri="{FF2B5EF4-FFF2-40B4-BE49-F238E27FC236}">
                <a16:creationId xmlns:a16="http://schemas.microsoft.com/office/drawing/2014/main" id="{2725EBE9-A110-4638-A537-39395E30E65F}"/>
              </a:ext>
            </a:extLst>
          </p:cNvPr>
          <p:cNvSpPr>
            <a:spLocks xmlns:a="http://schemas.openxmlformats.org/drawingml/2006/main" noGrp="1"/>
          </p:cNvSpPr>
          <p:nvPr/>
        </p:nvSpPr>
        <p:spPr>
          <a:xfrm xmlns:a="http://schemas.openxmlformats.org/drawingml/2006/main">
            <a:off x="1476375" y="4772025"/>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87" b="0">
                <a:solidFill>
                  <a:srgbClr val="242321"/>
                </a:solidFill>
                <a:latin typeface="Montserrat"/>
                <a:ea typeface="Montserrat"/>
                <a:cs typeface="Montserrat"/>
              </a:defRPr>
            </a:defPPr>
            <a:lvl1pPr>
              <a:defRPr sz="1587" b="0">
                <a:solidFill>
                  <a:srgbClr val="242321"/>
                </a:solidFill>
                <a:latin typeface="Montserrat"/>
                <a:ea typeface="Montserrat"/>
                <a:cs typeface="Montserrat"/>
              </a:defRPr>
            </a:lvl1pPr>
            <a:lvl2pPr>
              <a:defRPr sz="1587" b="0">
                <a:solidFill>
                  <a:srgbClr val="242321"/>
                </a:solidFill>
                <a:latin typeface="Montserrat"/>
                <a:ea typeface="Montserrat"/>
                <a:cs typeface="Montserrat"/>
              </a:defRPr>
            </a:lvl2pPr>
            <a:lvl3pPr>
              <a:defRPr sz="1587" b="0">
                <a:solidFill>
                  <a:srgbClr val="242321"/>
                </a:solidFill>
                <a:latin typeface="Montserrat"/>
                <a:ea typeface="Montserrat"/>
                <a:cs typeface="Montserrat"/>
              </a:defRPr>
            </a:lvl3pPr>
            <a:lvl4pPr>
              <a:defRPr sz="1587" b="0">
                <a:solidFill>
                  <a:srgbClr val="242321"/>
                </a:solidFill>
                <a:latin typeface="Montserrat"/>
                <a:ea typeface="Montserrat"/>
                <a:cs typeface="Montserrat"/>
              </a:defRPr>
            </a:lvl4pPr>
            <a:lvl5pPr>
              <a:defRPr sz="1587" b="0">
                <a:solidFill>
                  <a:srgbClr val="242321"/>
                </a:solidFill>
                <a:latin typeface="Montserrat"/>
                <a:ea typeface="Montserrat"/>
                <a:cs typeface="Montserrat"/>
              </a:defRPr>
            </a:lvl5pPr>
            <a:lvl6pPr>
              <a:defRPr sz="1587" b="0">
                <a:solidFill>
                  <a:srgbClr val="242321"/>
                </a:solidFill>
                <a:latin typeface="Montserrat"/>
                <a:ea typeface="Montserrat"/>
                <a:cs typeface="Montserrat"/>
              </a:defRPr>
            </a:lvl6pPr>
            <a:lvl7pPr>
              <a:defRPr sz="1587" b="0">
                <a:solidFill>
                  <a:srgbClr val="242321"/>
                </a:solidFill>
                <a:latin typeface="Montserrat"/>
                <a:ea typeface="Montserrat"/>
                <a:cs typeface="Montserrat"/>
              </a:defRPr>
            </a:lvl7pPr>
            <a:lvl8pPr>
              <a:defRPr sz="1587" b="0">
                <a:solidFill>
                  <a:srgbClr val="242321"/>
                </a:solidFill>
                <a:latin typeface="Montserrat"/>
                <a:ea typeface="Montserrat"/>
                <a:cs typeface="Montserrat"/>
              </a:defRPr>
            </a:lvl8pPr>
            <a:lvl9pPr>
              <a:defRPr sz="1587" b="0">
                <a:solidFill>
                  <a:srgbClr val="242321"/>
                </a:solidFill>
                <a:latin typeface="Montserrat"/>
                <a:ea typeface="Montserrat"/>
                <a:cs typeface="Montserrat"/>
              </a:defRPr>
            </a:lvl9pPr>
          </a:lstStyle>
          <a:p xmlns:a="http://schemas.openxmlformats.org/drawingml/2006/main">
            <a:pPr>
              <a:defRPr sz="1587" b="0">
                <a:solidFill>
                  <a:srgbClr val="242321"/>
                </a:solidFill>
                <a:latin typeface="Montserrat"/>
                <a:ea typeface="Montserrat"/>
                <a:cs typeface="Montserrat"/>
              </a:defRPr>
            </a:pPr>
            <a:r>
              <a:rPr sz="1587" b="0">
                <a:solidFill>
                  <a:srgbClr val="242321"/>
                </a:solidFill>
                <a:latin typeface="Montserrat"/>
                <a:ea typeface="Montserrat"/>
                <a:cs typeface="Montserrat"/>
              </a:rPr>
              <a:t>Identifier les étapes et responsables. Tester une alerte avant 48 h, suivre le CSAT.</a:t>
            </a:r>
          </a:p>
        </p:txBody>
      </p:sp>
      <p:sp>
        <p:nvSpPr>
          <p:cNvPr id="18" name="">
            <a:extLst xmlns:a="http://schemas.openxmlformats.org/drawingml/2006/main">
              <a:ext uri="{FF2B5EF4-FFF2-40B4-BE49-F238E27FC236}">
                <a16:creationId xmlns:a16="http://schemas.microsoft.com/office/drawing/2014/main" id="{15475DA7-B34B-44F2-811B-B846818B61B1}"/>
              </a:ext>
            </a:extLst>
          </p:cNvPr>
          <p:cNvSpPr>
            <a:spLocks xmlns:a="http://schemas.openxmlformats.org/drawingml/2006/main" noGrp="1"/>
          </p:cNvSpPr>
          <p:nvPr/>
        </p:nvSpPr>
        <p:spPr>
          <a:xfrm xmlns:a="http://schemas.openxmlformats.org/drawingml/2006/main">
            <a:off x="619125" y="592455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42321"/>
                </a:solidFill>
                <a:latin typeface="Montserrat"/>
                <a:ea typeface="Montserrat"/>
                <a:cs typeface="Montserrat"/>
              </a:defRPr>
            </a:defPPr>
            <a:lvl1pPr>
              <a:defRPr sz="1500" b="0">
                <a:solidFill>
                  <a:srgbClr val="242321"/>
                </a:solidFill>
                <a:latin typeface="Montserrat"/>
                <a:ea typeface="Montserrat"/>
                <a:cs typeface="Montserrat"/>
              </a:defRPr>
            </a:lvl1pPr>
            <a:lvl2pPr>
              <a:defRPr sz="1500" b="0">
                <a:solidFill>
                  <a:srgbClr val="242321"/>
                </a:solidFill>
                <a:latin typeface="Montserrat"/>
                <a:ea typeface="Montserrat"/>
                <a:cs typeface="Montserrat"/>
              </a:defRPr>
            </a:lvl2pPr>
            <a:lvl3pPr>
              <a:defRPr sz="1500" b="0">
                <a:solidFill>
                  <a:srgbClr val="242321"/>
                </a:solidFill>
                <a:latin typeface="Montserrat"/>
                <a:ea typeface="Montserrat"/>
                <a:cs typeface="Montserrat"/>
              </a:defRPr>
            </a:lvl3pPr>
            <a:lvl4pPr>
              <a:defRPr sz="1500" b="0">
                <a:solidFill>
                  <a:srgbClr val="242321"/>
                </a:solidFill>
                <a:latin typeface="Montserrat"/>
                <a:ea typeface="Montserrat"/>
                <a:cs typeface="Montserrat"/>
              </a:defRPr>
            </a:lvl4pPr>
            <a:lvl5pPr>
              <a:defRPr sz="1500" b="0">
                <a:solidFill>
                  <a:srgbClr val="242321"/>
                </a:solidFill>
                <a:latin typeface="Montserrat"/>
                <a:ea typeface="Montserrat"/>
                <a:cs typeface="Montserrat"/>
              </a:defRPr>
            </a:lvl5pPr>
            <a:lvl6pPr>
              <a:defRPr sz="1500" b="0">
                <a:solidFill>
                  <a:srgbClr val="242321"/>
                </a:solidFill>
                <a:latin typeface="Montserrat"/>
                <a:ea typeface="Montserrat"/>
                <a:cs typeface="Montserrat"/>
              </a:defRPr>
            </a:lvl6pPr>
            <a:lvl7pPr>
              <a:defRPr sz="1500" b="0">
                <a:solidFill>
                  <a:srgbClr val="242321"/>
                </a:solidFill>
                <a:latin typeface="Montserrat"/>
                <a:ea typeface="Montserrat"/>
                <a:cs typeface="Montserrat"/>
              </a:defRPr>
            </a:lvl7pPr>
            <a:lvl8pPr>
              <a:defRPr sz="1500" b="0">
                <a:solidFill>
                  <a:srgbClr val="242321"/>
                </a:solidFill>
                <a:latin typeface="Montserrat"/>
                <a:ea typeface="Montserrat"/>
                <a:cs typeface="Montserrat"/>
              </a:defRPr>
            </a:lvl8pPr>
            <a:lvl9pPr>
              <a:defRPr sz="1500" b="0">
                <a:solidFill>
                  <a:srgbClr val="242321"/>
                </a:solidFill>
                <a:latin typeface="Montserrat"/>
                <a:ea typeface="Montserrat"/>
                <a:cs typeface="Montserrat"/>
              </a:defRPr>
            </a:lvl9pPr>
          </a:lstStyle>
          <a:p xmlns:a="http://schemas.openxmlformats.org/drawingml/2006/main">
            <a:pPr>
              <a:defRPr sz="1500" b="0">
                <a:solidFill>
                  <a:srgbClr val="242321"/>
                </a:solidFill>
                <a:latin typeface="Montserrat"/>
                <a:ea typeface="Montserrat"/>
                <a:cs typeface="Montserrat"/>
              </a:defRPr>
            </a:pPr>
            <a:r>
              <a:rPr sz="1500" b="0">
                <a:solidFill>
                  <a:srgbClr val="242321"/>
                </a:solidFill>
                <a:latin typeface="Montserrat"/>
                <a:ea typeface="Montserrat"/>
                <a:cs typeface="Montserrat"/>
              </a:rPr>
              <a:t>Pistes à tester : aucun gain financier ni effet sur la satisfaction n’est démontré à ce stade.</a:t>
            </a:r>
          </a:p>
        </p:txBody>
      </p:sp>
    </p:spTree>
    <p:extLst>
      <p:ext uri="{BB962C8B-B14F-4D97-AF65-F5344CB8AC3E}">
        <p14:creationId xmlns:p14="http://schemas.microsoft.com/office/powerpoint/2010/main" val="772039731"/>
      </p:ext>
    </p:extLst>
  </p:cSld>
</p:sld>
</file>

<file path=ppt/slides/slide20.xml><?xml version="1.0" encoding="utf-8"?>
<p:sld xmlns:p="http://schemas.openxmlformats.org/presentationml/2006/main">
  <p:cSld>
    <p:bg>
      <p:bgPr>
        <a:solidFill xmlns:a="http://schemas.openxmlformats.org/drawingml/2006/main">
          <a:srgbClr val="F3EEE6"/>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F45308C-09B2-4781-BE88-2AB61948994A}"/>
              </a:ext>
            </a:extLst>
          </p:cNvPr>
          <p:cNvPicPr>
            <a:picLocks xmlns:a="http://schemas.openxmlformats.org/drawingml/2006/main" noChangeAspect="1"/>
          </p:cNvPicPr>
          <p:nvPr/>
        </p:nvPicPr>
        <p:blipFill>
          <a:blip xmlns:r="http://schemas.openxmlformats.org/officeDocument/2006/relationships" xmlns:a="http://schemas.openxmlformats.org/drawingml/2006/main" r:embed="Raa198e11cf344add"/>
          <a:stretch xmlns:a="http://schemas.openxmlformats.org/drawingml/2006/main"/>
        </p:blipFill>
        <p:spPr>
          <a:xfrm xmlns:a="http://schemas.openxmlformats.org/drawingml/2006/main" flipH="1">
            <a:off x="10548938" y="142875"/>
            <a:ext cx="1428750" cy="1428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062F8C-0801-4FE8-9A7F-71D8C15046B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9FA6FD-7D98-4E8B-8937-23BFBBA66C0F}"/>
              </a:ext>
            </a:extLst>
          </p:cNvPr>
          <p:cNvSpPr>
            <a:spLocks xmlns:a="http://schemas.openxmlformats.org/drawingml/2006/main" noGrp="1"/>
          </p:cNvSpPr>
          <p:nvPr/>
        </p:nvSpPr>
        <p:spPr>
          <a:xfrm xmlns:a="http://schemas.openxmlformats.org/drawingml/2006/main">
            <a:off x="619125" y="1438275"/>
            <a:ext cx="714375" cy="38100"/>
          </a:xfrm>
          <a:prstGeom xmlns:a="http://schemas.openxmlformats.org/drawingml/2006/main" prst="rect">
            <a:avLst/>
          </a:prstGeom>
          <a:solidFill xmlns:a="http://schemas.openxmlformats.org/drawingml/2006/main">
            <a:srgbClr val="8A70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40F667-6E54-4770-9243-FAB833D2E138}"/>
              </a:ext>
            </a:extLst>
          </p:cNvPr>
          <p:cNvSpPr>
            <a:spLocks xmlns:a="http://schemas.openxmlformats.org/drawingml/2006/main" noGrp="1"/>
          </p:cNvSpPr>
          <p:nvPr/>
        </p:nvSpPr>
        <p:spPr>
          <a:xfrm xmlns:a="http://schemas.openxmlformats.org/drawingml/2006/main">
            <a:off x="609600" y="52387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62" b="0">
                <a:solidFill>
                  <a:srgbClr val="242321"/>
                </a:solidFill>
                <a:latin typeface="Cormorant Garamond"/>
                <a:ea typeface="Cormorant Garamond"/>
                <a:cs typeface="Cormorant Garamond"/>
              </a:defRPr>
            </a:defPPr>
            <a:lvl1pPr>
              <a:defRPr sz="3762" b="0">
                <a:solidFill>
                  <a:srgbClr val="242321"/>
                </a:solidFill>
                <a:latin typeface="Cormorant Garamond"/>
                <a:ea typeface="Cormorant Garamond"/>
                <a:cs typeface="Cormorant Garamond"/>
              </a:defRPr>
            </a:lvl1pPr>
            <a:lvl2pPr>
              <a:defRPr sz="3762" b="0">
                <a:solidFill>
                  <a:srgbClr val="242321"/>
                </a:solidFill>
                <a:latin typeface="Cormorant Garamond"/>
                <a:ea typeface="Cormorant Garamond"/>
                <a:cs typeface="Cormorant Garamond"/>
              </a:defRPr>
            </a:lvl2pPr>
            <a:lvl3pPr>
              <a:defRPr sz="3762" b="0">
                <a:solidFill>
                  <a:srgbClr val="242321"/>
                </a:solidFill>
                <a:latin typeface="Cormorant Garamond"/>
                <a:ea typeface="Cormorant Garamond"/>
                <a:cs typeface="Cormorant Garamond"/>
              </a:defRPr>
            </a:lvl3pPr>
            <a:lvl4pPr>
              <a:defRPr sz="3762" b="0">
                <a:solidFill>
                  <a:srgbClr val="242321"/>
                </a:solidFill>
                <a:latin typeface="Cormorant Garamond"/>
                <a:ea typeface="Cormorant Garamond"/>
                <a:cs typeface="Cormorant Garamond"/>
              </a:defRPr>
            </a:lvl4pPr>
            <a:lvl5pPr>
              <a:defRPr sz="3762" b="0">
                <a:solidFill>
                  <a:srgbClr val="242321"/>
                </a:solidFill>
                <a:latin typeface="Cormorant Garamond"/>
                <a:ea typeface="Cormorant Garamond"/>
                <a:cs typeface="Cormorant Garamond"/>
              </a:defRPr>
            </a:lvl5pPr>
            <a:lvl6pPr>
              <a:defRPr sz="3762" b="0">
                <a:solidFill>
                  <a:srgbClr val="242321"/>
                </a:solidFill>
                <a:latin typeface="Cormorant Garamond"/>
                <a:ea typeface="Cormorant Garamond"/>
                <a:cs typeface="Cormorant Garamond"/>
              </a:defRPr>
            </a:lvl6pPr>
            <a:lvl7pPr>
              <a:defRPr sz="3762" b="0">
                <a:solidFill>
                  <a:srgbClr val="242321"/>
                </a:solidFill>
                <a:latin typeface="Cormorant Garamond"/>
                <a:ea typeface="Cormorant Garamond"/>
                <a:cs typeface="Cormorant Garamond"/>
              </a:defRPr>
            </a:lvl7pPr>
            <a:lvl8pPr>
              <a:defRPr sz="3762" b="0">
                <a:solidFill>
                  <a:srgbClr val="242321"/>
                </a:solidFill>
                <a:latin typeface="Cormorant Garamond"/>
                <a:ea typeface="Cormorant Garamond"/>
                <a:cs typeface="Cormorant Garamond"/>
              </a:defRPr>
            </a:lvl8pPr>
            <a:lvl9pPr>
              <a:defRPr sz="3762" b="0">
                <a:solidFill>
                  <a:srgbClr val="242321"/>
                </a:solidFill>
                <a:latin typeface="Cormorant Garamond"/>
                <a:ea typeface="Cormorant Garamond"/>
                <a:cs typeface="Cormorant Garamond"/>
              </a:defRPr>
            </a:lvl9pPr>
          </a:lstStyle>
          <a:p xmlns:a="http://schemas.openxmlformats.org/drawingml/2006/main">
            <a:pPr>
              <a:defRPr sz="3762" b="0">
                <a:solidFill>
                  <a:srgbClr val="242321"/>
                </a:solidFill>
                <a:latin typeface="Cormorant Garamond"/>
                <a:ea typeface="Cormorant Garamond"/>
                <a:cs typeface="Cormorant Garamond"/>
              </a:defRPr>
            </a:pPr>
            <a:r>
              <a:rPr sz="3762" b="0">
                <a:solidFill>
                  <a:srgbClr val="242321"/>
                </a:solidFill>
                <a:latin typeface="Cormorant Garamond"/>
                <a:ea typeface="Cormorant Garamond"/>
                <a:cs typeface="Cormorant Garamond"/>
              </a:rPr>
              <a:t>Merci pour votre attention</a:t>
            </a:r>
          </a:p>
        </p:txBody>
      </p:sp>
      <p:sp>
        <p:nvSpPr>
          <p:cNvPr id="5" name="">
            <a:extLst xmlns:a="http://schemas.openxmlformats.org/drawingml/2006/main">
              <a:ext uri="{FF2B5EF4-FFF2-40B4-BE49-F238E27FC236}">
                <a16:creationId xmlns:a16="http://schemas.microsoft.com/office/drawing/2014/main" id="{0C113686-7B77-4A90-A160-2FBA8A497F2A}"/>
              </a:ext>
            </a:extLst>
          </p:cNvPr>
          <p:cNvSpPr>
            <a:spLocks xmlns:a="http://schemas.openxmlformats.org/drawingml/2006/main" noGrp="1"/>
          </p:cNvSpPr>
          <p:nvPr/>
        </p:nvSpPr>
        <p:spPr>
          <a:xfrm xmlns:a="http://schemas.openxmlformats.org/drawingml/2006/main">
            <a:off x="11144250" y="63436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lstStyle xmlns:a="http://schemas.openxmlformats.org/drawingml/2006/main">
            <a:defPPr>
              <a:defRPr sz="1200" b="0">
                <a:solidFill>
                  <a:srgbClr val="625B53"/>
                </a:solidFill>
                <a:latin typeface="Montserrat"/>
                <a:ea typeface="Montserrat"/>
                <a:cs typeface="Montserrat"/>
              </a:defRPr>
            </a:defPPr>
            <a:lvl1pPr>
              <a:defRPr sz="1200" b="0">
                <a:solidFill>
                  <a:srgbClr val="625B53"/>
                </a:solidFill>
                <a:latin typeface="Montserrat"/>
                <a:ea typeface="Montserrat"/>
                <a:cs typeface="Montserrat"/>
              </a:defRPr>
            </a:lvl1pPr>
            <a:lvl2pPr>
              <a:defRPr sz="1200" b="0">
                <a:solidFill>
                  <a:srgbClr val="625B53"/>
                </a:solidFill>
                <a:latin typeface="Montserrat"/>
                <a:ea typeface="Montserrat"/>
                <a:cs typeface="Montserrat"/>
              </a:defRPr>
            </a:lvl2pPr>
            <a:lvl3pPr>
              <a:defRPr sz="1200" b="0">
                <a:solidFill>
                  <a:srgbClr val="625B53"/>
                </a:solidFill>
                <a:latin typeface="Montserrat"/>
                <a:ea typeface="Montserrat"/>
                <a:cs typeface="Montserrat"/>
              </a:defRPr>
            </a:lvl3pPr>
            <a:lvl4pPr>
              <a:defRPr sz="1200" b="0">
                <a:solidFill>
                  <a:srgbClr val="625B53"/>
                </a:solidFill>
                <a:latin typeface="Montserrat"/>
                <a:ea typeface="Montserrat"/>
                <a:cs typeface="Montserrat"/>
              </a:defRPr>
            </a:lvl4pPr>
            <a:lvl5pPr>
              <a:defRPr sz="1200" b="0">
                <a:solidFill>
                  <a:srgbClr val="625B53"/>
                </a:solidFill>
                <a:latin typeface="Montserrat"/>
                <a:ea typeface="Montserrat"/>
                <a:cs typeface="Montserrat"/>
              </a:defRPr>
            </a:lvl5pPr>
            <a:lvl6pPr>
              <a:defRPr sz="1200" b="0">
                <a:solidFill>
                  <a:srgbClr val="625B53"/>
                </a:solidFill>
                <a:latin typeface="Montserrat"/>
                <a:ea typeface="Montserrat"/>
                <a:cs typeface="Montserrat"/>
              </a:defRPr>
            </a:lvl6pPr>
            <a:lvl7pPr>
              <a:defRPr sz="1200" b="0">
                <a:solidFill>
                  <a:srgbClr val="625B53"/>
                </a:solidFill>
                <a:latin typeface="Montserrat"/>
                <a:ea typeface="Montserrat"/>
                <a:cs typeface="Montserrat"/>
              </a:defRPr>
            </a:lvl7pPr>
            <a:lvl8pPr>
              <a:defRPr sz="1200" b="0">
                <a:solidFill>
                  <a:srgbClr val="625B53"/>
                </a:solidFill>
                <a:latin typeface="Montserrat"/>
                <a:ea typeface="Montserrat"/>
                <a:cs typeface="Montserrat"/>
              </a:defRPr>
            </a:lvl8pPr>
            <a:lvl9pPr>
              <a:defRPr sz="1200" b="0">
                <a:solidFill>
                  <a:srgbClr val="625B53"/>
                </a:solidFill>
                <a:latin typeface="Montserrat"/>
                <a:ea typeface="Montserrat"/>
                <a:cs typeface="Montserrat"/>
              </a:defRPr>
            </a:lvl9pPr>
          </a:lstStyle>
          <a:p xmlns:a="http://schemas.openxmlformats.org/drawingml/2006/main">
            <a:pPr>
              <a:defRPr sz="1200" b="0">
                <a:solidFill>
                  <a:srgbClr val="625B53"/>
                </a:solidFill>
                <a:latin typeface="Montserrat"/>
                <a:ea typeface="Montserrat"/>
                <a:cs typeface="Montserrat"/>
              </a:defRPr>
            </a:pPr>
            <a:r>
              <a:rPr sz="1200" b="0">
                <a:solidFill>
                  <a:srgbClr val="625B53"/>
                </a:solidFill>
                <a:latin typeface="Montserrat"/>
                <a:ea typeface="Montserrat"/>
                <a:cs typeface="Montserrat"/>
              </a:rPr>
              <a:t>20</a:t>
            </a:r>
          </a:p>
        </p:txBody>
      </p:sp>
      <p:pic>
        <p:nvPicPr>
          <p:cNvPr id="6" name="">
            <a:extLst xmlns:a="http://schemas.openxmlformats.org/drawingml/2006/main">
              <a:ext uri="{FF2B5EF4-FFF2-40B4-BE49-F238E27FC236}">
                <a16:creationId xmlns:a16="http://schemas.microsoft.com/office/drawing/2014/main" id="{A4D9BDFC-12A3-4C18-A67D-1FE0852D8536}"/>
              </a:ext>
            </a:extLst>
          </p:cNvPr>
          <p:cNvPicPr>
            <a:picLocks xmlns:a="http://schemas.openxmlformats.org/drawingml/2006/main" noChangeAspect="1"/>
          </p:cNvPicPr>
          <p:nvPr/>
        </p:nvPicPr>
        <p:blipFill>
          <a:blip xmlns:r="http://schemas.openxmlformats.org/officeDocument/2006/relationships" xmlns:a="http://schemas.openxmlformats.org/drawingml/2006/main" r:embed="R66235502cd50461c"/>
          <a:srcRect xmlns:a="http://schemas.openxmlformats.org/drawingml/2006/main" l="0" t="0" r="0" b="0"/>
          <a:stretch xmlns:a="http://schemas.openxmlformats.org/drawingml/2006/main">
            <a:fillRect l="0" t="0" r="0" b="0"/>
          </a:stretch>
        </p:blipFill>
        <p:spPr>
          <a:xfrm xmlns:a="http://schemas.openxmlformats.org/drawingml/2006/main">
            <a:off x="762000" y="1809750"/>
            <a:ext cx="3810000" cy="3810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2466C78-7AF3-4BE0-9AB3-C294F38250EF}"/>
              </a:ext>
            </a:extLst>
          </p:cNvPr>
          <p:cNvSpPr>
            <a:spLocks xmlns:a="http://schemas.openxmlformats.org/drawingml/2006/main" noGrp="1"/>
          </p:cNvSpPr>
          <p:nvPr/>
        </p:nvSpPr>
        <p:spPr>
          <a:xfrm xmlns:a="http://schemas.openxmlformats.org/drawingml/2006/main">
            <a:off x="5334000" y="2143125"/>
            <a:ext cx="5905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2" b="1">
                <a:solidFill>
                  <a:srgbClr val="242321"/>
                </a:solidFill>
                <a:latin typeface="Montserrat"/>
                <a:ea typeface="Montserrat"/>
                <a:cs typeface="Montserrat"/>
              </a:defRPr>
            </a:defPPr>
            <a:lvl1pPr>
              <a:defRPr sz="2622" b="1">
                <a:solidFill>
                  <a:srgbClr val="242321"/>
                </a:solidFill>
                <a:latin typeface="Montserrat"/>
                <a:ea typeface="Montserrat"/>
                <a:cs typeface="Montserrat"/>
              </a:defRPr>
            </a:lvl1pPr>
            <a:lvl2pPr>
              <a:defRPr sz="2622" b="1">
                <a:solidFill>
                  <a:srgbClr val="242321"/>
                </a:solidFill>
                <a:latin typeface="Montserrat"/>
                <a:ea typeface="Montserrat"/>
                <a:cs typeface="Montserrat"/>
              </a:defRPr>
            </a:lvl2pPr>
            <a:lvl3pPr>
              <a:defRPr sz="2622" b="1">
                <a:solidFill>
                  <a:srgbClr val="242321"/>
                </a:solidFill>
                <a:latin typeface="Montserrat"/>
                <a:ea typeface="Montserrat"/>
                <a:cs typeface="Montserrat"/>
              </a:defRPr>
            </a:lvl3pPr>
            <a:lvl4pPr>
              <a:defRPr sz="2622" b="1">
                <a:solidFill>
                  <a:srgbClr val="242321"/>
                </a:solidFill>
                <a:latin typeface="Montserrat"/>
                <a:ea typeface="Montserrat"/>
                <a:cs typeface="Montserrat"/>
              </a:defRPr>
            </a:lvl4pPr>
            <a:lvl5pPr>
              <a:defRPr sz="2622" b="1">
                <a:solidFill>
                  <a:srgbClr val="242321"/>
                </a:solidFill>
                <a:latin typeface="Montserrat"/>
                <a:ea typeface="Montserrat"/>
                <a:cs typeface="Montserrat"/>
              </a:defRPr>
            </a:lvl5pPr>
            <a:lvl6pPr>
              <a:defRPr sz="2622" b="1">
                <a:solidFill>
                  <a:srgbClr val="242321"/>
                </a:solidFill>
                <a:latin typeface="Montserrat"/>
                <a:ea typeface="Montserrat"/>
                <a:cs typeface="Montserrat"/>
              </a:defRPr>
            </a:lvl6pPr>
            <a:lvl7pPr>
              <a:defRPr sz="2622" b="1">
                <a:solidFill>
                  <a:srgbClr val="242321"/>
                </a:solidFill>
                <a:latin typeface="Montserrat"/>
                <a:ea typeface="Montserrat"/>
                <a:cs typeface="Montserrat"/>
              </a:defRPr>
            </a:lvl7pPr>
            <a:lvl8pPr>
              <a:defRPr sz="2622" b="1">
                <a:solidFill>
                  <a:srgbClr val="242321"/>
                </a:solidFill>
                <a:latin typeface="Montserrat"/>
                <a:ea typeface="Montserrat"/>
                <a:cs typeface="Montserrat"/>
              </a:defRPr>
            </a:lvl8pPr>
            <a:lvl9pPr>
              <a:defRPr sz="2622" b="1">
                <a:solidFill>
                  <a:srgbClr val="242321"/>
                </a:solidFill>
                <a:latin typeface="Montserrat"/>
                <a:ea typeface="Montserrat"/>
                <a:cs typeface="Montserrat"/>
              </a:defRPr>
            </a:lvl9pPr>
          </a:lstStyle>
          <a:p xmlns:a="http://schemas.openxmlformats.org/drawingml/2006/main">
            <a:pPr>
              <a:defRPr sz="2622" b="1">
                <a:solidFill>
                  <a:srgbClr val="242321"/>
                </a:solidFill>
                <a:latin typeface="Montserrat"/>
                <a:ea typeface="Montserrat"/>
                <a:cs typeface="Montserrat"/>
              </a:defRPr>
            </a:pPr>
            <a:r>
              <a:rPr sz="2622" b="1">
                <a:solidFill>
                  <a:srgbClr val="242321"/>
                </a:solidFill>
                <a:latin typeface="Montserrat"/>
                <a:ea typeface="Montserrat"/>
                <a:cs typeface="Montserrat"/>
              </a:rPr>
              <a:t>MARIIA KOVAL</a:t>
            </a:r>
          </a:p>
        </p:txBody>
      </p:sp>
      <p:sp>
        <p:nvSpPr>
          <p:cNvPr id="8" name="">
            <a:extLst xmlns:a="http://schemas.openxmlformats.org/drawingml/2006/main">
              <a:ext uri="{FF2B5EF4-FFF2-40B4-BE49-F238E27FC236}">
                <a16:creationId xmlns:a16="http://schemas.microsoft.com/office/drawing/2014/main" id="{60E97A6F-BCE9-4B91-9830-558680361381}"/>
              </a:ext>
            </a:extLst>
          </p:cNvPr>
          <p:cNvSpPr>
            <a:spLocks xmlns:a="http://schemas.openxmlformats.org/drawingml/2006/main" noGrp="1"/>
          </p:cNvSpPr>
          <p:nvPr/>
        </p:nvSpPr>
        <p:spPr>
          <a:xfrm xmlns:a="http://schemas.openxmlformats.org/drawingml/2006/main">
            <a:off x="5334000" y="2905125"/>
            <a:ext cx="619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0">
                <a:solidFill>
                  <a:srgbClr val="242321"/>
                </a:solidFill>
                <a:latin typeface="Montserrat"/>
                <a:ea typeface="Montserrat"/>
                <a:cs typeface="Montserrat"/>
              </a:defRPr>
            </a:defPPr>
            <a:lvl1pPr>
              <a:defRPr sz="1863" b="0">
                <a:solidFill>
                  <a:srgbClr val="242321"/>
                </a:solidFill>
                <a:latin typeface="Montserrat"/>
                <a:ea typeface="Montserrat"/>
                <a:cs typeface="Montserrat"/>
              </a:defRPr>
            </a:lvl1pPr>
            <a:lvl2pPr>
              <a:defRPr sz="1863" b="0">
                <a:solidFill>
                  <a:srgbClr val="242321"/>
                </a:solidFill>
                <a:latin typeface="Montserrat"/>
                <a:ea typeface="Montserrat"/>
                <a:cs typeface="Montserrat"/>
              </a:defRPr>
            </a:lvl2pPr>
            <a:lvl3pPr>
              <a:defRPr sz="1863" b="0">
                <a:solidFill>
                  <a:srgbClr val="242321"/>
                </a:solidFill>
                <a:latin typeface="Montserrat"/>
                <a:ea typeface="Montserrat"/>
                <a:cs typeface="Montserrat"/>
              </a:defRPr>
            </a:lvl3pPr>
            <a:lvl4pPr>
              <a:defRPr sz="1863" b="0">
                <a:solidFill>
                  <a:srgbClr val="242321"/>
                </a:solidFill>
                <a:latin typeface="Montserrat"/>
                <a:ea typeface="Montserrat"/>
                <a:cs typeface="Montserrat"/>
              </a:defRPr>
            </a:lvl4pPr>
            <a:lvl5pPr>
              <a:defRPr sz="1863" b="0">
                <a:solidFill>
                  <a:srgbClr val="242321"/>
                </a:solidFill>
                <a:latin typeface="Montserrat"/>
                <a:ea typeface="Montserrat"/>
                <a:cs typeface="Montserrat"/>
              </a:defRPr>
            </a:lvl5pPr>
            <a:lvl6pPr>
              <a:defRPr sz="1863" b="0">
                <a:solidFill>
                  <a:srgbClr val="242321"/>
                </a:solidFill>
                <a:latin typeface="Montserrat"/>
                <a:ea typeface="Montserrat"/>
                <a:cs typeface="Montserrat"/>
              </a:defRPr>
            </a:lvl6pPr>
            <a:lvl7pPr>
              <a:defRPr sz="1863" b="0">
                <a:solidFill>
                  <a:srgbClr val="242321"/>
                </a:solidFill>
                <a:latin typeface="Montserrat"/>
                <a:ea typeface="Montserrat"/>
                <a:cs typeface="Montserrat"/>
              </a:defRPr>
            </a:lvl7pPr>
            <a:lvl8pPr>
              <a:defRPr sz="1863" b="0">
                <a:solidFill>
                  <a:srgbClr val="242321"/>
                </a:solidFill>
                <a:latin typeface="Montserrat"/>
                <a:ea typeface="Montserrat"/>
                <a:cs typeface="Montserrat"/>
              </a:defRPr>
            </a:lvl8pPr>
            <a:lvl9pPr>
              <a:defRPr sz="1863" b="0">
                <a:solidFill>
                  <a:srgbClr val="242321"/>
                </a:solidFill>
                <a:latin typeface="Montserrat"/>
                <a:ea typeface="Montserrat"/>
                <a:cs typeface="Montserrat"/>
              </a:defRPr>
            </a:lvl9pPr>
          </a:lstStyle>
          <a:p xmlns:a="http://schemas.openxmlformats.org/drawingml/2006/main">
            <a:pPr>
              <a:defRPr sz="1863" b="0">
                <a:solidFill>
                  <a:srgbClr val="242321"/>
                </a:solidFill>
                <a:latin typeface="Montserrat"/>
                <a:ea typeface="Montserrat"/>
                <a:cs typeface="Montserrat"/>
              </a:defRPr>
            </a:pPr>
            <a:r>
              <a:rPr sz="1863" b="0">
                <a:solidFill>
                  <a:srgbClr val="242321"/>
                </a:solidFill>
                <a:latin typeface="Montserrat"/>
                <a:ea typeface="Montserrat"/>
                <a:cs typeface="Montserrat"/>
              </a:rPr>
              <a:t>Data Analysis &amp; Expérience Client</a:t>
            </a:r>
          </a:p>
        </p:txBody>
      </p:sp>
      <p:sp>
        <p:nvSpPr>
          <p:cNvPr id="9" name="">
            <a:extLst xmlns:a="http://schemas.openxmlformats.org/drawingml/2006/main">
              <a:ext uri="{FF2B5EF4-FFF2-40B4-BE49-F238E27FC236}">
                <a16:creationId xmlns:a16="http://schemas.microsoft.com/office/drawing/2014/main" id="{042744AF-84D2-4A73-B88E-3FEB588B8BEB}"/>
              </a:ext>
            </a:extLst>
          </p:cNvPr>
          <p:cNvSpPr>
            <a:spLocks xmlns:a="http://schemas.openxmlformats.org/drawingml/2006/main" noGrp="1"/>
          </p:cNvSpPr>
          <p:nvPr/>
        </p:nvSpPr>
        <p:spPr>
          <a:xfrm xmlns:a="http://schemas.openxmlformats.org/drawingml/2006/main">
            <a:off x="5334000" y="3857625"/>
            <a:ext cx="619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32" b="1">
                <a:solidFill>
                  <a:srgbClr val="242321"/>
                </a:solidFill>
                <a:latin typeface="Montserrat"/>
                <a:ea typeface="Montserrat"/>
                <a:cs typeface="Montserrat"/>
              </a:defRPr>
            </a:defPPr>
            <a:lvl1pPr>
              <a:defRPr sz="1932" b="1">
                <a:solidFill>
                  <a:srgbClr val="242321"/>
                </a:solidFill>
                <a:latin typeface="Montserrat"/>
                <a:ea typeface="Montserrat"/>
                <a:cs typeface="Montserrat"/>
              </a:defRPr>
            </a:lvl1pPr>
            <a:lvl2pPr>
              <a:defRPr sz="1932" b="1">
                <a:solidFill>
                  <a:srgbClr val="242321"/>
                </a:solidFill>
                <a:latin typeface="Montserrat"/>
                <a:ea typeface="Montserrat"/>
                <a:cs typeface="Montserrat"/>
              </a:defRPr>
            </a:lvl2pPr>
            <a:lvl3pPr>
              <a:defRPr sz="1932" b="1">
                <a:solidFill>
                  <a:srgbClr val="242321"/>
                </a:solidFill>
                <a:latin typeface="Montserrat"/>
                <a:ea typeface="Montserrat"/>
                <a:cs typeface="Montserrat"/>
              </a:defRPr>
            </a:lvl3pPr>
            <a:lvl4pPr>
              <a:defRPr sz="1932" b="1">
                <a:solidFill>
                  <a:srgbClr val="242321"/>
                </a:solidFill>
                <a:latin typeface="Montserrat"/>
                <a:ea typeface="Montserrat"/>
                <a:cs typeface="Montserrat"/>
              </a:defRPr>
            </a:lvl4pPr>
            <a:lvl5pPr>
              <a:defRPr sz="1932" b="1">
                <a:solidFill>
                  <a:srgbClr val="242321"/>
                </a:solidFill>
                <a:latin typeface="Montserrat"/>
                <a:ea typeface="Montserrat"/>
                <a:cs typeface="Montserrat"/>
              </a:defRPr>
            </a:lvl5pPr>
            <a:lvl6pPr>
              <a:defRPr sz="1932" b="1">
                <a:solidFill>
                  <a:srgbClr val="242321"/>
                </a:solidFill>
                <a:latin typeface="Montserrat"/>
                <a:ea typeface="Montserrat"/>
                <a:cs typeface="Montserrat"/>
              </a:defRPr>
            </a:lvl6pPr>
            <a:lvl7pPr>
              <a:defRPr sz="1932" b="1">
                <a:solidFill>
                  <a:srgbClr val="242321"/>
                </a:solidFill>
                <a:latin typeface="Montserrat"/>
                <a:ea typeface="Montserrat"/>
                <a:cs typeface="Montserrat"/>
              </a:defRPr>
            </a:lvl7pPr>
            <a:lvl8pPr>
              <a:defRPr sz="1932" b="1">
                <a:solidFill>
                  <a:srgbClr val="242321"/>
                </a:solidFill>
                <a:latin typeface="Montserrat"/>
                <a:ea typeface="Montserrat"/>
                <a:cs typeface="Montserrat"/>
              </a:defRPr>
            </a:lvl8pPr>
            <a:lvl9pPr>
              <a:defRPr sz="1932" b="1">
                <a:solidFill>
                  <a:srgbClr val="242321"/>
                </a:solidFill>
                <a:latin typeface="Montserrat"/>
                <a:ea typeface="Montserrat"/>
                <a:cs typeface="Montserrat"/>
              </a:defRPr>
            </a:lvl9pPr>
          </a:lstStyle>
          <a:p xmlns:a="http://schemas.openxmlformats.org/drawingml/2006/main">
            <a:pPr>
              <a:defRPr sz="1932" b="1">
                <a:solidFill>
                  <a:srgbClr val="242321"/>
                </a:solidFill>
                <a:latin typeface="Montserrat"/>
                <a:ea typeface="Montserrat"/>
                <a:cs typeface="Montserrat"/>
              </a:defRPr>
            </a:pPr>
            <a:r>
              <a:rPr sz="1932" b="1">
                <a:solidFill>
                  <a:srgbClr val="242321"/>
                </a:solidFill>
                <a:latin typeface="Montserrat"/>
                <a:ea typeface="Montserrat"/>
                <a:cs typeface="Montserrat"/>
              </a:rPr>
              <a:t>mariia.koval@sciencespo.fr</a:t>
            </a:r>
          </a:p>
        </p:txBody>
      </p:sp>
      <p:sp>
        <p:nvSpPr>
          <p:cNvPr id="10" name="">
            <a:extLst xmlns:a="http://schemas.openxmlformats.org/drawingml/2006/main">
              <a:ext uri="{FF2B5EF4-FFF2-40B4-BE49-F238E27FC236}">
                <a16:creationId xmlns:a16="http://schemas.microsoft.com/office/drawing/2014/main" id="{6A894778-EF6F-4F38-B98B-0B79CF9630C5}"/>
              </a:ext>
            </a:extLst>
          </p:cNvPr>
          <p:cNvSpPr>
            <a:spLocks xmlns:a="http://schemas.openxmlformats.org/drawingml/2006/main" noGrp="1"/>
          </p:cNvSpPr>
          <p:nvPr/>
        </p:nvSpPr>
        <p:spPr>
          <a:xfrm xmlns:a="http://schemas.openxmlformats.org/drawingml/2006/main">
            <a:off x="5334000" y="4619625"/>
            <a:ext cx="619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63" b="0">
                <a:solidFill>
                  <a:srgbClr val="242321"/>
                </a:solidFill>
                <a:latin typeface="Montserrat"/>
                <a:ea typeface="Montserrat"/>
                <a:cs typeface="Montserrat"/>
              </a:defRPr>
            </a:defPPr>
            <a:lvl1pPr>
              <a:defRPr sz="1863" b="0">
                <a:solidFill>
                  <a:srgbClr val="242321"/>
                </a:solidFill>
                <a:latin typeface="Montserrat"/>
                <a:ea typeface="Montserrat"/>
                <a:cs typeface="Montserrat"/>
              </a:defRPr>
            </a:lvl1pPr>
            <a:lvl2pPr>
              <a:defRPr sz="1863" b="0">
                <a:solidFill>
                  <a:srgbClr val="242321"/>
                </a:solidFill>
                <a:latin typeface="Montserrat"/>
                <a:ea typeface="Montserrat"/>
                <a:cs typeface="Montserrat"/>
              </a:defRPr>
            </a:lvl2pPr>
            <a:lvl3pPr>
              <a:defRPr sz="1863" b="0">
                <a:solidFill>
                  <a:srgbClr val="242321"/>
                </a:solidFill>
                <a:latin typeface="Montserrat"/>
                <a:ea typeface="Montserrat"/>
                <a:cs typeface="Montserrat"/>
              </a:defRPr>
            </a:lvl3pPr>
            <a:lvl4pPr>
              <a:defRPr sz="1863" b="0">
                <a:solidFill>
                  <a:srgbClr val="242321"/>
                </a:solidFill>
                <a:latin typeface="Montserrat"/>
                <a:ea typeface="Montserrat"/>
                <a:cs typeface="Montserrat"/>
              </a:defRPr>
            </a:lvl4pPr>
            <a:lvl5pPr>
              <a:defRPr sz="1863" b="0">
                <a:solidFill>
                  <a:srgbClr val="242321"/>
                </a:solidFill>
                <a:latin typeface="Montserrat"/>
                <a:ea typeface="Montserrat"/>
                <a:cs typeface="Montserrat"/>
              </a:defRPr>
            </a:lvl5pPr>
            <a:lvl6pPr>
              <a:defRPr sz="1863" b="0">
                <a:solidFill>
                  <a:srgbClr val="242321"/>
                </a:solidFill>
                <a:latin typeface="Montserrat"/>
                <a:ea typeface="Montserrat"/>
                <a:cs typeface="Montserrat"/>
              </a:defRPr>
            </a:lvl6pPr>
            <a:lvl7pPr>
              <a:defRPr sz="1863" b="0">
                <a:solidFill>
                  <a:srgbClr val="242321"/>
                </a:solidFill>
                <a:latin typeface="Montserrat"/>
                <a:ea typeface="Montserrat"/>
                <a:cs typeface="Montserrat"/>
              </a:defRPr>
            </a:lvl7pPr>
            <a:lvl8pPr>
              <a:defRPr sz="1863" b="0">
                <a:solidFill>
                  <a:srgbClr val="242321"/>
                </a:solidFill>
                <a:latin typeface="Montserrat"/>
                <a:ea typeface="Montserrat"/>
                <a:cs typeface="Montserrat"/>
              </a:defRPr>
            </a:lvl8pPr>
            <a:lvl9pPr>
              <a:defRPr sz="1863" b="0">
                <a:solidFill>
                  <a:srgbClr val="242321"/>
                </a:solidFill>
                <a:latin typeface="Montserrat"/>
                <a:ea typeface="Montserrat"/>
                <a:cs typeface="Montserrat"/>
              </a:defRPr>
            </a:lvl9pPr>
          </a:lstStyle>
          <a:p xmlns:a="http://schemas.openxmlformats.org/drawingml/2006/main">
            <a:pPr>
              <a:defRPr sz="1863" b="0">
                <a:solidFill>
                  <a:srgbClr val="242321"/>
                </a:solidFill>
                <a:latin typeface="Montserrat"/>
                <a:ea typeface="Montserrat"/>
                <a:cs typeface="Montserrat"/>
              </a:defRPr>
            </a:pPr>
            <a:r>
              <a:rPr sz="1863" b="0">
                <a:solidFill>
                  <a:srgbClr val="242321"/>
                </a:solidFill>
                <a:latin typeface="Montserrat"/>
                <a:ea typeface="Montserrat"/>
                <a:cs typeface="Montserrat"/>
              </a:rPr>
              <a:t>linkedin.com/in/mariia-v-koval/</a:t>
            </a:r>
          </a:p>
        </p:txBody>
      </p:sp>
    </p:spTree>
    <p:extLst>
      <p:ext uri="{BB962C8B-B14F-4D97-AF65-F5344CB8AC3E}">
        <p14:creationId xmlns:p14="http://schemas.microsoft.com/office/powerpoint/2010/main" val="9302868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72540" dir="4008085">
              <a:srgbClr val="302B29">
                <a:alpha val="1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2026-10-22T08:45:50.3100000Z</dcterms:created>
  <dcterms:modified xsi:type="dcterms:W3CDTF">2026-10-22T08:45:50.3100000Z</dcterms:modified>
</coreProperties>
</file>